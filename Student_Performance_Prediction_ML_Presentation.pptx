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Students</c:v>
                </c:pt>
              </c:strCache>
            </c:strRef>
          </c:tx>
          <c:spPr>
            <a:solidFill>
              <a:srgbClr val="4F46E5"/>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&lt;60%</c:v>
                </c:pt>
                <c:pt idx="1">
                  <c:v>60-75%</c:v>
                </c:pt>
                <c:pt idx="2">
                  <c:v>75-90%</c:v>
                </c:pt>
                <c:pt idx="3">
                  <c:v>&gt;90%</c:v>
                </c:pt>
              </c:strCache>
            </c:strRef>
          </c:cat>
          <c:val>
            <c:numRef>
              <c:f>Sheet1!$B$2:$B$5</c:f>
              <c:numCache>
                <c:formatCode>General</c:formatCode>
                <c:ptCount val="4"/>
                <c:pt idx="0">
                  <c:v>80</c:v>
                </c:pt>
                <c:pt idx="1">
                  <c:v>210</c:v>
                </c:pt>
                <c:pt idx="2">
                  <c:v>430</c:v>
                </c:pt>
                <c:pt idx="3">
                  <c:v>280</c:v>
                </c:pt>
              </c:numCache>
            </c:numRef>
          </c:val>
          <c:extLst>
            <c:ext xmlns:c16="http://schemas.microsoft.com/office/drawing/2014/chart" uri="{C3380CC4-5D6E-409C-BE32-E72D297353CC}">
              <c16:uniqueId val="{00000000-8356-474F-AF2B-DE5EB3D25E75}"/>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Students</c:v>
                </c:pt>
              </c:strCache>
            </c:strRef>
          </c:tx>
          <c:spPr>
            <a:solidFill>
              <a:srgbClr val="6366F1"/>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0-2h</c:v>
                </c:pt>
                <c:pt idx="1">
                  <c:v>2-4h</c:v>
                </c:pt>
                <c:pt idx="2">
                  <c:v>4-6h</c:v>
                </c:pt>
                <c:pt idx="3">
                  <c:v>6h+</c:v>
                </c:pt>
              </c:strCache>
            </c:strRef>
          </c:cat>
          <c:val>
            <c:numRef>
              <c:f>Sheet1!$B$2:$B$5</c:f>
              <c:numCache>
                <c:formatCode>General</c:formatCode>
                <c:ptCount val="4"/>
                <c:pt idx="0">
                  <c:v>150</c:v>
                </c:pt>
                <c:pt idx="1">
                  <c:v>340</c:v>
                </c:pt>
                <c:pt idx="2">
                  <c:v>350</c:v>
                </c:pt>
                <c:pt idx="3">
                  <c:v>160</c:v>
                </c:pt>
              </c:numCache>
            </c:numRef>
          </c:val>
          <c:extLst>
            <c:ext xmlns:c16="http://schemas.microsoft.com/office/drawing/2014/chart" uri="{C3380CC4-5D6E-409C-BE32-E72D297353CC}">
              <c16:uniqueId val="{00000000-BF25-4FEE-AE1C-B24EF1930B71}"/>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Performance</c:v>
                </c:pt>
              </c:strCache>
            </c:strRef>
          </c:tx>
          <c:spPr>
            <a:solidFill>
              <a:schemeClr val="accent1"/>
            </a:solidFill>
            <a:ln w="9525" cap="flat">
              <a:solidFill>
                <a:srgbClr val="F9F9F9"/>
              </a:solidFill>
              <a:prstDash val="solid"/>
              <a:round/>
            </a:ln>
            <a:effectLst/>
          </c:spPr>
          <c:dPt>
            <c:idx val="0"/>
            <c:bubble3D val="0"/>
            <c:spPr>
              <a:solidFill>
                <a:srgbClr val="22C55E"/>
              </a:solidFill>
              <a:effectLst/>
            </c:spPr>
            <c:extLst>
              <c:ext xmlns:c16="http://schemas.microsoft.com/office/drawing/2014/chart" uri="{C3380CC4-5D6E-409C-BE32-E72D297353CC}">
                <c16:uniqueId val="{00000001-E1DA-4027-8686-F82CE1922DB5}"/>
              </c:ext>
            </c:extLst>
          </c:dPt>
          <c:dPt>
            <c:idx val="1"/>
            <c:bubble3D val="0"/>
            <c:spPr>
              <a:solidFill>
                <a:srgbClr val="6366F1"/>
              </a:solidFill>
              <a:effectLst/>
            </c:spPr>
            <c:extLst>
              <c:ext xmlns:c16="http://schemas.microsoft.com/office/drawing/2014/chart" uri="{C3380CC4-5D6E-409C-BE32-E72D297353CC}">
                <c16:uniqueId val="{00000003-E1DA-4027-8686-F82CE1922DB5}"/>
              </c:ext>
            </c:extLst>
          </c:dPt>
          <c:dPt>
            <c:idx val="2"/>
            <c:bubble3D val="0"/>
            <c:spPr>
              <a:solidFill>
                <a:srgbClr val="EF4444"/>
              </a:solidFill>
              <a:effectLst/>
            </c:spPr>
            <c:extLst>
              <c:ext xmlns:c16="http://schemas.microsoft.com/office/drawing/2014/chart" uri="{C3380CC4-5D6E-409C-BE32-E72D297353CC}">
                <c16:uniqueId val="{00000005-E1DA-4027-8686-F82CE1922DB5}"/>
              </c:ext>
            </c:extLst>
          </c:dPt>
          <c:dLbls>
            <c:dLbl>
              <c:idx val="0"/>
              <c:numFmt formatCode="0&quot;%&quot;"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1DA-4027-8686-F82CE1922DB5}"/>
                </c:ext>
              </c:extLst>
            </c:dLbl>
            <c:dLbl>
              <c:idx val="1"/>
              <c:numFmt formatCode="0&quot;%&quot;"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1DA-4027-8686-F82CE1922DB5}"/>
                </c:ext>
              </c:extLst>
            </c:dLbl>
            <c:dLbl>
              <c:idx val="2"/>
              <c:numFmt formatCode="0&quot;%&quot;"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1DA-4027-8686-F82CE1922DB5}"/>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High</c:v>
                </c:pt>
                <c:pt idx="1">
                  <c:v>Medium</c:v>
                </c:pt>
                <c:pt idx="2">
                  <c:v>Low</c:v>
                </c:pt>
              </c:strCache>
            </c:strRef>
          </c:cat>
          <c:val>
            <c:numRef>
              <c:f>Sheet1!$B$2:$B$4</c:f>
              <c:numCache>
                <c:formatCode>General</c:formatCode>
                <c:ptCount val="3"/>
                <c:pt idx="0">
                  <c:v>38</c:v>
                </c:pt>
                <c:pt idx="1">
                  <c:v>40</c:v>
                </c:pt>
                <c:pt idx="2">
                  <c:v>22</c:v>
                </c:pt>
              </c:numCache>
            </c:numRef>
          </c:val>
          <c:extLst>
            <c:ext xmlns:c16="http://schemas.microsoft.com/office/drawing/2014/chart" uri="{C3380CC4-5D6E-409C-BE32-E72D297353CC}">
              <c16:uniqueId val="{00000006-E1DA-4027-8686-F82CE1922DB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4F46E5"/>
            </a:solidFill>
            <a:effectLst/>
          </c:spPr>
          <c:invertIfNegative val="0"/>
          <c:dPt>
            <c:idx val="0"/>
            <c:invertIfNegative val="0"/>
            <c:bubble3D val="0"/>
            <c:extLst>
              <c:ext xmlns:c16="http://schemas.microsoft.com/office/drawing/2014/chart" uri="{C3380CC4-5D6E-409C-BE32-E72D297353CC}">
                <c16:uniqueId val="{00000001-F67E-4E8C-AA77-D329F5675CB0}"/>
              </c:ext>
            </c:extLst>
          </c:dPt>
          <c:dPt>
            <c:idx val="1"/>
            <c:invertIfNegative val="0"/>
            <c:bubble3D val="0"/>
            <c:extLst>
              <c:ext xmlns:c16="http://schemas.microsoft.com/office/drawing/2014/chart" uri="{C3380CC4-5D6E-409C-BE32-E72D297353CC}">
                <c16:uniqueId val="{00000003-F67E-4E8C-AA77-D329F5675CB0}"/>
              </c:ext>
            </c:extLst>
          </c:dPt>
          <c:dPt>
            <c:idx val="2"/>
            <c:invertIfNegative val="0"/>
            <c:bubble3D val="0"/>
            <c:spPr>
              <a:solidFill>
                <a:srgbClr val="6366F1"/>
              </a:solidFill>
              <a:effectLst/>
            </c:spPr>
            <c:extLst>
              <c:ext xmlns:c16="http://schemas.microsoft.com/office/drawing/2014/chart" uri="{C3380CC4-5D6E-409C-BE32-E72D297353CC}">
                <c16:uniqueId val="{00000005-F67E-4E8C-AA77-D329F5675CB0}"/>
              </c:ext>
            </c:extLst>
          </c:dPt>
          <c:dPt>
            <c:idx val="3"/>
            <c:invertIfNegative val="0"/>
            <c:bubble3D val="0"/>
            <c:spPr>
              <a:solidFill>
                <a:srgbClr val="6366F1"/>
              </a:solidFill>
              <a:effectLst/>
            </c:spPr>
            <c:extLst>
              <c:ext xmlns:c16="http://schemas.microsoft.com/office/drawing/2014/chart" uri="{C3380CC4-5D6E-409C-BE32-E72D297353CC}">
                <c16:uniqueId val="{00000007-F67E-4E8C-AA77-D329F5675CB0}"/>
              </c:ext>
            </c:extLst>
          </c:dPt>
          <c:dPt>
            <c:idx val="4"/>
            <c:invertIfNegative val="0"/>
            <c:bubble3D val="0"/>
            <c:spPr>
              <a:solidFill>
                <a:srgbClr val="8B5CF6"/>
              </a:solidFill>
              <a:effectLst/>
            </c:spPr>
            <c:extLst>
              <c:ext xmlns:c16="http://schemas.microsoft.com/office/drawing/2014/chart" uri="{C3380CC4-5D6E-409C-BE32-E72D297353CC}">
                <c16:uniqueId val="{00000009-F67E-4E8C-AA77-D329F5675CB0}"/>
              </c:ext>
            </c:extLst>
          </c:dPt>
          <c:dPt>
            <c:idx val="5"/>
            <c:invertIfNegative val="0"/>
            <c:bubble3D val="0"/>
            <c:spPr>
              <a:solidFill>
                <a:srgbClr val="94A3B8"/>
              </a:solidFill>
              <a:effectLst/>
            </c:spPr>
            <c:extLst>
              <c:ext xmlns:c16="http://schemas.microsoft.com/office/drawing/2014/chart" uri="{C3380CC4-5D6E-409C-BE32-E72D297353CC}">
                <c16:uniqueId val="{0000000B-F67E-4E8C-AA77-D329F5675CB0}"/>
              </c:ext>
            </c:extLst>
          </c:dPt>
          <c:dLbls>
            <c:numFmt formatCode="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Attendance</c:v>
                </c:pt>
                <c:pt idx="1">
                  <c:v>Previous Score</c:v>
                </c:pt>
                <c:pt idx="2">
                  <c:v>Hours Studied</c:v>
                </c:pt>
                <c:pt idx="3">
                  <c:v>Family Support</c:v>
                </c:pt>
                <c:pt idx="4">
                  <c:v>Sleep Hours</c:v>
                </c:pt>
                <c:pt idx="5">
                  <c:v>Other Features</c:v>
                </c:pt>
              </c:strCache>
            </c:strRef>
          </c:cat>
          <c:val>
            <c:numRef>
              <c:f>Sheet1!$B$2:$B$7</c:f>
              <c:numCache>
                <c:formatCode>General</c:formatCode>
                <c:ptCount val="6"/>
                <c:pt idx="0">
                  <c:v>0.28000000000000003</c:v>
                </c:pt>
                <c:pt idx="1">
                  <c:v>0.24</c:v>
                </c:pt>
                <c:pt idx="2">
                  <c:v>0.19</c:v>
                </c:pt>
                <c:pt idx="3">
                  <c:v>0.14000000000000001</c:v>
                </c:pt>
                <c:pt idx="4">
                  <c:v>0.09</c:v>
                </c:pt>
                <c:pt idx="5">
                  <c:v>0.06</c:v>
                </c:pt>
              </c:numCache>
            </c:numRef>
          </c:val>
          <c:extLst>
            <c:ext xmlns:c16="http://schemas.microsoft.com/office/drawing/2014/chart" uri="{C3380CC4-5D6E-409C-BE32-E72D297353CC}">
              <c16:uniqueId val="{0000000C-F67E-4E8C-AA77-D329F5675CB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Confidence</c:v>
                </c:pt>
              </c:strCache>
            </c:strRef>
          </c:tx>
          <c:spPr>
            <a:solidFill>
              <a:schemeClr val="accent1"/>
            </a:solidFill>
            <a:ln w="9525" cap="flat">
              <a:solidFill>
                <a:srgbClr val="F9F9F9"/>
              </a:solidFill>
              <a:prstDash val="solid"/>
              <a:round/>
            </a:ln>
            <a:effectLst/>
          </c:spPr>
          <c:dPt>
            <c:idx val="0"/>
            <c:bubble3D val="0"/>
            <c:spPr>
              <a:solidFill>
                <a:srgbClr val="22C55E"/>
              </a:solidFill>
              <a:ln w="9525" cap="flat">
                <a:solidFill>
                  <a:srgbClr val="FFFFFF"/>
                </a:solidFill>
                <a:prstDash val="solid"/>
                <a:round/>
              </a:ln>
              <a:effectLst/>
            </c:spPr>
            <c:extLst>
              <c:ext xmlns:c16="http://schemas.microsoft.com/office/drawing/2014/chart" uri="{C3380CC4-5D6E-409C-BE32-E72D297353CC}">
                <c16:uniqueId val="{00000001-7DBF-4C1B-8C9A-6EABC3BC76A4}"/>
              </c:ext>
            </c:extLst>
          </c:dPt>
          <c:dPt>
            <c:idx val="1"/>
            <c:bubble3D val="0"/>
            <c:spPr>
              <a:solidFill>
                <a:srgbClr val="E2E8F0"/>
              </a:solidFill>
              <a:ln w="9525" cap="flat">
                <a:solidFill>
                  <a:srgbClr val="FFFFFF"/>
                </a:solidFill>
                <a:prstDash val="solid"/>
                <a:round/>
              </a:ln>
              <a:effectLst/>
            </c:spPr>
            <c:extLst>
              <c:ext xmlns:c16="http://schemas.microsoft.com/office/drawing/2014/chart" uri="{C3380CC4-5D6E-409C-BE32-E72D297353CC}">
                <c16:uniqueId val="{00000003-7DBF-4C1B-8C9A-6EABC3BC76A4}"/>
              </c:ext>
            </c:extLst>
          </c:dPt>
          <c:cat>
            <c:strRef>
              <c:f>Sheet1!$A$2:$A$3</c:f>
              <c:strCache>
                <c:ptCount val="2"/>
                <c:pt idx="0">
                  <c:v>High-Perf Confidence</c:v>
                </c:pt>
                <c:pt idx="1">
                  <c:v>Remaining</c:v>
                </c:pt>
              </c:strCache>
            </c:strRef>
          </c:cat>
          <c:val>
            <c:numRef>
              <c:f>Sheet1!$B$2:$B$3</c:f>
              <c:numCache>
                <c:formatCode>General</c:formatCode>
                <c:ptCount val="2"/>
                <c:pt idx="0">
                  <c:v>87</c:v>
                </c:pt>
                <c:pt idx="1">
                  <c:v>13</c:v>
                </c:pt>
              </c:numCache>
            </c:numRef>
          </c:val>
          <c:extLst>
            <c:ext xmlns:c16="http://schemas.microsoft.com/office/drawing/2014/chart" uri="{C3380CC4-5D6E-409C-BE32-E72D297353CC}">
              <c16:uniqueId val="{00000004-7DBF-4C1B-8C9A-6EABC3BC76A4}"/>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291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yourself. State the project title clearly: "Student Performance Prediction Using Machine Learning." Mention this is your ML microproject, your college/department, and thank your supervisor by name. One-line hook: the project uses ML to identify at-risk students early so institutions can intervene in time. Approx. time: 30 seconds. Transition: "Let me walk you through what we will cover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bird's-eye view of the talk structure: Introduction, Dataset, Preparation, Modeling, Evaluation, and Outcome. Tell the audience roughly how long the talk will run (10-15 minutes) and that questions are welcome at the end. Approx. time: 30 seconds. Transition: "Let's start with why this problem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student performance is influenced by many factors — attendance, study habits, sleep, family support — and that manually tracking all of this is hard at scale. Introduce the core idea: AI/ML can spot patterns humans might miss and predict outcomes before they happen, enabling proactive rather than reactive support. Approx. time: 45 seconds. Transition: "This leads us to the specific problem we are solving."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today's manual, reactive approach with what a machine learning system enables. Emphasize the "late identification" problem — by the time teachers notice, the student has already fallen behind. State clearly: "We need a system that predicts performance early, using existing student data, so support arrives in time." Approx. time: 40 seconds. Transition: "This gives us clear objectives for the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main objective clearly, then walk through the four supporting objectives: improving academic success, identifying at-risk students early, assisting teachers with a decision-support tool, and helping institutions plan resources. Keep this brisk — one sentence per card. Approx. time: 40 seconds. Transition: "To achieve this, we needed the right dataset."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dataset: 1,000 student records with 14 input features and one target variable — performance level (High / Medium / Low). Mention the source (Kaggle / UCI) and the mix of numeric and categorical data. Point to the sample table to ground the abstract numbers in real-looking rows. Approx. time: 45 seconds. Transition: "Let's look closer at what each feature represents."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ten input features quickly, grouping mentally into academic (attendance, previous score, study time), lifestyle (sleep, internet, extracurriculars), and background (gender, family/parent education) factors. Close on the target variable: performance level, classified as High, Medium, or Low. Approx. time: 45 seconds. Transition: "Before modeling, this raw data needs to be cleaned and prepared."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preprocessing steps left to right: handling missing values, removing duplicates, detecting outliers, encoding categorical variables, scaling numeric features, selecting the most relevant features, and finally splitting into train and test sets. Emphasize that this stage — not the algorithm — is usually what determines final model quality. Approx. time: 45 seconds. Transition: "With clean data in hand, we explored it visually before modeling."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four exploratory views: attendance and study-time distributions show most students cluster in a healthy mid-range; the performance pie shows reasonably balanced classes; and the correlation heatmap shows attendance and previous score are the strongest predictors of performance. Keep commentary brief per chart — point, one observation, move on. Approx. time: 60 seconds. Transition: "These insights guided our feature engineering and model choices."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six algorithms tried, from simple to complex: Logistic Regression, Decision Tree, Random Forest, SVM, KNN, and Naive Bayes. Briefly explain each in one phrase, and flag that Random Forest is the one that performed best (we'll confirm this with numbers shortly). Approx. time: 45 seconds. Transition: "Here's how we trained and validated these models."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training pipeline: an 80/20 train-test split, 5-fold cross-validation for reliable estimates, hyperparameter tuning via GridSearchCV, comparing all six models, and finally selecting Random Forest as the best performer. Briefly explain cross-validation for anyone unfamiliar. Approx. time: 45 seconds. Transition: "Now, how do we actually measure 'best'?"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define the five metrics used: accuracy, precision, recall, F1 score, and ROC-AUC — mention why accuracy alone can be misleading on imbalanced data. Use the confusion matrix to make precision and recall concrete: correct predictions sit on the diagonal, errors sit off it. Approx. time: 50 seconds. Transition: "With these metrics defined, here is how the six models actually compared."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full comparison table across all six models and five metrics. Point out that Random Forest — highlighted in green — leads on every single metric, not just accuracy, which is why it was selected as the final model. Approx. time: 50 seconds. Transition: "Let's see which features actually drove these predictions."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which features the Random Forest model weighted most heavily: attendance and previous score together account for over half the model's decision-making, followed by study hours and family support. This is a great talking point for practical takeaways — these are the levers institutions can actually act on. Approx. time: 40 seconds. Transition: "Let's see the model in action with a live-style prediction."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single example end-to-end: a new student's data goes into the trained Random Forest model, which outputs class probabilities. In this example, the model predicts "High Performance" with 87% confidence, driven mainly by strong attendance and previous score. This demo makes the abstract pipeline concrete for the audience. Approx. time: 40 seconds. Transition: "Let's wrap up with what we achieved."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project: objectives achieved, Random Forest as the best-performing model at 91.4% accuracy, the practical educational benefit of early intervention, and the key finding that attendance and previous scores drive the prediction. Approx. time: 45 seconds. Transition: "There is plenty of room to extend this further."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where this project could go next: deep learning models for richer pattern detection, a deployed web application with real-time prediction, dedicated dashboards for students and teachers, a mobile app, cloud deployment for scale, and a recommendation engine for personalized study plans. Approx. time: 40 seconds. Transition: "Thank you —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your supervisor/panel. Invite questions and, if applicable, share your contact details for follow-up (email, GitHub, LinkedIn). Approx. time: 20 seconds. This closes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19.png"/><Relationship Id="rId12"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3.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4.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8.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image" Target="../media/image32.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4F46E5">
              <a:alpha val="22000"/>
            </a:srgbClr>
          </a:solidFill>
          <a:ln/>
        </p:spPr>
        <p:txBody>
          <a:bodyPr/>
          <a:lstStyle/>
          <a:p>
            <a:endParaRPr lang="en-US"/>
          </a:p>
        </p:txBody>
      </p:sp>
      <p:sp>
        <p:nvSpPr>
          <p:cNvPr id="3" name="Shape 1"/>
          <p:cNvSpPr/>
          <p:nvPr/>
        </p:nvSpPr>
        <p:spPr>
          <a:xfrm>
            <a:off x="-1828800" y="4206240"/>
            <a:ext cx="5029200" cy="5029200"/>
          </a:xfrm>
          <a:prstGeom prst="ellipse">
            <a:avLst/>
          </a:prstGeom>
          <a:solidFill>
            <a:srgbClr val="8B5CF6">
              <a:alpha val="20000"/>
            </a:srgbClr>
          </a:solidFill>
          <a:ln/>
        </p:spPr>
        <p:txBody>
          <a:bodyPr/>
          <a:lstStyle/>
          <a:p>
            <a:endParaRPr lang="en-US"/>
          </a:p>
        </p:txBody>
      </p:sp>
      <p:sp>
        <p:nvSpPr>
          <p:cNvPr id="4" name="Shape 2"/>
          <p:cNvSpPr/>
          <p:nvPr/>
        </p:nvSpPr>
        <p:spPr>
          <a:xfrm>
            <a:off x="9258300" y="617220"/>
            <a:ext cx="868680" cy="86868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5" name="Image 0" descr="/home/claude/assets/icons/FiCpu.png"/>
          <p:cNvPicPr>
            <a:picLocks noChangeAspect="1"/>
          </p:cNvPicPr>
          <p:nvPr/>
        </p:nvPicPr>
        <p:blipFill>
          <a:blip r:embed="rId3"/>
          <a:stretch>
            <a:fillRect/>
          </a:stretch>
        </p:blipFill>
        <p:spPr>
          <a:xfrm>
            <a:off x="9484157" y="843077"/>
            <a:ext cx="416966" cy="416966"/>
          </a:xfrm>
          <a:prstGeom prst="rect">
            <a:avLst/>
          </a:prstGeom>
        </p:spPr>
      </p:pic>
      <p:sp>
        <p:nvSpPr>
          <p:cNvPr id="6" name="Shape 3"/>
          <p:cNvSpPr/>
          <p:nvPr/>
        </p:nvSpPr>
        <p:spPr>
          <a:xfrm>
            <a:off x="10492740" y="617220"/>
            <a:ext cx="868680" cy="86868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7" name="Image 1" descr="/home/claude/assets/icons/FiUsers.png"/>
          <p:cNvPicPr>
            <a:picLocks noChangeAspect="1"/>
          </p:cNvPicPr>
          <p:nvPr/>
        </p:nvPicPr>
        <p:blipFill>
          <a:blip r:embed="rId4"/>
          <a:stretch>
            <a:fillRect/>
          </a:stretch>
        </p:blipFill>
        <p:spPr>
          <a:xfrm>
            <a:off x="10718597" y="843077"/>
            <a:ext cx="416966" cy="416966"/>
          </a:xfrm>
          <a:prstGeom prst="rect">
            <a:avLst/>
          </a:prstGeom>
        </p:spPr>
      </p:pic>
      <p:sp>
        <p:nvSpPr>
          <p:cNvPr id="8" name="Shape 4"/>
          <p:cNvSpPr/>
          <p:nvPr/>
        </p:nvSpPr>
        <p:spPr>
          <a:xfrm>
            <a:off x="9258300" y="1851660"/>
            <a:ext cx="868680" cy="86868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9" name="Image 2" descr="/home/claude/assets/icons/FiBarChart2.png"/>
          <p:cNvPicPr>
            <a:picLocks noChangeAspect="1"/>
          </p:cNvPicPr>
          <p:nvPr/>
        </p:nvPicPr>
        <p:blipFill>
          <a:blip r:embed="rId5"/>
          <a:stretch>
            <a:fillRect/>
          </a:stretch>
        </p:blipFill>
        <p:spPr>
          <a:xfrm>
            <a:off x="9484157" y="2077517"/>
            <a:ext cx="416966" cy="416966"/>
          </a:xfrm>
          <a:prstGeom prst="rect">
            <a:avLst/>
          </a:prstGeom>
        </p:spPr>
      </p:pic>
      <p:sp>
        <p:nvSpPr>
          <p:cNvPr id="10" name="Shape 5"/>
          <p:cNvSpPr/>
          <p:nvPr/>
        </p:nvSpPr>
        <p:spPr>
          <a:xfrm>
            <a:off x="10492740" y="1851660"/>
            <a:ext cx="868680" cy="86868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11" name="Image 3" descr="/home/claude/assets/icons/FiBookOpen.png"/>
          <p:cNvPicPr>
            <a:picLocks noChangeAspect="1"/>
          </p:cNvPicPr>
          <p:nvPr/>
        </p:nvPicPr>
        <p:blipFill>
          <a:blip r:embed="rId6"/>
          <a:stretch>
            <a:fillRect/>
          </a:stretch>
        </p:blipFill>
        <p:spPr>
          <a:xfrm>
            <a:off x="10718597" y="2077517"/>
            <a:ext cx="416966" cy="416966"/>
          </a:xfrm>
          <a:prstGeom prst="rect">
            <a:avLst/>
          </a:prstGeom>
        </p:spPr>
      </p:pic>
      <p:sp>
        <p:nvSpPr>
          <p:cNvPr id="12" name="Text 6"/>
          <p:cNvSpPr/>
          <p:nvPr/>
        </p:nvSpPr>
        <p:spPr>
          <a:xfrm>
            <a:off x="731520" y="1371600"/>
            <a:ext cx="7315200" cy="365760"/>
          </a:xfrm>
          <a:prstGeom prst="rect">
            <a:avLst/>
          </a:prstGeom>
          <a:noFill/>
          <a:ln/>
        </p:spPr>
        <p:txBody>
          <a:bodyPr wrap="square" lIns="0" tIns="0" rIns="0" bIns="0" rtlCol="0" anchor="ctr"/>
          <a:lstStyle/>
          <a:p>
            <a:pPr marL="0" indent="0">
              <a:buNone/>
            </a:pPr>
            <a:r>
              <a:rPr lang="en-US" sz="1400" b="1" kern="0" spc="300" dirty="0">
                <a:solidFill>
                  <a:srgbClr val="6366F1"/>
                </a:solidFill>
                <a:latin typeface="Arial" pitchFamily="34" charset="0"/>
                <a:ea typeface="Arial" pitchFamily="34" charset="-122"/>
                <a:cs typeface="Arial" pitchFamily="34" charset="-120"/>
              </a:rPr>
              <a:t>MACHINE LEARNING MICROPROJECT</a:t>
            </a:r>
            <a:endParaRPr lang="en-US" sz="1400" dirty="0"/>
          </a:p>
        </p:txBody>
      </p:sp>
      <p:sp>
        <p:nvSpPr>
          <p:cNvPr id="13" name="Text 7"/>
          <p:cNvSpPr/>
          <p:nvPr/>
        </p:nvSpPr>
        <p:spPr>
          <a:xfrm>
            <a:off x="713232" y="1828800"/>
            <a:ext cx="8778240" cy="173736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Arial" pitchFamily="34" charset="0"/>
                <a:ea typeface="Arial" pitchFamily="34" charset="-122"/>
                <a:cs typeface="Arial" pitchFamily="34" charset="-120"/>
              </a:rPr>
              <a:t>Student Performance</a:t>
            </a:r>
            <a:endParaRPr lang="en-US" sz="4000" dirty="0"/>
          </a:p>
          <a:p>
            <a:pPr marL="0" indent="0">
              <a:lnSpc>
                <a:spcPct val="108000"/>
              </a:lnSpc>
              <a:buNone/>
            </a:pPr>
            <a:r>
              <a:rPr lang="en-US" sz="4000" b="1" dirty="0">
                <a:solidFill>
                  <a:srgbClr val="FFFFFF"/>
                </a:solidFill>
                <a:latin typeface="Arial" pitchFamily="34" charset="0"/>
                <a:ea typeface="Arial" pitchFamily="34" charset="-122"/>
                <a:cs typeface="Arial" pitchFamily="34" charset="-120"/>
              </a:rPr>
              <a:t>Prediction Using Machine Learning</a:t>
            </a:r>
            <a:endParaRPr lang="en-US" sz="4000" dirty="0"/>
          </a:p>
        </p:txBody>
      </p:sp>
      <p:sp>
        <p:nvSpPr>
          <p:cNvPr id="14" name="Shape 8"/>
          <p:cNvSpPr/>
          <p:nvPr/>
        </p:nvSpPr>
        <p:spPr>
          <a:xfrm>
            <a:off x="749808" y="3611880"/>
            <a:ext cx="502920" cy="64008"/>
          </a:xfrm>
          <a:prstGeom prst="rect">
            <a:avLst/>
          </a:prstGeom>
          <a:solidFill>
            <a:srgbClr val="FFFFFF"/>
          </a:solidFill>
          <a:ln/>
        </p:spPr>
        <p:txBody>
          <a:bodyPr/>
          <a:lstStyle/>
          <a:p>
            <a:endParaRPr lang="en-US"/>
          </a:p>
        </p:txBody>
      </p:sp>
      <p:sp>
        <p:nvSpPr>
          <p:cNvPr id="15" name="Text 9"/>
          <p:cNvSpPr/>
          <p:nvPr/>
        </p:nvSpPr>
        <p:spPr>
          <a:xfrm>
            <a:off x="731520" y="3794760"/>
            <a:ext cx="7863840" cy="548640"/>
          </a:xfrm>
          <a:prstGeom prst="rect">
            <a:avLst/>
          </a:prstGeom>
          <a:noFill/>
          <a:ln/>
        </p:spPr>
        <p:txBody>
          <a:bodyPr wrap="square" lIns="0" tIns="0" rIns="0" bIns="0" rtlCol="0" anchor="ctr"/>
          <a:lstStyle/>
          <a:p>
            <a:pPr marL="0" indent="0">
              <a:buNone/>
            </a:pPr>
            <a:r>
              <a:rPr lang="en-US" sz="1400" i="1" dirty="0">
                <a:solidFill>
                  <a:srgbClr val="CBD5E1"/>
                </a:solidFill>
                <a:latin typeface="Arial" pitchFamily="34" charset="0"/>
                <a:ea typeface="Arial" pitchFamily="34" charset="-122"/>
                <a:cs typeface="Arial" pitchFamily="34" charset="-120"/>
              </a:rPr>
              <a:t>Predicting academic outcomes early — so every student gets the support they need, when they need it.</a:t>
            </a:r>
            <a:endParaRPr lang="en-US" sz="1400" dirty="0"/>
          </a:p>
        </p:txBody>
      </p:sp>
      <p:sp>
        <p:nvSpPr>
          <p:cNvPr id="16" name="Shape 10"/>
          <p:cNvSpPr/>
          <p:nvPr/>
        </p:nvSpPr>
        <p:spPr>
          <a:xfrm>
            <a:off x="731520" y="4617720"/>
            <a:ext cx="7589520" cy="1600200"/>
          </a:xfrm>
          <a:prstGeom prst="roundRect">
            <a:avLst>
              <a:gd name="adj" fmla="val 6857"/>
            </a:avLst>
          </a:prstGeom>
          <a:solidFill>
            <a:srgbClr val="1E293B"/>
          </a:solidFill>
          <a:ln w="12700">
            <a:solidFill>
              <a:srgbClr val="334155"/>
            </a:solidFill>
            <a:prstDash val="solid"/>
          </a:ln>
          <a:effectLst>
            <a:outerShdw blurRad="127000" dist="38100" dir="5400000" algn="bl" rotWithShape="0">
              <a:srgbClr val="0F172A">
                <a:alpha val="18000"/>
              </a:srgbClr>
            </a:outerShdw>
          </a:effectLst>
        </p:spPr>
        <p:txBody>
          <a:bodyPr/>
          <a:lstStyle/>
          <a:p>
            <a:endParaRPr lang="en-US" dirty="0"/>
          </a:p>
        </p:txBody>
      </p:sp>
      <p:sp>
        <p:nvSpPr>
          <p:cNvPr id="17" name="Text 11"/>
          <p:cNvSpPr/>
          <p:nvPr/>
        </p:nvSpPr>
        <p:spPr>
          <a:xfrm>
            <a:off x="1051560" y="4864608"/>
            <a:ext cx="3383280" cy="219456"/>
          </a:xfrm>
          <a:prstGeom prst="rect">
            <a:avLst/>
          </a:prstGeom>
          <a:noFill/>
          <a:ln/>
        </p:spPr>
        <p:txBody>
          <a:bodyPr wrap="square" lIns="0" tIns="0" rIns="0" bIns="0" rtlCol="0" anchor="ctr"/>
          <a:lstStyle/>
          <a:p>
            <a:pPr marL="0" indent="0">
              <a:buNone/>
            </a:pPr>
            <a:r>
              <a:rPr lang="en-US" sz="950" b="1" kern="0" spc="100" dirty="0">
                <a:solidFill>
                  <a:srgbClr val="94A3B8"/>
                </a:solidFill>
                <a:latin typeface="Arial" pitchFamily="34" charset="0"/>
                <a:ea typeface="Arial" pitchFamily="34" charset="-122"/>
                <a:cs typeface="Arial" pitchFamily="34" charset="-120"/>
              </a:rPr>
              <a:t>PREPARED BY</a:t>
            </a:r>
            <a:endParaRPr lang="en-US" sz="950" dirty="0"/>
          </a:p>
        </p:txBody>
      </p:sp>
      <p:sp>
        <p:nvSpPr>
          <p:cNvPr id="18" name="Text 12"/>
          <p:cNvSpPr/>
          <p:nvPr/>
        </p:nvSpPr>
        <p:spPr>
          <a:xfrm>
            <a:off x="1051560" y="5084064"/>
            <a:ext cx="3383280" cy="292608"/>
          </a:xfrm>
          <a:prstGeom prst="rect">
            <a:avLst/>
          </a:prstGeom>
          <a:noFill/>
          <a:ln/>
        </p:spPr>
        <p:txBody>
          <a:bodyPr wrap="square" lIns="0" tIns="0" rIns="0" bIns="0" rtlCol="0" anchor="ctr"/>
          <a:lstStyle/>
          <a:p>
            <a:pPr marL="0" indent="0">
              <a:buNone/>
            </a:pPr>
            <a:r>
              <a:rPr lang="en-US" sz="1400" b="1" dirty="0">
                <a:solidFill>
                  <a:srgbClr val="F1F5F9"/>
                </a:solidFill>
                <a:latin typeface="Arial" pitchFamily="34" charset="0"/>
                <a:cs typeface="Arial" pitchFamily="34" charset="-120"/>
              </a:rPr>
              <a:t>Subhash Kumar Thakur		</a:t>
            </a:r>
            <a:endParaRPr lang="en-US" sz="1400" dirty="0"/>
          </a:p>
        </p:txBody>
      </p:sp>
      <p:sp>
        <p:nvSpPr>
          <p:cNvPr id="19" name="Text 13"/>
          <p:cNvSpPr/>
          <p:nvPr/>
        </p:nvSpPr>
        <p:spPr>
          <a:xfrm>
            <a:off x="4754880" y="4864608"/>
            <a:ext cx="3383280" cy="219456"/>
          </a:xfrm>
          <a:prstGeom prst="rect">
            <a:avLst/>
          </a:prstGeom>
          <a:noFill/>
          <a:ln/>
        </p:spPr>
        <p:txBody>
          <a:bodyPr wrap="square" lIns="0" tIns="0" rIns="0" bIns="0" rtlCol="0" anchor="ctr"/>
          <a:lstStyle/>
          <a:p>
            <a:pPr marL="0" indent="0">
              <a:buNone/>
            </a:pPr>
            <a:endParaRPr lang="en-US" sz="950" dirty="0"/>
          </a:p>
        </p:txBody>
      </p:sp>
      <p:sp>
        <p:nvSpPr>
          <p:cNvPr id="20" name="Text 14"/>
          <p:cNvSpPr/>
          <p:nvPr/>
        </p:nvSpPr>
        <p:spPr>
          <a:xfrm>
            <a:off x="4754880" y="5084064"/>
            <a:ext cx="3383280" cy="292608"/>
          </a:xfrm>
          <a:prstGeom prst="rect">
            <a:avLst/>
          </a:prstGeom>
          <a:noFill/>
          <a:ln/>
        </p:spPr>
        <p:txBody>
          <a:bodyPr wrap="square" lIns="0" tIns="0" rIns="0" bIns="0" rtlCol="0" anchor="ctr"/>
          <a:lstStyle/>
          <a:p>
            <a:pPr marL="0" indent="0">
              <a:buNone/>
            </a:pPr>
            <a:endParaRPr lang="en-US" sz="1400" dirty="0"/>
          </a:p>
        </p:txBody>
      </p:sp>
      <p:sp>
        <p:nvSpPr>
          <p:cNvPr id="21" name="Text 15"/>
          <p:cNvSpPr/>
          <p:nvPr/>
        </p:nvSpPr>
        <p:spPr>
          <a:xfrm>
            <a:off x="1051560" y="5522976"/>
            <a:ext cx="3383280" cy="219456"/>
          </a:xfrm>
          <a:prstGeom prst="rect">
            <a:avLst/>
          </a:prstGeom>
          <a:noFill/>
          <a:ln/>
        </p:spPr>
        <p:txBody>
          <a:bodyPr wrap="square" lIns="0" tIns="0" rIns="0" bIns="0" rtlCol="0" anchor="ctr"/>
          <a:lstStyle/>
          <a:p>
            <a:pPr marL="0" indent="0">
              <a:buNone/>
            </a:pPr>
            <a:r>
              <a:rPr lang="en-US" sz="950" b="1" kern="0" spc="100" dirty="0">
                <a:solidFill>
                  <a:srgbClr val="94A3B8"/>
                </a:solidFill>
                <a:latin typeface="Arial" pitchFamily="34" charset="0"/>
                <a:ea typeface="Arial" pitchFamily="34" charset="-122"/>
                <a:cs typeface="Arial" pitchFamily="34" charset="-120"/>
              </a:rPr>
              <a:t>DEPARTMENT</a:t>
            </a:r>
            <a:endParaRPr lang="en-US" sz="950" dirty="0"/>
          </a:p>
        </p:txBody>
      </p:sp>
      <p:sp>
        <p:nvSpPr>
          <p:cNvPr id="22" name="Text 16"/>
          <p:cNvSpPr/>
          <p:nvPr/>
        </p:nvSpPr>
        <p:spPr>
          <a:xfrm>
            <a:off x="1051560" y="5742432"/>
            <a:ext cx="3383280" cy="292608"/>
          </a:xfrm>
          <a:prstGeom prst="rect">
            <a:avLst/>
          </a:prstGeom>
          <a:noFill/>
          <a:ln/>
        </p:spPr>
        <p:txBody>
          <a:bodyPr wrap="square" lIns="0" tIns="0" rIns="0" bIns="0" rtlCol="0" anchor="ctr"/>
          <a:lstStyle/>
          <a:p>
            <a:pPr marL="0" indent="0">
              <a:buNone/>
            </a:pPr>
            <a:r>
              <a:rPr lang="en-US" sz="1400" b="1" dirty="0">
                <a:solidFill>
                  <a:srgbClr val="F1F5F9"/>
                </a:solidFill>
                <a:latin typeface="Arial" pitchFamily="34" charset="0"/>
                <a:ea typeface="Arial" pitchFamily="34" charset="-122"/>
                <a:cs typeface="Arial" pitchFamily="34" charset="-120"/>
              </a:rPr>
              <a:t>Department of ICT</a:t>
            </a:r>
            <a:endParaRPr lang="en-US" sz="1400" dirty="0"/>
          </a:p>
        </p:txBody>
      </p:sp>
      <p:sp>
        <p:nvSpPr>
          <p:cNvPr id="23" name="Text 17"/>
          <p:cNvSpPr/>
          <p:nvPr/>
        </p:nvSpPr>
        <p:spPr>
          <a:xfrm>
            <a:off x="4754880" y="5522976"/>
            <a:ext cx="3383280" cy="219456"/>
          </a:xfrm>
          <a:prstGeom prst="rect">
            <a:avLst/>
          </a:prstGeom>
          <a:noFill/>
          <a:ln/>
        </p:spPr>
        <p:txBody>
          <a:bodyPr wrap="square" lIns="0" tIns="0" rIns="0" bIns="0" rtlCol="0" anchor="ctr"/>
          <a:lstStyle/>
          <a:p>
            <a:pPr marL="0" indent="0">
              <a:buNone/>
            </a:pPr>
            <a:r>
              <a:rPr lang="en-US" sz="950" b="1" kern="0" spc="100" dirty="0">
                <a:solidFill>
                  <a:srgbClr val="94A3B8"/>
                </a:solidFill>
                <a:latin typeface="Arial" pitchFamily="34" charset="0"/>
                <a:ea typeface="Arial" pitchFamily="34" charset="-122"/>
                <a:cs typeface="Arial" pitchFamily="34" charset="-120"/>
              </a:rPr>
              <a:t>SUPERVISOR</a:t>
            </a:r>
            <a:endParaRPr lang="en-US" sz="950" dirty="0"/>
          </a:p>
        </p:txBody>
      </p:sp>
      <p:sp>
        <p:nvSpPr>
          <p:cNvPr id="24" name="Text 18"/>
          <p:cNvSpPr/>
          <p:nvPr/>
        </p:nvSpPr>
        <p:spPr>
          <a:xfrm>
            <a:off x="4754880" y="5742432"/>
            <a:ext cx="3383280" cy="292608"/>
          </a:xfrm>
          <a:prstGeom prst="rect">
            <a:avLst/>
          </a:prstGeom>
          <a:noFill/>
          <a:ln/>
        </p:spPr>
        <p:txBody>
          <a:bodyPr wrap="square" lIns="0" tIns="0" rIns="0" bIns="0" rtlCol="0" anchor="ctr"/>
          <a:lstStyle/>
          <a:p>
            <a:pPr marL="0" indent="0">
              <a:buNone/>
            </a:pPr>
            <a:r>
              <a:rPr lang="en-US" sz="1400" b="1" dirty="0">
                <a:solidFill>
                  <a:srgbClr val="F1F5F9"/>
                </a:solidFill>
                <a:latin typeface="Arial" pitchFamily="34" charset="0"/>
                <a:cs typeface="Arial" pitchFamily="34" charset="-120"/>
              </a:rPr>
              <a:t>Ram Govinda Aryal</a:t>
            </a:r>
            <a:endParaRPr lang="en-US" sz="1400" dirty="0"/>
          </a:p>
        </p:txBody>
      </p:sp>
      <p:sp>
        <p:nvSpPr>
          <p:cNvPr id="25" name="Text 19"/>
          <p:cNvSpPr/>
          <p:nvPr/>
        </p:nvSpPr>
        <p:spPr>
          <a:xfrm>
            <a:off x="731520" y="6355080"/>
            <a:ext cx="2743200" cy="27432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cs typeface="Arial" pitchFamily="34" charset="-120"/>
              </a:rPr>
              <a:t>2026/07/29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ROADMAP</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Agenda</a:t>
            </a:r>
            <a:endParaRPr lang="en-US" sz="3200" dirty="0"/>
          </a:p>
        </p:txBody>
      </p:sp>
      <p:sp>
        <p:nvSpPr>
          <p:cNvPr id="4" name="Text 2"/>
          <p:cNvSpPr/>
          <p:nvPr/>
        </p:nvSpPr>
        <p:spPr>
          <a:xfrm>
            <a:off x="548640" y="1234440"/>
            <a:ext cx="7315200" cy="320040"/>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A quick look at the six phases of this project</a:t>
            </a:r>
            <a:endParaRPr lang="en-US" sz="1300" dirty="0"/>
          </a:p>
        </p:txBody>
      </p:sp>
      <p:sp>
        <p:nvSpPr>
          <p:cNvPr id="5" name="Shape 3"/>
          <p:cNvSpPr/>
          <p:nvPr/>
        </p:nvSpPr>
        <p:spPr>
          <a:xfrm>
            <a:off x="914400" y="3200400"/>
            <a:ext cx="8915400" cy="0"/>
          </a:xfrm>
          <a:prstGeom prst="line">
            <a:avLst/>
          </a:prstGeom>
          <a:noFill/>
          <a:ln w="25400">
            <a:solidFill>
              <a:srgbClr val="E2E8F0"/>
            </a:solidFill>
            <a:prstDash val="solid"/>
          </a:ln>
        </p:spPr>
        <p:txBody>
          <a:bodyPr/>
          <a:lstStyle/>
          <a:p>
            <a:endParaRPr lang="en-US"/>
          </a:p>
        </p:txBody>
      </p:sp>
      <p:sp>
        <p:nvSpPr>
          <p:cNvPr id="6" name="Shape 4"/>
          <p:cNvSpPr/>
          <p:nvPr/>
        </p:nvSpPr>
        <p:spPr>
          <a:xfrm>
            <a:off x="525780" y="281178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7" name="Image 0" descr="/home/claude/assets/icons/FiInfo.png"/>
          <p:cNvPicPr>
            <a:picLocks noChangeAspect="1"/>
          </p:cNvPicPr>
          <p:nvPr/>
        </p:nvPicPr>
        <p:blipFill>
          <a:blip r:embed="rId3"/>
          <a:stretch>
            <a:fillRect/>
          </a:stretch>
        </p:blipFill>
        <p:spPr>
          <a:xfrm>
            <a:off x="727862" y="3013862"/>
            <a:ext cx="373075" cy="373075"/>
          </a:xfrm>
          <a:prstGeom prst="rect">
            <a:avLst/>
          </a:prstGeom>
        </p:spPr>
      </p:pic>
      <p:sp>
        <p:nvSpPr>
          <p:cNvPr id="8" name="Shape 5"/>
          <p:cNvSpPr/>
          <p:nvPr/>
        </p:nvSpPr>
        <p:spPr>
          <a:xfrm>
            <a:off x="740664" y="3026664"/>
            <a:ext cx="347472" cy="347472"/>
          </a:xfrm>
          <a:prstGeom prst="roundRect">
            <a:avLst>
              <a:gd name="adj" fmla="val 50000"/>
            </a:avLst>
          </a:prstGeom>
          <a:solidFill>
            <a:srgbClr val="FFFFFF"/>
          </a:solidFill>
          <a:ln w="19050">
            <a:solidFill>
              <a:srgbClr val="4F46E5"/>
            </a:solidFill>
            <a:prstDash val="solid"/>
          </a:ln>
        </p:spPr>
        <p:txBody>
          <a:bodyPr/>
          <a:lstStyle/>
          <a:p>
            <a:endParaRPr lang="en-US"/>
          </a:p>
        </p:txBody>
      </p:sp>
      <p:sp>
        <p:nvSpPr>
          <p:cNvPr id="9" name="Text 6"/>
          <p:cNvSpPr/>
          <p:nvPr/>
        </p:nvSpPr>
        <p:spPr>
          <a:xfrm>
            <a:off x="740664" y="3026664"/>
            <a:ext cx="347472" cy="347472"/>
          </a:xfrm>
          <a:prstGeom prst="rect">
            <a:avLst/>
          </a:prstGeom>
          <a:noFill/>
          <a:ln/>
        </p:spPr>
        <p:txBody>
          <a:bodyPr wrap="square" lIns="0" tIns="0" rIns="0" bIns="0" rtlCol="0" anchor="ctr"/>
          <a:lstStyle/>
          <a:p>
            <a:pPr marL="0" indent="0" algn="ctr">
              <a:buNone/>
            </a:pPr>
            <a:r>
              <a:rPr lang="en-US" sz="800" b="1" dirty="0">
                <a:solidFill>
                  <a:srgbClr val="0F172A"/>
                </a:solidFill>
                <a:latin typeface="Arial" pitchFamily="34" charset="0"/>
                <a:ea typeface="Arial" pitchFamily="34" charset="-122"/>
                <a:cs typeface="Arial" pitchFamily="34" charset="-120"/>
              </a:rPr>
              <a:t>01</a:t>
            </a:r>
            <a:endParaRPr lang="en-US" sz="800" dirty="0"/>
          </a:p>
        </p:txBody>
      </p:sp>
      <p:sp>
        <p:nvSpPr>
          <p:cNvPr id="10" name="Text 7"/>
          <p:cNvSpPr/>
          <p:nvPr/>
        </p:nvSpPr>
        <p:spPr>
          <a:xfrm>
            <a:off x="137160" y="3794760"/>
            <a:ext cx="1554480" cy="292608"/>
          </a:xfrm>
          <a:prstGeom prst="rect">
            <a:avLst/>
          </a:prstGeom>
          <a:noFill/>
          <a:ln/>
        </p:spPr>
        <p:txBody>
          <a:bodyPr wrap="square" lIns="0" tIns="0" rIns="0" bIns="0" rtlCol="0" anchor="ctr"/>
          <a:lstStyle/>
          <a:p>
            <a:pPr marL="0" indent="0" algn="ctr">
              <a:buNone/>
            </a:pPr>
            <a:r>
              <a:rPr lang="en-US" sz="1300" b="1" dirty="0">
                <a:solidFill>
                  <a:srgbClr val="0F172A"/>
                </a:solidFill>
                <a:latin typeface="Arial" pitchFamily="34" charset="0"/>
                <a:ea typeface="Arial" pitchFamily="34" charset="-122"/>
                <a:cs typeface="Arial" pitchFamily="34" charset="-120"/>
              </a:rPr>
              <a:t>Introduction</a:t>
            </a:r>
            <a:endParaRPr lang="en-US" sz="1300" dirty="0"/>
          </a:p>
        </p:txBody>
      </p:sp>
      <p:sp>
        <p:nvSpPr>
          <p:cNvPr id="11" name="Text 8"/>
          <p:cNvSpPr/>
          <p:nvPr/>
        </p:nvSpPr>
        <p:spPr>
          <a:xfrm>
            <a:off x="91440" y="4096512"/>
            <a:ext cx="1645920" cy="68580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Context, problem statement</a:t>
            </a:r>
            <a:endParaRPr lang="en-US" sz="950" dirty="0"/>
          </a:p>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&amp; objectives</a:t>
            </a:r>
            <a:endParaRPr lang="en-US" sz="950" dirty="0"/>
          </a:p>
        </p:txBody>
      </p:sp>
      <p:sp>
        <p:nvSpPr>
          <p:cNvPr id="12" name="Shape 9"/>
          <p:cNvSpPr/>
          <p:nvPr/>
        </p:nvSpPr>
        <p:spPr>
          <a:xfrm>
            <a:off x="2308860" y="281178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13" name="Image 1" descr="/home/claude/assets/icons/FiDatabase.png"/>
          <p:cNvPicPr>
            <a:picLocks noChangeAspect="1"/>
          </p:cNvPicPr>
          <p:nvPr/>
        </p:nvPicPr>
        <p:blipFill>
          <a:blip r:embed="rId4"/>
          <a:stretch>
            <a:fillRect/>
          </a:stretch>
        </p:blipFill>
        <p:spPr>
          <a:xfrm>
            <a:off x="2510942" y="3013862"/>
            <a:ext cx="373075" cy="373075"/>
          </a:xfrm>
          <a:prstGeom prst="rect">
            <a:avLst/>
          </a:prstGeom>
        </p:spPr>
      </p:pic>
      <p:sp>
        <p:nvSpPr>
          <p:cNvPr id="14" name="Shape 10"/>
          <p:cNvSpPr/>
          <p:nvPr/>
        </p:nvSpPr>
        <p:spPr>
          <a:xfrm>
            <a:off x="2523744" y="3026664"/>
            <a:ext cx="347472" cy="347472"/>
          </a:xfrm>
          <a:prstGeom prst="roundRect">
            <a:avLst>
              <a:gd name="adj" fmla="val 50000"/>
            </a:avLst>
          </a:prstGeom>
          <a:solidFill>
            <a:srgbClr val="FFFFFF"/>
          </a:solidFill>
          <a:ln w="19050">
            <a:solidFill>
              <a:srgbClr val="8B5CF6"/>
            </a:solidFill>
            <a:prstDash val="solid"/>
          </a:ln>
        </p:spPr>
        <p:txBody>
          <a:bodyPr/>
          <a:lstStyle/>
          <a:p>
            <a:endParaRPr lang="en-US"/>
          </a:p>
        </p:txBody>
      </p:sp>
      <p:sp>
        <p:nvSpPr>
          <p:cNvPr id="15" name="Text 11"/>
          <p:cNvSpPr/>
          <p:nvPr/>
        </p:nvSpPr>
        <p:spPr>
          <a:xfrm>
            <a:off x="2523744" y="3026664"/>
            <a:ext cx="347472" cy="347472"/>
          </a:xfrm>
          <a:prstGeom prst="rect">
            <a:avLst/>
          </a:prstGeom>
          <a:noFill/>
          <a:ln/>
        </p:spPr>
        <p:txBody>
          <a:bodyPr wrap="square" lIns="0" tIns="0" rIns="0" bIns="0" rtlCol="0" anchor="ctr"/>
          <a:lstStyle/>
          <a:p>
            <a:pPr marL="0" indent="0" algn="ctr">
              <a:buNone/>
            </a:pPr>
            <a:r>
              <a:rPr lang="en-US" sz="800" b="1" dirty="0">
                <a:solidFill>
                  <a:srgbClr val="0F172A"/>
                </a:solidFill>
                <a:latin typeface="Arial" pitchFamily="34" charset="0"/>
                <a:ea typeface="Arial" pitchFamily="34" charset="-122"/>
                <a:cs typeface="Arial" pitchFamily="34" charset="-120"/>
              </a:rPr>
              <a:t>02</a:t>
            </a:r>
            <a:endParaRPr lang="en-US" sz="800" dirty="0"/>
          </a:p>
        </p:txBody>
      </p:sp>
      <p:sp>
        <p:nvSpPr>
          <p:cNvPr id="16" name="Text 12"/>
          <p:cNvSpPr/>
          <p:nvPr/>
        </p:nvSpPr>
        <p:spPr>
          <a:xfrm>
            <a:off x="1920240" y="3794760"/>
            <a:ext cx="1554480" cy="292608"/>
          </a:xfrm>
          <a:prstGeom prst="rect">
            <a:avLst/>
          </a:prstGeom>
          <a:noFill/>
          <a:ln/>
        </p:spPr>
        <p:txBody>
          <a:bodyPr wrap="square" lIns="0" tIns="0" rIns="0" bIns="0" rtlCol="0" anchor="ctr"/>
          <a:lstStyle/>
          <a:p>
            <a:pPr marL="0" indent="0" algn="ctr">
              <a:buNone/>
            </a:pPr>
            <a:r>
              <a:rPr lang="en-US" sz="1300" b="1" dirty="0">
                <a:solidFill>
                  <a:srgbClr val="0F172A"/>
                </a:solidFill>
                <a:latin typeface="Arial" pitchFamily="34" charset="0"/>
                <a:ea typeface="Arial" pitchFamily="34" charset="-122"/>
                <a:cs typeface="Arial" pitchFamily="34" charset="-120"/>
              </a:rPr>
              <a:t>Dataset</a:t>
            </a:r>
            <a:endParaRPr lang="en-US" sz="1300" dirty="0"/>
          </a:p>
        </p:txBody>
      </p:sp>
      <p:sp>
        <p:nvSpPr>
          <p:cNvPr id="17" name="Text 13"/>
          <p:cNvSpPr/>
          <p:nvPr/>
        </p:nvSpPr>
        <p:spPr>
          <a:xfrm>
            <a:off x="1874520" y="4096512"/>
            <a:ext cx="1645920" cy="68580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Data source, features</a:t>
            </a:r>
            <a:endParaRPr lang="en-US" sz="950" dirty="0"/>
          </a:p>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&amp; sample records</a:t>
            </a:r>
            <a:endParaRPr lang="en-US" sz="950" dirty="0"/>
          </a:p>
        </p:txBody>
      </p:sp>
      <p:sp>
        <p:nvSpPr>
          <p:cNvPr id="18" name="Shape 14"/>
          <p:cNvSpPr/>
          <p:nvPr/>
        </p:nvSpPr>
        <p:spPr>
          <a:xfrm>
            <a:off x="4091940" y="281178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9" name="Image 2" descr="/home/claude/assets/icons/FiFilter.png"/>
          <p:cNvPicPr>
            <a:picLocks noChangeAspect="1"/>
          </p:cNvPicPr>
          <p:nvPr/>
        </p:nvPicPr>
        <p:blipFill>
          <a:blip r:embed="rId5"/>
          <a:stretch>
            <a:fillRect/>
          </a:stretch>
        </p:blipFill>
        <p:spPr>
          <a:xfrm>
            <a:off x="4294022" y="3013862"/>
            <a:ext cx="373075" cy="373075"/>
          </a:xfrm>
          <a:prstGeom prst="rect">
            <a:avLst/>
          </a:prstGeom>
        </p:spPr>
      </p:pic>
      <p:sp>
        <p:nvSpPr>
          <p:cNvPr id="20" name="Shape 15"/>
          <p:cNvSpPr/>
          <p:nvPr/>
        </p:nvSpPr>
        <p:spPr>
          <a:xfrm>
            <a:off x="4306824" y="3026664"/>
            <a:ext cx="347472" cy="347472"/>
          </a:xfrm>
          <a:prstGeom prst="roundRect">
            <a:avLst>
              <a:gd name="adj" fmla="val 50000"/>
            </a:avLst>
          </a:prstGeom>
          <a:solidFill>
            <a:srgbClr val="FFFFFF"/>
          </a:solidFill>
          <a:ln w="19050">
            <a:solidFill>
              <a:srgbClr val="4F46E5"/>
            </a:solidFill>
            <a:prstDash val="solid"/>
          </a:ln>
        </p:spPr>
        <p:txBody>
          <a:bodyPr/>
          <a:lstStyle/>
          <a:p>
            <a:endParaRPr lang="en-US"/>
          </a:p>
        </p:txBody>
      </p:sp>
      <p:sp>
        <p:nvSpPr>
          <p:cNvPr id="21" name="Text 16"/>
          <p:cNvSpPr/>
          <p:nvPr/>
        </p:nvSpPr>
        <p:spPr>
          <a:xfrm>
            <a:off x="4306824" y="3026664"/>
            <a:ext cx="347472" cy="347472"/>
          </a:xfrm>
          <a:prstGeom prst="rect">
            <a:avLst/>
          </a:prstGeom>
          <a:noFill/>
          <a:ln/>
        </p:spPr>
        <p:txBody>
          <a:bodyPr wrap="square" lIns="0" tIns="0" rIns="0" bIns="0" rtlCol="0" anchor="ctr"/>
          <a:lstStyle/>
          <a:p>
            <a:pPr marL="0" indent="0" algn="ctr">
              <a:buNone/>
            </a:pPr>
            <a:r>
              <a:rPr lang="en-US" sz="800" b="1" dirty="0">
                <a:solidFill>
                  <a:srgbClr val="0F172A"/>
                </a:solidFill>
                <a:latin typeface="Arial" pitchFamily="34" charset="0"/>
                <a:ea typeface="Arial" pitchFamily="34" charset="-122"/>
                <a:cs typeface="Arial" pitchFamily="34" charset="-120"/>
              </a:rPr>
              <a:t>03</a:t>
            </a:r>
            <a:endParaRPr lang="en-US" sz="800" dirty="0"/>
          </a:p>
        </p:txBody>
      </p:sp>
      <p:sp>
        <p:nvSpPr>
          <p:cNvPr id="22" name="Text 17"/>
          <p:cNvSpPr/>
          <p:nvPr/>
        </p:nvSpPr>
        <p:spPr>
          <a:xfrm>
            <a:off x="3703320" y="3794760"/>
            <a:ext cx="1554480" cy="292608"/>
          </a:xfrm>
          <a:prstGeom prst="rect">
            <a:avLst/>
          </a:prstGeom>
          <a:noFill/>
          <a:ln/>
        </p:spPr>
        <p:txBody>
          <a:bodyPr wrap="square" lIns="0" tIns="0" rIns="0" bIns="0" rtlCol="0" anchor="ctr"/>
          <a:lstStyle/>
          <a:p>
            <a:pPr marL="0" indent="0" algn="ctr">
              <a:buNone/>
            </a:pPr>
            <a:r>
              <a:rPr lang="en-US" sz="1300" b="1" dirty="0">
                <a:solidFill>
                  <a:srgbClr val="0F172A"/>
                </a:solidFill>
                <a:latin typeface="Arial" pitchFamily="34" charset="0"/>
                <a:ea typeface="Arial" pitchFamily="34" charset="-122"/>
                <a:cs typeface="Arial" pitchFamily="34" charset="-120"/>
              </a:rPr>
              <a:t>Preparation</a:t>
            </a:r>
            <a:endParaRPr lang="en-US" sz="1300" dirty="0"/>
          </a:p>
        </p:txBody>
      </p:sp>
      <p:sp>
        <p:nvSpPr>
          <p:cNvPr id="23" name="Text 18"/>
          <p:cNvSpPr/>
          <p:nvPr/>
        </p:nvSpPr>
        <p:spPr>
          <a:xfrm>
            <a:off x="3657600" y="4096512"/>
            <a:ext cx="1645920" cy="68580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Preprocessing &amp; exploratory</a:t>
            </a:r>
            <a:endParaRPr lang="en-US" sz="950" dirty="0"/>
          </a:p>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data analysis</a:t>
            </a:r>
            <a:endParaRPr lang="en-US" sz="950" dirty="0"/>
          </a:p>
        </p:txBody>
      </p:sp>
      <p:sp>
        <p:nvSpPr>
          <p:cNvPr id="24" name="Shape 19"/>
          <p:cNvSpPr/>
          <p:nvPr/>
        </p:nvSpPr>
        <p:spPr>
          <a:xfrm>
            <a:off x="5875020" y="281178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25" name="Image 3" descr="/home/claude/assets/icons/FiCpu.png"/>
          <p:cNvPicPr>
            <a:picLocks noChangeAspect="1"/>
          </p:cNvPicPr>
          <p:nvPr/>
        </p:nvPicPr>
        <p:blipFill>
          <a:blip r:embed="rId6"/>
          <a:stretch>
            <a:fillRect/>
          </a:stretch>
        </p:blipFill>
        <p:spPr>
          <a:xfrm>
            <a:off x="6077102" y="3013862"/>
            <a:ext cx="373075" cy="373075"/>
          </a:xfrm>
          <a:prstGeom prst="rect">
            <a:avLst/>
          </a:prstGeom>
        </p:spPr>
      </p:pic>
      <p:sp>
        <p:nvSpPr>
          <p:cNvPr id="26" name="Shape 20"/>
          <p:cNvSpPr/>
          <p:nvPr/>
        </p:nvSpPr>
        <p:spPr>
          <a:xfrm>
            <a:off x="6089904" y="3026664"/>
            <a:ext cx="347472" cy="347472"/>
          </a:xfrm>
          <a:prstGeom prst="roundRect">
            <a:avLst>
              <a:gd name="adj" fmla="val 50000"/>
            </a:avLst>
          </a:prstGeom>
          <a:solidFill>
            <a:srgbClr val="FFFFFF"/>
          </a:solidFill>
          <a:ln w="19050">
            <a:solidFill>
              <a:srgbClr val="8B5CF6"/>
            </a:solidFill>
            <a:prstDash val="solid"/>
          </a:ln>
        </p:spPr>
        <p:txBody>
          <a:bodyPr/>
          <a:lstStyle/>
          <a:p>
            <a:endParaRPr lang="en-US"/>
          </a:p>
        </p:txBody>
      </p:sp>
      <p:sp>
        <p:nvSpPr>
          <p:cNvPr id="27" name="Text 21"/>
          <p:cNvSpPr/>
          <p:nvPr/>
        </p:nvSpPr>
        <p:spPr>
          <a:xfrm>
            <a:off x="6089904" y="3026664"/>
            <a:ext cx="347472" cy="347472"/>
          </a:xfrm>
          <a:prstGeom prst="rect">
            <a:avLst/>
          </a:prstGeom>
          <a:noFill/>
          <a:ln/>
        </p:spPr>
        <p:txBody>
          <a:bodyPr wrap="square" lIns="0" tIns="0" rIns="0" bIns="0" rtlCol="0" anchor="ctr"/>
          <a:lstStyle/>
          <a:p>
            <a:pPr marL="0" indent="0" algn="ctr">
              <a:buNone/>
            </a:pPr>
            <a:r>
              <a:rPr lang="en-US" sz="800" b="1" dirty="0">
                <a:solidFill>
                  <a:srgbClr val="0F172A"/>
                </a:solidFill>
                <a:latin typeface="Arial" pitchFamily="34" charset="0"/>
                <a:ea typeface="Arial" pitchFamily="34" charset="-122"/>
                <a:cs typeface="Arial" pitchFamily="34" charset="-120"/>
              </a:rPr>
              <a:t>04</a:t>
            </a:r>
            <a:endParaRPr lang="en-US" sz="800" dirty="0"/>
          </a:p>
        </p:txBody>
      </p:sp>
      <p:sp>
        <p:nvSpPr>
          <p:cNvPr id="28" name="Text 22"/>
          <p:cNvSpPr/>
          <p:nvPr/>
        </p:nvSpPr>
        <p:spPr>
          <a:xfrm>
            <a:off x="5486400" y="3794760"/>
            <a:ext cx="1554480" cy="292608"/>
          </a:xfrm>
          <a:prstGeom prst="rect">
            <a:avLst/>
          </a:prstGeom>
          <a:noFill/>
          <a:ln/>
        </p:spPr>
        <p:txBody>
          <a:bodyPr wrap="square" lIns="0" tIns="0" rIns="0" bIns="0" rtlCol="0" anchor="ctr"/>
          <a:lstStyle/>
          <a:p>
            <a:pPr marL="0" indent="0" algn="ctr">
              <a:buNone/>
            </a:pPr>
            <a:r>
              <a:rPr lang="en-US" sz="1300" b="1" dirty="0">
                <a:solidFill>
                  <a:srgbClr val="0F172A"/>
                </a:solidFill>
                <a:latin typeface="Arial" pitchFamily="34" charset="0"/>
                <a:ea typeface="Arial" pitchFamily="34" charset="-122"/>
                <a:cs typeface="Arial" pitchFamily="34" charset="-120"/>
              </a:rPr>
              <a:t>Modeling</a:t>
            </a:r>
            <a:endParaRPr lang="en-US" sz="1300" dirty="0"/>
          </a:p>
        </p:txBody>
      </p:sp>
      <p:sp>
        <p:nvSpPr>
          <p:cNvPr id="29" name="Text 23"/>
          <p:cNvSpPr/>
          <p:nvPr/>
        </p:nvSpPr>
        <p:spPr>
          <a:xfrm>
            <a:off x="5440680" y="4096512"/>
            <a:ext cx="1645920" cy="68580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ML algorithms, training</a:t>
            </a:r>
            <a:endParaRPr lang="en-US" sz="950" dirty="0"/>
          </a:p>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&amp; tuning</a:t>
            </a:r>
            <a:endParaRPr lang="en-US" sz="950" dirty="0"/>
          </a:p>
        </p:txBody>
      </p:sp>
      <p:sp>
        <p:nvSpPr>
          <p:cNvPr id="30" name="Shape 24"/>
          <p:cNvSpPr/>
          <p:nvPr/>
        </p:nvSpPr>
        <p:spPr>
          <a:xfrm>
            <a:off x="7658100" y="281178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31" name="Image 4" descr="/home/claude/assets/icons/FiBarChart2.png"/>
          <p:cNvPicPr>
            <a:picLocks noChangeAspect="1"/>
          </p:cNvPicPr>
          <p:nvPr/>
        </p:nvPicPr>
        <p:blipFill>
          <a:blip r:embed="rId7"/>
          <a:stretch>
            <a:fillRect/>
          </a:stretch>
        </p:blipFill>
        <p:spPr>
          <a:xfrm>
            <a:off x="7860182" y="3013862"/>
            <a:ext cx="373075" cy="373075"/>
          </a:xfrm>
          <a:prstGeom prst="rect">
            <a:avLst/>
          </a:prstGeom>
        </p:spPr>
      </p:pic>
      <p:sp>
        <p:nvSpPr>
          <p:cNvPr id="32" name="Shape 25"/>
          <p:cNvSpPr/>
          <p:nvPr/>
        </p:nvSpPr>
        <p:spPr>
          <a:xfrm>
            <a:off x="7872984" y="3026664"/>
            <a:ext cx="347472" cy="347472"/>
          </a:xfrm>
          <a:prstGeom prst="roundRect">
            <a:avLst>
              <a:gd name="adj" fmla="val 50000"/>
            </a:avLst>
          </a:prstGeom>
          <a:solidFill>
            <a:srgbClr val="FFFFFF"/>
          </a:solidFill>
          <a:ln w="19050">
            <a:solidFill>
              <a:srgbClr val="4F46E5"/>
            </a:solidFill>
            <a:prstDash val="solid"/>
          </a:ln>
        </p:spPr>
        <p:txBody>
          <a:bodyPr/>
          <a:lstStyle/>
          <a:p>
            <a:endParaRPr lang="en-US"/>
          </a:p>
        </p:txBody>
      </p:sp>
      <p:sp>
        <p:nvSpPr>
          <p:cNvPr id="33" name="Text 26"/>
          <p:cNvSpPr/>
          <p:nvPr/>
        </p:nvSpPr>
        <p:spPr>
          <a:xfrm>
            <a:off x="7872984" y="3026664"/>
            <a:ext cx="347472" cy="347472"/>
          </a:xfrm>
          <a:prstGeom prst="rect">
            <a:avLst/>
          </a:prstGeom>
          <a:noFill/>
          <a:ln/>
        </p:spPr>
        <p:txBody>
          <a:bodyPr wrap="square" lIns="0" tIns="0" rIns="0" bIns="0" rtlCol="0" anchor="ctr"/>
          <a:lstStyle/>
          <a:p>
            <a:pPr marL="0" indent="0" algn="ctr">
              <a:buNone/>
            </a:pPr>
            <a:r>
              <a:rPr lang="en-US" sz="800" b="1" dirty="0">
                <a:solidFill>
                  <a:srgbClr val="0F172A"/>
                </a:solidFill>
                <a:latin typeface="Arial" pitchFamily="34" charset="0"/>
                <a:ea typeface="Arial" pitchFamily="34" charset="-122"/>
                <a:cs typeface="Arial" pitchFamily="34" charset="-120"/>
              </a:rPr>
              <a:t>05</a:t>
            </a:r>
            <a:endParaRPr lang="en-US" sz="800" dirty="0"/>
          </a:p>
        </p:txBody>
      </p:sp>
      <p:sp>
        <p:nvSpPr>
          <p:cNvPr id="34" name="Text 27"/>
          <p:cNvSpPr/>
          <p:nvPr/>
        </p:nvSpPr>
        <p:spPr>
          <a:xfrm>
            <a:off x="7269480" y="3794760"/>
            <a:ext cx="1554480" cy="292608"/>
          </a:xfrm>
          <a:prstGeom prst="rect">
            <a:avLst/>
          </a:prstGeom>
          <a:noFill/>
          <a:ln/>
        </p:spPr>
        <p:txBody>
          <a:bodyPr wrap="square" lIns="0" tIns="0" rIns="0" bIns="0" rtlCol="0" anchor="ctr"/>
          <a:lstStyle/>
          <a:p>
            <a:pPr marL="0" indent="0" algn="ctr">
              <a:buNone/>
            </a:pPr>
            <a:r>
              <a:rPr lang="en-US" sz="1300" b="1" dirty="0">
                <a:solidFill>
                  <a:srgbClr val="0F172A"/>
                </a:solidFill>
                <a:latin typeface="Arial" pitchFamily="34" charset="0"/>
                <a:ea typeface="Arial" pitchFamily="34" charset="-122"/>
                <a:cs typeface="Arial" pitchFamily="34" charset="-120"/>
              </a:rPr>
              <a:t>Evaluation</a:t>
            </a:r>
            <a:endParaRPr lang="en-US" sz="1300" dirty="0"/>
          </a:p>
        </p:txBody>
      </p:sp>
      <p:sp>
        <p:nvSpPr>
          <p:cNvPr id="35" name="Text 28"/>
          <p:cNvSpPr/>
          <p:nvPr/>
        </p:nvSpPr>
        <p:spPr>
          <a:xfrm>
            <a:off x="7223760" y="4096512"/>
            <a:ext cx="1645920" cy="68580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Metrics, results</a:t>
            </a:r>
            <a:endParaRPr lang="en-US" sz="950" dirty="0"/>
          </a:p>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&amp; feature importance</a:t>
            </a:r>
            <a:endParaRPr lang="en-US" sz="950" dirty="0"/>
          </a:p>
        </p:txBody>
      </p:sp>
      <p:sp>
        <p:nvSpPr>
          <p:cNvPr id="36" name="Shape 29"/>
          <p:cNvSpPr/>
          <p:nvPr/>
        </p:nvSpPr>
        <p:spPr>
          <a:xfrm>
            <a:off x="9441180" y="281178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37" name="Image 5" descr="/home/claude/assets/icons/FiFlag.png"/>
          <p:cNvPicPr>
            <a:picLocks noChangeAspect="1"/>
          </p:cNvPicPr>
          <p:nvPr/>
        </p:nvPicPr>
        <p:blipFill>
          <a:blip r:embed="rId8"/>
          <a:stretch>
            <a:fillRect/>
          </a:stretch>
        </p:blipFill>
        <p:spPr>
          <a:xfrm>
            <a:off x="9643262" y="3013862"/>
            <a:ext cx="373075" cy="373075"/>
          </a:xfrm>
          <a:prstGeom prst="rect">
            <a:avLst/>
          </a:prstGeom>
        </p:spPr>
      </p:pic>
      <p:sp>
        <p:nvSpPr>
          <p:cNvPr id="38" name="Shape 30"/>
          <p:cNvSpPr/>
          <p:nvPr/>
        </p:nvSpPr>
        <p:spPr>
          <a:xfrm>
            <a:off x="9656064" y="3026664"/>
            <a:ext cx="347472" cy="347472"/>
          </a:xfrm>
          <a:prstGeom prst="roundRect">
            <a:avLst>
              <a:gd name="adj" fmla="val 50000"/>
            </a:avLst>
          </a:prstGeom>
          <a:solidFill>
            <a:srgbClr val="FFFFFF"/>
          </a:solidFill>
          <a:ln w="19050">
            <a:solidFill>
              <a:srgbClr val="8B5CF6"/>
            </a:solidFill>
            <a:prstDash val="solid"/>
          </a:ln>
        </p:spPr>
        <p:txBody>
          <a:bodyPr/>
          <a:lstStyle/>
          <a:p>
            <a:endParaRPr lang="en-US"/>
          </a:p>
        </p:txBody>
      </p:sp>
      <p:sp>
        <p:nvSpPr>
          <p:cNvPr id="39" name="Text 31"/>
          <p:cNvSpPr/>
          <p:nvPr/>
        </p:nvSpPr>
        <p:spPr>
          <a:xfrm>
            <a:off x="9656064" y="3026664"/>
            <a:ext cx="347472" cy="347472"/>
          </a:xfrm>
          <a:prstGeom prst="rect">
            <a:avLst/>
          </a:prstGeom>
          <a:noFill/>
          <a:ln/>
        </p:spPr>
        <p:txBody>
          <a:bodyPr wrap="square" lIns="0" tIns="0" rIns="0" bIns="0" rtlCol="0" anchor="ctr"/>
          <a:lstStyle/>
          <a:p>
            <a:pPr marL="0" indent="0" algn="ctr">
              <a:buNone/>
            </a:pPr>
            <a:r>
              <a:rPr lang="en-US" sz="800" b="1" dirty="0">
                <a:solidFill>
                  <a:srgbClr val="0F172A"/>
                </a:solidFill>
                <a:latin typeface="Arial" pitchFamily="34" charset="0"/>
                <a:ea typeface="Arial" pitchFamily="34" charset="-122"/>
                <a:cs typeface="Arial" pitchFamily="34" charset="-120"/>
              </a:rPr>
              <a:t>06</a:t>
            </a:r>
            <a:endParaRPr lang="en-US" sz="800" dirty="0"/>
          </a:p>
        </p:txBody>
      </p:sp>
      <p:sp>
        <p:nvSpPr>
          <p:cNvPr id="40" name="Text 32"/>
          <p:cNvSpPr/>
          <p:nvPr/>
        </p:nvSpPr>
        <p:spPr>
          <a:xfrm>
            <a:off x="9052560" y="3794760"/>
            <a:ext cx="1554480" cy="292608"/>
          </a:xfrm>
          <a:prstGeom prst="rect">
            <a:avLst/>
          </a:prstGeom>
          <a:noFill/>
          <a:ln/>
        </p:spPr>
        <p:txBody>
          <a:bodyPr wrap="square" lIns="0" tIns="0" rIns="0" bIns="0" rtlCol="0" anchor="ctr"/>
          <a:lstStyle/>
          <a:p>
            <a:pPr marL="0" indent="0" algn="ctr">
              <a:buNone/>
            </a:pPr>
            <a:r>
              <a:rPr lang="en-US" sz="1300" b="1" dirty="0">
                <a:solidFill>
                  <a:srgbClr val="0F172A"/>
                </a:solidFill>
                <a:latin typeface="Arial" pitchFamily="34" charset="0"/>
                <a:ea typeface="Arial" pitchFamily="34" charset="-122"/>
                <a:cs typeface="Arial" pitchFamily="34" charset="-120"/>
              </a:rPr>
              <a:t>Outcome</a:t>
            </a:r>
            <a:endParaRPr lang="en-US" sz="1300" dirty="0"/>
          </a:p>
        </p:txBody>
      </p:sp>
      <p:sp>
        <p:nvSpPr>
          <p:cNvPr id="41" name="Text 33"/>
          <p:cNvSpPr/>
          <p:nvPr/>
        </p:nvSpPr>
        <p:spPr>
          <a:xfrm>
            <a:off x="9006840" y="4096512"/>
            <a:ext cx="1645920" cy="68580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Demo, conclusion</a:t>
            </a:r>
            <a:endParaRPr lang="en-US" sz="950" dirty="0"/>
          </a:p>
          <a:p>
            <a:pPr marL="0" indent="0" algn="ctr">
              <a:lnSpc>
                <a:spcPct val="115000"/>
              </a:lnSpc>
              <a:buNone/>
            </a:pPr>
            <a:r>
              <a:rPr lang="en-US" sz="950" dirty="0">
                <a:solidFill>
                  <a:srgbClr val="64748B"/>
                </a:solidFill>
                <a:latin typeface="Arial" pitchFamily="34" charset="0"/>
                <a:ea typeface="Arial" pitchFamily="34" charset="-122"/>
                <a:cs typeface="Arial" pitchFamily="34" charset="-120"/>
              </a:rPr>
              <a:t>&amp; future scope</a:t>
            </a:r>
            <a:endParaRPr lang="en-US" sz="950" dirty="0"/>
          </a:p>
        </p:txBody>
      </p:sp>
      <p:sp>
        <p:nvSpPr>
          <p:cNvPr id="42" name="Text 34"/>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43" name="Text 35"/>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01  ·  INTRODUCTION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Why Predict Student Performance?</a:t>
            </a:r>
            <a:endParaRPr lang="en-US" sz="3200" dirty="0"/>
          </a:p>
        </p:txBody>
      </p:sp>
      <p:sp>
        <p:nvSpPr>
          <p:cNvPr id="4" name="Shape 2"/>
          <p:cNvSpPr/>
          <p:nvPr/>
        </p:nvSpPr>
        <p:spPr>
          <a:xfrm>
            <a:off x="548640" y="2011680"/>
            <a:ext cx="3383280" cy="2880360"/>
          </a:xfrm>
          <a:prstGeom prst="roundRect">
            <a:avLst>
              <a:gd name="adj" fmla="val 4444"/>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Shape 3"/>
          <p:cNvSpPr/>
          <p:nvPr/>
        </p:nvSpPr>
        <p:spPr>
          <a:xfrm>
            <a:off x="1805940" y="2263140"/>
            <a:ext cx="868680" cy="86868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Users.png"/>
          <p:cNvPicPr>
            <a:picLocks noChangeAspect="1"/>
          </p:cNvPicPr>
          <p:nvPr/>
        </p:nvPicPr>
        <p:blipFill>
          <a:blip r:embed="rId3"/>
          <a:stretch>
            <a:fillRect/>
          </a:stretch>
        </p:blipFill>
        <p:spPr>
          <a:xfrm>
            <a:off x="2031797" y="2488997"/>
            <a:ext cx="416966" cy="416966"/>
          </a:xfrm>
          <a:prstGeom prst="rect">
            <a:avLst/>
          </a:prstGeom>
        </p:spPr>
      </p:pic>
      <p:sp>
        <p:nvSpPr>
          <p:cNvPr id="7" name="Text 4"/>
          <p:cNvSpPr/>
          <p:nvPr/>
        </p:nvSpPr>
        <p:spPr>
          <a:xfrm>
            <a:off x="777240" y="3337560"/>
            <a:ext cx="2926080" cy="457200"/>
          </a:xfrm>
          <a:prstGeom prst="rect">
            <a:avLst/>
          </a:prstGeom>
          <a:noFill/>
          <a:ln/>
        </p:spPr>
        <p:txBody>
          <a:bodyPr wrap="square" lIns="0" tIns="0" rIns="0" bIns="0" rtlCol="0" anchor="ctr"/>
          <a:lstStyle/>
          <a:p>
            <a:pPr marL="0" indent="0" algn="ctr">
              <a:buNone/>
            </a:pPr>
            <a:r>
              <a:rPr lang="en-US" sz="1500" b="1" dirty="0">
                <a:solidFill>
                  <a:srgbClr val="0F172A"/>
                </a:solidFill>
                <a:latin typeface="Arial" pitchFamily="34" charset="0"/>
                <a:ea typeface="Arial" pitchFamily="34" charset="-122"/>
                <a:cs typeface="Arial" pitchFamily="34" charset="-120"/>
              </a:rPr>
              <a:t>Every Student Matters</a:t>
            </a:r>
            <a:endParaRPr lang="en-US" sz="1500" dirty="0"/>
          </a:p>
        </p:txBody>
      </p:sp>
      <p:sp>
        <p:nvSpPr>
          <p:cNvPr id="8" name="Text 5"/>
          <p:cNvSpPr/>
          <p:nvPr/>
        </p:nvSpPr>
        <p:spPr>
          <a:xfrm>
            <a:off x="841248" y="3794760"/>
            <a:ext cx="2798064" cy="1005840"/>
          </a:xfrm>
          <a:prstGeom prst="rect">
            <a:avLst/>
          </a:prstGeom>
          <a:noFill/>
          <a:ln/>
        </p:spPr>
        <p:txBody>
          <a:bodyPr wrap="square" lIns="0" tIns="0" rIns="0" bIns="0" rtlCol="0" anchor="ctr"/>
          <a:lstStyle/>
          <a:p>
            <a:pPr marL="0" indent="0" algn="ctr">
              <a:lnSpc>
                <a:spcPct val="125000"/>
              </a:lnSpc>
              <a:buNone/>
            </a:pPr>
            <a:r>
              <a:rPr lang="en-US" sz="1150" dirty="0">
                <a:solidFill>
                  <a:srgbClr val="64748B"/>
                </a:solidFill>
                <a:latin typeface="Arial" pitchFamily="34" charset="0"/>
                <a:ea typeface="Arial" pitchFamily="34" charset="-122"/>
                <a:cs typeface="Arial" pitchFamily="34" charset="-120"/>
              </a:rPr>
              <a:t>Classrooms are diverse — students learn at different paces and face different challenges.</a:t>
            </a:r>
            <a:endParaRPr lang="en-US" sz="1150" dirty="0"/>
          </a:p>
        </p:txBody>
      </p:sp>
      <p:sp>
        <p:nvSpPr>
          <p:cNvPr id="9" name="Shape 6"/>
          <p:cNvSpPr/>
          <p:nvPr/>
        </p:nvSpPr>
        <p:spPr>
          <a:xfrm>
            <a:off x="4251960" y="2011680"/>
            <a:ext cx="3383280" cy="2880360"/>
          </a:xfrm>
          <a:prstGeom prst="roundRect">
            <a:avLst>
              <a:gd name="adj" fmla="val 4444"/>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0" name="Shape 7"/>
          <p:cNvSpPr/>
          <p:nvPr/>
        </p:nvSpPr>
        <p:spPr>
          <a:xfrm>
            <a:off x="5509260" y="2263140"/>
            <a:ext cx="868680" cy="86868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11" name="Image 1" descr="/home/claude/assets/icons/FiAlertCircle.png"/>
          <p:cNvPicPr>
            <a:picLocks noChangeAspect="1"/>
          </p:cNvPicPr>
          <p:nvPr/>
        </p:nvPicPr>
        <p:blipFill>
          <a:blip r:embed="rId4"/>
          <a:stretch>
            <a:fillRect/>
          </a:stretch>
        </p:blipFill>
        <p:spPr>
          <a:xfrm>
            <a:off x="5735117" y="2488997"/>
            <a:ext cx="416966" cy="416966"/>
          </a:xfrm>
          <a:prstGeom prst="rect">
            <a:avLst/>
          </a:prstGeom>
        </p:spPr>
      </p:pic>
      <p:sp>
        <p:nvSpPr>
          <p:cNvPr id="12" name="Text 8"/>
          <p:cNvSpPr/>
          <p:nvPr/>
        </p:nvSpPr>
        <p:spPr>
          <a:xfrm>
            <a:off x="4480560" y="3337560"/>
            <a:ext cx="2926080" cy="457200"/>
          </a:xfrm>
          <a:prstGeom prst="rect">
            <a:avLst/>
          </a:prstGeom>
          <a:noFill/>
          <a:ln/>
        </p:spPr>
        <p:txBody>
          <a:bodyPr wrap="square" lIns="0" tIns="0" rIns="0" bIns="0" rtlCol="0" anchor="ctr"/>
          <a:lstStyle/>
          <a:p>
            <a:pPr marL="0" indent="0" algn="ctr">
              <a:buNone/>
            </a:pPr>
            <a:r>
              <a:rPr lang="en-US" sz="1500" b="1" dirty="0">
                <a:solidFill>
                  <a:srgbClr val="0F172A"/>
                </a:solidFill>
                <a:latin typeface="Arial" pitchFamily="34" charset="0"/>
                <a:ea typeface="Arial" pitchFamily="34" charset="-122"/>
                <a:cs typeface="Arial" pitchFamily="34" charset="-120"/>
              </a:rPr>
              <a:t>A Growing Challenge</a:t>
            </a:r>
            <a:endParaRPr lang="en-US" sz="1500" dirty="0"/>
          </a:p>
        </p:txBody>
      </p:sp>
      <p:sp>
        <p:nvSpPr>
          <p:cNvPr id="13" name="Text 9"/>
          <p:cNvSpPr/>
          <p:nvPr/>
        </p:nvSpPr>
        <p:spPr>
          <a:xfrm>
            <a:off x="4544568" y="3794760"/>
            <a:ext cx="2798064" cy="1005840"/>
          </a:xfrm>
          <a:prstGeom prst="rect">
            <a:avLst/>
          </a:prstGeom>
          <a:noFill/>
          <a:ln/>
        </p:spPr>
        <p:txBody>
          <a:bodyPr wrap="square" lIns="0" tIns="0" rIns="0" bIns="0" rtlCol="0" anchor="ctr"/>
          <a:lstStyle/>
          <a:p>
            <a:pPr marL="0" indent="0" algn="ctr">
              <a:lnSpc>
                <a:spcPct val="125000"/>
              </a:lnSpc>
              <a:buNone/>
            </a:pPr>
            <a:r>
              <a:rPr lang="en-US" sz="1150" dirty="0">
                <a:solidFill>
                  <a:srgbClr val="64748B"/>
                </a:solidFill>
                <a:latin typeface="Arial" pitchFamily="34" charset="0"/>
                <a:ea typeface="Arial" pitchFamily="34" charset="-122"/>
                <a:cs typeface="Arial" pitchFamily="34" charset="-120"/>
              </a:rPr>
              <a:t>Teachers often notice struggling students only after mid-terms, when it is too late to help effectively.</a:t>
            </a:r>
            <a:endParaRPr lang="en-US" sz="1150" dirty="0"/>
          </a:p>
        </p:txBody>
      </p:sp>
      <p:sp>
        <p:nvSpPr>
          <p:cNvPr id="14" name="Shape 10"/>
          <p:cNvSpPr/>
          <p:nvPr/>
        </p:nvSpPr>
        <p:spPr>
          <a:xfrm>
            <a:off x="7955280" y="2011680"/>
            <a:ext cx="3383280" cy="2880360"/>
          </a:xfrm>
          <a:prstGeom prst="roundRect">
            <a:avLst>
              <a:gd name="adj" fmla="val 4444"/>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5" name="Shape 11"/>
          <p:cNvSpPr/>
          <p:nvPr/>
        </p:nvSpPr>
        <p:spPr>
          <a:xfrm>
            <a:off x="9212580" y="2263140"/>
            <a:ext cx="868680" cy="86868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6" name="Image 2" descr="/home/claude/assets/icons/FiCpu.png"/>
          <p:cNvPicPr>
            <a:picLocks noChangeAspect="1"/>
          </p:cNvPicPr>
          <p:nvPr/>
        </p:nvPicPr>
        <p:blipFill>
          <a:blip r:embed="rId5"/>
          <a:stretch>
            <a:fillRect/>
          </a:stretch>
        </p:blipFill>
        <p:spPr>
          <a:xfrm>
            <a:off x="9438437" y="2488997"/>
            <a:ext cx="416966" cy="416966"/>
          </a:xfrm>
          <a:prstGeom prst="rect">
            <a:avLst/>
          </a:prstGeom>
        </p:spPr>
      </p:pic>
      <p:sp>
        <p:nvSpPr>
          <p:cNvPr id="17" name="Text 12"/>
          <p:cNvSpPr/>
          <p:nvPr/>
        </p:nvSpPr>
        <p:spPr>
          <a:xfrm>
            <a:off x="8183880" y="3337560"/>
            <a:ext cx="2926080" cy="457200"/>
          </a:xfrm>
          <a:prstGeom prst="rect">
            <a:avLst/>
          </a:prstGeom>
          <a:noFill/>
          <a:ln/>
        </p:spPr>
        <p:txBody>
          <a:bodyPr wrap="square" lIns="0" tIns="0" rIns="0" bIns="0" rtlCol="0" anchor="ctr"/>
          <a:lstStyle/>
          <a:p>
            <a:pPr marL="0" indent="0" algn="ctr">
              <a:buNone/>
            </a:pPr>
            <a:r>
              <a:rPr lang="en-US" sz="1500" b="1" dirty="0">
                <a:solidFill>
                  <a:srgbClr val="0F172A"/>
                </a:solidFill>
                <a:latin typeface="Arial" pitchFamily="34" charset="0"/>
                <a:ea typeface="Arial" pitchFamily="34" charset="-122"/>
                <a:cs typeface="Arial" pitchFamily="34" charset="-120"/>
              </a:rPr>
              <a:t>AI as an Ally</a:t>
            </a:r>
            <a:endParaRPr lang="en-US" sz="1500" dirty="0"/>
          </a:p>
        </p:txBody>
      </p:sp>
      <p:sp>
        <p:nvSpPr>
          <p:cNvPr id="18" name="Text 13"/>
          <p:cNvSpPr/>
          <p:nvPr/>
        </p:nvSpPr>
        <p:spPr>
          <a:xfrm>
            <a:off x="8247888" y="3794760"/>
            <a:ext cx="2798064" cy="1005840"/>
          </a:xfrm>
          <a:prstGeom prst="rect">
            <a:avLst/>
          </a:prstGeom>
          <a:noFill/>
          <a:ln/>
        </p:spPr>
        <p:txBody>
          <a:bodyPr wrap="square" lIns="0" tIns="0" rIns="0" bIns="0" rtlCol="0" anchor="ctr"/>
          <a:lstStyle/>
          <a:p>
            <a:pPr marL="0" indent="0" algn="ctr">
              <a:lnSpc>
                <a:spcPct val="125000"/>
              </a:lnSpc>
              <a:buNone/>
            </a:pPr>
            <a:r>
              <a:rPr lang="en-US" sz="1150" dirty="0">
                <a:solidFill>
                  <a:srgbClr val="64748B"/>
                </a:solidFill>
                <a:latin typeface="Arial" pitchFamily="34" charset="0"/>
                <a:ea typeface="Arial" pitchFamily="34" charset="-122"/>
                <a:cs typeface="Arial" pitchFamily="34" charset="-120"/>
              </a:rPr>
              <a:t>Machine learning can analyze patterns in student data to flag risk early and guide timely action.</a:t>
            </a:r>
            <a:endParaRPr lang="en-US" sz="1150" dirty="0"/>
          </a:p>
        </p:txBody>
      </p:sp>
      <p:sp>
        <p:nvSpPr>
          <p:cNvPr id="19" name="Shape 14"/>
          <p:cNvSpPr/>
          <p:nvPr/>
        </p:nvSpPr>
        <p:spPr>
          <a:xfrm>
            <a:off x="548640" y="5166360"/>
            <a:ext cx="10881360" cy="868680"/>
          </a:xfrm>
          <a:prstGeom prst="roundRect">
            <a:avLst>
              <a:gd name="adj" fmla="val 12632"/>
            </a:avLst>
          </a:prstGeom>
          <a:solidFill>
            <a:srgbClr val="4F46E5"/>
          </a:solidFill>
          <a:ln/>
        </p:spPr>
        <p:txBody>
          <a:bodyPr/>
          <a:lstStyle/>
          <a:p>
            <a:endParaRPr lang="en-US"/>
          </a:p>
        </p:txBody>
      </p:sp>
      <p:sp>
        <p:nvSpPr>
          <p:cNvPr id="20" name="Text 15"/>
          <p:cNvSpPr/>
          <p:nvPr/>
        </p:nvSpPr>
        <p:spPr>
          <a:xfrm>
            <a:off x="914400" y="5166360"/>
            <a:ext cx="10149840" cy="868680"/>
          </a:xfrm>
          <a:prstGeom prst="rect">
            <a:avLst/>
          </a:prstGeom>
          <a:noFill/>
          <a:ln/>
        </p:spPr>
        <p:txBody>
          <a:bodyPr wrap="square" lIns="0" tIns="0" rIns="0" bIns="0" rtlCol="0" anchor="ctr"/>
          <a:lstStyle/>
          <a:p>
            <a:pPr marL="0" indent="0" algn="ctr">
              <a:buNone/>
            </a:pPr>
            <a:r>
              <a:rPr lang="en-US" sz="1300" i="1" dirty="0">
                <a:solidFill>
                  <a:srgbClr val="FFFFFF"/>
                </a:solidFill>
                <a:latin typeface="Arial" pitchFamily="34" charset="0"/>
                <a:ea typeface="Arial" pitchFamily="34" charset="-122"/>
                <a:cs typeface="Arial" pitchFamily="34" charset="-120"/>
              </a:rPr>
              <a:t>Educational institutions worldwide are adopting AI-driven analytics to raise retention rates and academic outcomes.</a:t>
            </a:r>
            <a:endParaRPr lang="en-US" sz="1300" dirty="0"/>
          </a:p>
        </p:txBody>
      </p:sp>
      <p:sp>
        <p:nvSpPr>
          <p:cNvPr id="21" name="Text 16"/>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22" name="Text 17"/>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01  ·  INTRODUCTION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Problem Statement</a:t>
            </a:r>
            <a:endParaRPr lang="en-US" sz="3200" dirty="0"/>
          </a:p>
        </p:txBody>
      </p:sp>
      <p:sp>
        <p:nvSpPr>
          <p:cNvPr id="4" name="Text 2"/>
          <p:cNvSpPr/>
          <p:nvPr/>
        </p:nvSpPr>
        <p:spPr>
          <a:xfrm>
            <a:off x="548640" y="1234440"/>
            <a:ext cx="9144000" cy="320040"/>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Traditional monitoring falls short of what a data-driven approach can offer</a:t>
            </a:r>
            <a:endParaRPr lang="en-US" sz="1300" dirty="0"/>
          </a:p>
        </p:txBody>
      </p:sp>
      <p:sp>
        <p:nvSpPr>
          <p:cNvPr id="5" name="Shape 3"/>
          <p:cNvSpPr/>
          <p:nvPr/>
        </p:nvSpPr>
        <p:spPr>
          <a:xfrm>
            <a:off x="548640" y="1874520"/>
            <a:ext cx="5257800" cy="4160520"/>
          </a:xfrm>
          <a:prstGeom prst="roundRect">
            <a:avLst>
              <a:gd name="adj" fmla="val 3077"/>
            </a:avLst>
          </a:prstGeom>
          <a:solidFill>
            <a:srgbClr val="FEF2F2"/>
          </a:solidFill>
          <a:ln w="12700">
            <a:solidFill>
              <a:srgbClr val="FCA5A5"/>
            </a:solidFill>
            <a:prstDash val="solid"/>
          </a:ln>
          <a:effectLst>
            <a:outerShdw blurRad="76200" dist="25400" dir="5400000" algn="bl" rotWithShape="0">
              <a:srgbClr val="0F172A">
                <a:alpha val="12000"/>
              </a:srgbClr>
            </a:outerShdw>
          </a:effectLst>
        </p:spPr>
        <p:txBody>
          <a:bodyPr/>
          <a:lstStyle/>
          <a:p>
            <a:endParaRPr lang="en-US"/>
          </a:p>
        </p:txBody>
      </p:sp>
      <p:sp>
        <p:nvSpPr>
          <p:cNvPr id="6" name="Shape 4"/>
          <p:cNvSpPr/>
          <p:nvPr/>
        </p:nvSpPr>
        <p:spPr>
          <a:xfrm>
            <a:off x="905256" y="2112264"/>
            <a:ext cx="658368" cy="658368"/>
          </a:xfrm>
          <a:prstGeom prst="ellipse">
            <a:avLst/>
          </a:prstGeom>
          <a:solidFill>
            <a:srgbClr val="EF4444"/>
          </a:solidFill>
          <a:ln/>
          <a:effectLst>
            <a:outerShdw blurRad="76200" dist="25400" dir="5400000" algn="bl" rotWithShape="0">
              <a:srgbClr val="0F172A">
                <a:alpha val="12000"/>
              </a:srgbClr>
            </a:outerShdw>
          </a:effectLst>
        </p:spPr>
        <p:txBody>
          <a:bodyPr/>
          <a:lstStyle/>
          <a:p>
            <a:endParaRPr lang="en-US"/>
          </a:p>
        </p:txBody>
      </p:sp>
      <p:pic>
        <p:nvPicPr>
          <p:cNvPr id="7" name="Image 0" descr="/home/claude/assets/icons/FiAlertTriangle.png"/>
          <p:cNvPicPr>
            <a:picLocks noChangeAspect="1"/>
          </p:cNvPicPr>
          <p:nvPr/>
        </p:nvPicPr>
        <p:blipFill>
          <a:blip r:embed="rId3"/>
          <a:stretch>
            <a:fillRect/>
          </a:stretch>
        </p:blipFill>
        <p:spPr>
          <a:xfrm>
            <a:off x="1069848" y="2276856"/>
            <a:ext cx="329184" cy="329184"/>
          </a:xfrm>
          <a:prstGeom prst="rect">
            <a:avLst/>
          </a:prstGeom>
        </p:spPr>
      </p:pic>
      <p:sp>
        <p:nvSpPr>
          <p:cNvPr id="8" name="Text 5"/>
          <p:cNvSpPr/>
          <p:nvPr/>
        </p:nvSpPr>
        <p:spPr>
          <a:xfrm>
            <a:off x="1691640" y="2194560"/>
            <a:ext cx="3840480" cy="502920"/>
          </a:xfrm>
          <a:prstGeom prst="rect">
            <a:avLst/>
          </a:prstGeom>
          <a:noFill/>
          <a:ln/>
        </p:spPr>
        <p:txBody>
          <a:bodyPr wrap="square" lIns="0" tIns="0" rIns="0" bIns="0" rtlCol="0" anchor="ctr"/>
          <a:lstStyle/>
          <a:p>
            <a:pPr marL="0" indent="0">
              <a:buNone/>
            </a:pPr>
            <a:r>
              <a:rPr lang="en-US" sz="1600" b="1" dirty="0">
                <a:solidFill>
                  <a:srgbClr val="0F172A"/>
                </a:solidFill>
                <a:latin typeface="Arial" pitchFamily="34" charset="0"/>
                <a:ea typeface="Arial" pitchFamily="34" charset="-122"/>
                <a:cs typeface="Arial" pitchFamily="34" charset="-120"/>
              </a:rPr>
              <a:t>Current Approach</a:t>
            </a:r>
            <a:endParaRPr lang="en-US" sz="1600" dirty="0"/>
          </a:p>
        </p:txBody>
      </p:sp>
      <p:sp>
        <p:nvSpPr>
          <p:cNvPr id="9" name="Shape 6"/>
          <p:cNvSpPr/>
          <p:nvPr/>
        </p:nvSpPr>
        <p:spPr>
          <a:xfrm>
            <a:off x="941832" y="2962656"/>
            <a:ext cx="457200" cy="457200"/>
          </a:xfrm>
          <a:prstGeom prst="ellipse">
            <a:avLst/>
          </a:prstGeom>
          <a:solidFill>
            <a:srgbClr val="FCA5A5"/>
          </a:solidFill>
          <a:ln/>
          <a:effectLst>
            <a:outerShdw blurRad="76200" dist="25400" dir="5400000" algn="bl" rotWithShape="0">
              <a:srgbClr val="0F172A">
                <a:alpha val="12000"/>
              </a:srgbClr>
            </a:outerShdw>
          </a:effectLst>
        </p:spPr>
        <p:txBody>
          <a:bodyPr/>
          <a:lstStyle/>
          <a:p>
            <a:endParaRPr lang="en-US"/>
          </a:p>
        </p:txBody>
      </p:sp>
      <p:pic>
        <p:nvPicPr>
          <p:cNvPr id="10" name="Image 1" descr="/home/claude/assets/icons/FiUser.png"/>
          <p:cNvPicPr>
            <a:picLocks noChangeAspect="1"/>
          </p:cNvPicPr>
          <p:nvPr/>
        </p:nvPicPr>
        <p:blipFill>
          <a:blip r:embed="rId4"/>
          <a:stretch>
            <a:fillRect/>
          </a:stretch>
        </p:blipFill>
        <p:spPr>
          <a:xfrm>
            <a:off x="1056132" y="3076956"/>
            <a:ext cx="228600" cy="228600"/>
          </a:xfrm>
          <a:prstGeom prst="rect">
            <a:avLst/>
          </a:prstGeom>
        </p:spPr>
      </p:pic>
      <p:sp>
        <p:nvSpPr>
          <p:cNvPr id="11" name="Text 7"/>
          <p:cNvSpPr/>
          <p:nvPr/>
        </p:nvSpPr>
        <p:spPr>
          <a:xfrm>
            <a:off x="1508760" y="3017520"/>
            <a:ext cx="3977640" cy="548640"/>
          </a:xfrm>
          <a:prstGeom prst="rect">
            <a:avLst/>
          </a:prstGeom>
          <a:noFill/>
          <a:ln/>
        </p:spPr>
        <p:txBody>
          <a:bodyPr wrap="square" lIns="0" tIns="0" rIns="0" bIns="0" rtlCol="0" anchor="ctr"/>
          <a:lstStyle/>
          <a:p>
            <a:pPr marL="0" indent="0">
              <a:lnSpc>
                <a:spcPct val="110000"/>
              </a:lnSpc>
              <a:buNone/>
            </a:pPr>
            <a:r>
              <a:rPr lang="en-US" sz="1200" dirty="0">
                <a:solidFill>
                  <a:srgbClr val="7F1D1D"/>
                </a:solidFill>
                <a:latin typeface="Arial" pitchFamily="34" charset="0"/>
                <a:ea typeface="Arial" pitchFamily="34" charset="-122"/>
                <a:cs typeface="Arial" pitchFamily="34" charset="-120"/>
              </a:rPr>
              <a:t>Manual analysis of grades — slow and inconsistent</a:t>
            </a:r>
            <a:endParaRPr lang="en-US" sz="1200" dirty="0"/>
          </a:p>
        </p:txBody>
      </p:sp>
      <p:sp>
        <p:nvSpPr>
          <p:cNvPr id="12" name="Shape 8"/>
          <p:cNvSpPr/>
          <p:nvPr/>
        </p:nvSpPr>
        <p:spPr>
          <a:xfrm>
            <a:off x="941832" y="3675888"/>
            <a:ext cx="457200" cy="457200"/>
          </a:xfrm>
          <a:prstGeom prst="ellipse">
            <a:avLst/>
          </a:prstGeom>
          <a:solidFill>
            <a:srgbClr val="FCA5A5"/>
          </a:solidFill>
          <a:ln/>
          <a:effectLst>
            <a:outerShdw blurRad="76200" dist="25400" dir="5400000" algn="bl" rotWithShape="0">
              <a:srgbClr val="0F172A">
                <a:alpha val="12000"/>
              </a:srgbClr>
            </a:outerShdw>
          </a:effectLst>
        </p:spPr>
        <p:txBody>
          <a:bodyPr/>
          <a:lstStyle/>
          <a:p>
            <a:endParaRPr lang="en-US"/>
          </a:p>
        </p:txBody>
      </p:sp>
      <p:pic>
        <p:nvPicPr>
          <p:cNvPr id="13" name="Image 2" descr="/home/claude/assets/icons/FiClock.png"/>
          <p:cNvPicPr>
            <a:picLocks noChangeAspect="1"/>
          </p:cNvPicPr>
          <p:nvPr/>
        </p:nvPicPr>
        <p:blipFill>
          <a:blip r:embed="rId5"/>
          <a:stretch>
            <a:fillRect/>
          </a:stretch>
        </p:blipFill>
        <p:spPr>
          <a:xfrm>
            <a:off x="1056132" y="3790188"/>
            <a:ext cx="228600" cy="228600"/>
          </a:xfrm>
          <a:prstGeom prst="rect">
            <a:avLst/>
          </a:prstGeom>
        </p:spPr>
      </p:pic>
      <p:sp>
        <p:nvSpPr>
          <p:cNvPr id="14" name="Text 9"/>
          <p:cNvSpPr/>
          <p:nvPr/>
        </p:nvSpPr>
        <p:spPr>
          <a:xfrm>
            <a:off x="1508760" y="3730752"/>
            <a:ext cx="3977640" cy="548640"/>
          </a:xfrm>
          <a:prstGeom prst="rect">
            <a:avLst/>
          </a:prstGeom>
          <a:noFill/>
          <a:ln/>
        </p:spPr>
        <p:txBody>
          <a:bodyPr wrap="square" lIns="0" tIns="0" rIns="0" bIns="0" rtlCol="0" anchor="ctr"/>
          <a:lstStyle/>
          <a:p>
            <a:pPr marL="0" indent="0">
              <a:lnSpc>
                <a:spcPct val="110000"/>
              </a:lnSpc>
              <a:buNone/>
            </a:pPr>
            <a:r>
              <a:rPr lang="en-US" sz="1200" dirty="0">
                <a:solidFill>
                  <a:srgbClr val="7F1D1D"/>
                </a:solidFill>
                <a:latin typeface="Arial" pitchFamily="34" charset="0"/>
                <a:ea typeface="Arial" pitchFamily="34" charset="-122"/>
                <a:cs typeface="Arial" pitchFamily="34" charset="-120"/>
              </a:rPr>
              <a:t>Late identification of weak students, often post-exam</a:t>
            </a:r>
            <a:endParaRPr lang="en-US" sz="1200" dirty="0"/>
          </a:p>
        </p:txBody>
      </p:sp>
      <p:sp>
        <p:nvSpPr>
          <p:cNvPr id="15" name="Shape 10"/>
          <p:cNvSpPr/>
          <p:nvPr/>
        </p:nvSpPr>
        <p:spPr>
          <a:xfrm>
            <a:off x="941832" y="4389120"/>
            <a:ext cx="457200" cy="457200"/>
          </a:xfrm>
          <a:prstGeom prst="ellipse">
            <a:avLst/>
          </a:prstGeom>
          <a:solidFill>
            <a:srgbClr val="FCA5A5"/>
          </a:solidFill>
          <a:ln/>
          <a:effectLst>
            <a:outerShdw blurRad="76200" dist="25400" dir="5400000" algn="bl" rotWithShape="0">
              <a:srgbClr val="0F172A">
                <a:alpha val="12000"/>
              </a:srgbClr>
            </a:outerShdw>
          </a:effectLst>
        </p:spPr>
        <p:txBody>
          <a:bodyPr/>
          <a:lstStyle/>
          <a:p>
            <a:endParaRPr lang="en-US"/>
          </a:p>
        </p:txBody>
      </p:sp>
      <p:pic>
        <p:nvPicPr>
          <p:cNvPr id="16" name="Image 3" descr="/home/claude/assets/icons/FiHeart.png"/>
          <p:cNvPicPr>
            <a:picLocks noChangeAspect="1"/>
          </p:cNvPicPr>
          <p:nvPr/>
        </p:nvPicPr>
        <p:blipFill>
          <a:blip r:embed="rId6"/>
          <a:stretch>
            <a:fillRect/>
          </a:stretch>
        </p:blipFill>
        <p:spPr>
          <a:xfrm>
            <a:off x="1056132" y="4503420"/>
            <a:ext cx="228600" cy="228600"/>
          </a:xfrm>
          <a:prstGeom prst="rect">
            <a:avLst/>
          </a:prstGeom>
        </p:spPr>
      </p:pic>
      <p:sp>
        <p:nvSpPr>
          <p:cNvPr id="17" name="Text 11"/>
          <p:cNvSpPr/>
          <p:nvPr/>
        </p:nvSpPr>
        <p:spPr>
          <a:xfrm>
            <a:off x="1508760" y="4443984"/>
            <a:ext cx="3977640" cy="548640"/>
          </a:xfrm>
          <a:prstGeom prst="rect">
            <a:avLst/>
          </a:prstGeom>
          <a:noFill/>
          <a:ln/>
        </p:spPr>
        <p:txBody>
          <a:bodyPr wrap="square" lIns="0" tIns="0" rIns="0" bIns="0" rtlCol="0" anchor="ctr"/>
          <a:lstStyle/>
          <a:p>
            <a:pPr marL="0" indent="0">
              <a:lnSpc>
                <a:spcPct val="110000"/>
              </a:lnSpc>
              <a:buNone/>
            </a:pPr>
            <a:r>
              <a:rPr lang="en-US" sz="1200" dirty="0">
                <a:solidFill>
                  <a:srgbClr val="7F1D1D"/>
                </a:solidFill>
                <a:latin typeface="Arial" pitchFamily="34" charset="0"/>
                <a:ea typeface="Arial" pitchFamily="34" charset="-122"/>
                <a:cs typeface="Arial" pitchFamily="34" charset="-120"/>
              </a:rPr>
              <a:t>Lack of personalized, one-to-one support</a:t>
            </a:r>
            <a:endParaRPr lang="en-US" sz="1200" dirty="0"/>
          </a:p>
        </p:txBody>
      </p:sp>
      <p:sp>
        <p:nvSpPr>
          <p:cNvPr id="18" name="Shape 12"/>
          <p:cNvSpPr/>
          <p:nvPr/>
        </p:nvSpPr>
        <p:spPr>
          <a:xfrm>
            <a:off x="941832" y="5102352"/>
            <a:ext cx="457200" cy="457200"/>
          </a:xfrm>
          <a:prstGeom prst="ellipse">
            <a:avLst/>
          </a:prstGeom>
          <a:solidFill>
            <a:srgbClr val="FCA5A5"/>
          </a:solidFill>
          <a:ln/>
          <a:effectLst>
            <a:outerShdw blurRad="76200" dist="25400" dir="5400000" algn="bl" rotWithShape="0">
              <a:srgbClr val="0F172A">
                <a:alpha val="12000"/>
              </a:srgbClr>
            </a:outerShdw>
          </a:effectLst>
        </p:spPr>
        <p:txBody>
          <a:bodyPr/>
          <a:lstStyle/>
          <a:p>
            <a:endParaRPr lang="en-US"/>
          </a:p>
        </p:txBody>
      </p:sp>
      <p:pic>
        <p:nvPicPr>
          <p:cNvPr id="19" name="Image 4" descr="/home/claude/assets/icons/FiAlertCircle.png"/>
          <p:cNvPicPr>
            <a:picLocks noChangeAspect="1"/>
          </p:cNvPicPr>
          <p:nvPr/>
        </p:nvPicPr>
        <p:blipFill>
          <a:blip r:embed="rId5"/>
          <a:stretch>
            <a:fillRect/>
          </a:stretch>
        </p:blipFill>
        <p:spPr>
          <a:xfrm>
            <a:off x="1056132" y="5216652"/>
            <a:ext cx="228600" cy="228600"/>
          </a:xfrm>
          <a:prstGeom prst="rect">
            <a:avLst/>
          </a:prstGeom>
        </p:spPr>
      </p:pic>
      <p:sp>
        <p:nvSpPr>
          <p:cNvPr id="20" name="Text 13"/>
          <p:cNvSpPr/>
          <p:nvPr/>
        </p:nvSpPr>
        <p:spPr>
          <a:xfrm>
            <a:off x="1508760" y="5157216"/>
            <a:ext cx="3977640" cy="548640"/>
          </a:xfrm>
          <a:prstGeom prst="rect">
            <a:avLst/>
          </a:prstGeom>
          <a:noFill/>
          <a:ln/>
        </p:spPr>
        <p:txBody>
          <a:bodyPr wrap="square" lIns="0" tIns="0" rIns="0" bIns="0" rtlCol="0" anchor="ctr"/>
          <a:lstStyle/>
          <a:p>
            <a:pPr marL="0" indent="0">
              <a:lnSpc>
                <a:spcPct val="110000"/>
              </a:lnSpc>
              <a:buNone/>
            </a:pPr>
            <a:r>
              <a:rPr lang="en-US" sz="1200" dirty="0">
                <a:solidFill>
                  <a:srgbClr val="7F1D1D"/>
                </a:solidFill>
                <a:latin typeface="Arial" pitchFamily="34" charset="0"/>
                <a:ea typeface="Arial" pitchFamily="34" charset="-122"/>
                <a:cs typeface="Arial" pitchFamily="34" charset="-120"/>
              </a:rPr>
              <a:t>No early-warning system for institutions</a:t>
            </a:r>
            <a:endParaRPr lang="en-US" sz="1200" dirty="0"/>
          </a:p>
        </p:txBody>
      </p:sp>
      <p:sp>
        <p:nvSpPr>
          <p:cNvPr id="21" name="Shape 14"/>
          <p:cNvSpPr/>
          <p:nvPr/>
        </p:nvSpPr>
        <p:spPr>
          <a:xfrm>
            <a:off x="6172200" y="1874520"/>
            <a:ext cx="5257800" cy="4160520"/>
          </a:xfrm>
          <a:prstGeom prst="roundRect">
            <a:avLst>
              <a:gd name="adj" fmla="val 3077"/>
            </a:avLst>
          </a:prstGeom>
          <a:solidFill>
            <a:srgbClr val="F0FDF4"/>
          </a:solidFill>
          <a:ln w="12700">
            <a:solidFill>
              <a:srgbClr val="86EFAC"/>
            </a:solidFill>
            <a:prstDash val="solid"/>
          </a:ln>
          <a:effectLst>
            <a:outerShdw blurRad="76200" dist="25400" dir="5400000" algn="bl" rotWithShape="0">
              <a:srgbClr val="0F172A">
                <a:alpha val="12000"/>
              </a:srgbClr>
            </a:outerShdw>
          </a:effectLst>
        </p:spPr>
        <p:txBody>
          <a:bodyPr/>
          <a:lstStyle/>
          <a:p>
            <a:endParaRPr lang="en-US"/>
          </a:p>
        </p:txBody>
      </p:sp>
      <p:sp>
        <p:nvSpPr>
          <p:cNvPr id="22" name="Shape 15"/>
          <p:cNvSpPr/>
          <p:nvPr/>
        </p:nvSpPr>
        <p:spPr>
          <a:xfrm>
            <a:off x="6528816" y="2112264"/>
            <a:ext cx="658368" cy="658368"/>
          </a:xfrm>
          <a:prstGeom prst="ellipse">
            <a:avLst/>
          </a:prstGeom>
          <a:solidFill>
            <a:srgbClr val="22C55E"/>
          </a:solidFill>
          <a:ln/>
          <a:effectLst>
            <a:outerShdw blurRad="76200" dist="25400" dir="5400000" algn="bl" rotWithShape="0">
              <a:srgbClr val="0F172A">
                <a:alpha val="12000"/>
              </a:srgbClr>
            </a:outerShdw>
          </a:effectLst>
        </p:spPr>
        <p:txBody>
          <a:bodyPr/>
          <a:lstStyle/>
          <a:p>
            <a:endParaRPr lang="en-US"/>
          </a:p>
        </p:txBody>
      </p:sp>
      <p:pic>
        <p:nvPicPr>
          <p:cNvPr id="23" name="Image 5" descr="/home/claude/assets/icons/FiCpu.png"/>
          <p:cNvPicPr>
            <a:picLocks noChangeAspect="1"/>
          </p:cNvPicPr>
          <p:nvPr/>
        </p:nvPicPr>
        <p:blipFill>
          <a:blip r:embed="rId7"/>
          <a:stretch>
            <a:fillRect/>
          </a:stretch>
        </p:blipFill>
        <p:spPr>
          <a:xfrm>
            <a:off x="6693408" y="2276856"/>
            <a:ext cx="329184" cy="329184"/>
          </a:xfrm>
          <a:prstGeom prst="rect">
            <a:avLst/>
          </a:prstGeom>
        </p:spPr>
      </p:pic>
      <p:sp>
        <p:nvSpPr>
          <p:cNvPr id="24" name="Text 16"/>
          <p:cNvSpPr/>
          <p:nvPr/>
        </p:nvSpPr>
        <p:spPr>
          <a:xfrm>
            <a:off x="7315200" y="2194560"/>
            <a:ext cx="4023360" cy="502920"/>
          </a:xfrm>
          <a:prstGeom prst="rect">
            <a:avLst/>
          </a:prstGeom>
          <a:noFill/>
          <a:ln/>
        </p:spPr>
        <p:txBody>
          <a:bodyPr wrap="square" lIns="0" tIns="0" rIns="0" bIns="0" rtlCol="0" anchor="ctr"/>
          <a:lstStyle/>
          <a:p>
            <a:pPr marL="0" indent="0">
              <a:buNone/>
            </a:pPr>
            <a:r>
              <a:rPr lang="en-US" sz="1600" b="1" dirty="0">
                <a:solidFill>
                  <a:srgbClr val="0F172A"/>
                </a:solidFill>
                <a:latin typeface="Arial" pitchFamily="34" charset="0"/>
                <a:ea typeface="Arial" pitchFamily="34" charset="-122"/>
                <a:cs typeface="Arial" pitchFamily="34" charset="-120"/>
              </a:rPr>
              <a:t>Machine Learning Solution</a:t>
            </a:r>
            <a:endParaRPr lang="en-US" sz="1600" dirty="0"/>
          </a:p>
        </p:txBody>
      </p:sp>
      <p:sp>
        <p:nvSpPr>
          <p:cNvPr id="25" name="Shape 17"/>
          <p:cNvSpPr/>
          <p:nvPr/>
        </p:nvSpPr>
        <p:spPr>
          <a:xfrm>
            <a:off x="6565392" y="2962656"/>
            <a:ext cx="457200" cy="457200"/>
          </a:xfrm>
          <a:prstGeom prst="ellipse">
            <a:avLst/>
          </a:prstGeom>
          <a:solidFill>
            <a:srgbClr val="86EFAC"/>
          </a:solidFill>
          <a:ln/>
          <a:effectLst>
            <a:outerShdw blurRad="76200" dist="25400" dir="5400000" algn="bl" rotWithShape="0">
              <a:srgbClr val="0F172A">
                <a:alpha val="12000"/>
              </a:srgbClr>
            </a:outerShdw>
          </a:effectLst>
        </p:spPr>
        <p:txBody>
          <a:bodyPr/>
          <a:lstStyle/>
          <a:p>
            <a:endParaRPr lang="en-US"/>
          </a:p>
        </p:txBody>
      </p:sp>
      <p:pic>
        <p:nvPicPr>
          <p:cNvPr id="26" name="Image 6" descr="/home/claude/assets/icons/FiZap.png"/>
          <p:cNvPicPr>
            <a:picLocks noChangeAspect="1"/>
          </p:cNvPicPr>
          <p:nvPr/>
        </p:nvPicPr>
        <p:blipFill>
          <a:blip r:embed="rId8"/>
          <a:stretch>
            <a:fillRect/>
          </a:stretch>
        </p:blipFill>
        <p:spPr>
          <a:xfrm>
            <a:off x="6679692" y="3076956"/>
            <a:ext cx="228600" cy="228600"/>
          </a:xfrm>
          <a:prstGeom prst="rect">
            <a:avLst/>
          </a:prstGeom>
        </p:spPr>
      </p:pic>
      <p:sp>
        <p:nvSpPr>
          <p:cNvPr id="27" name="Text 18"/>
          <p:cNvSpPr/>
          <p:nvPr/>
        </p:nvSpPr>
        <p:spPr>
          <a:xfrm>
            <a:off x="7132320" y="3017520"/>
            <a:ext cx="4114800" cy="548640"/>
          </a:xfrm>
          <a:prstGeom prst="rect">
            <a:avLst/>
          </a:prstGeom>
          <a:noFill/>
          <a:ln/>
        </p:spPr>
        <p:txBody>
          <a:bodyPr wrap="square" lIns="0" tIns="0" rIns="0" bIns="0" rtlCol="0" anchor="ctr"/>
          <a:lstStyle/>
          <a:p>
            <a:pPr marL="0" indent="0">
              <a:lnSpc>
                <a:spcPct val="110000"/>
              </a:lnSpc>
              <a:buNone/>
            </a:pPr>
            <a:r>
              <a:rPr lang="en-US" sz="1200" dirty="0">
                <a:solidFill>
                  <a:srgbClr val="14532D"/>
                </a:solidFill>
                <a:latin typeface="Arial" pitchFamily="34" charset="0"/>
                <a:ea typeface="Arial" pitchFamily="34" charset="-122"/>
                <a:cs typeface="Arial" pitchFamily="34" charset="-120"/>
              </a:rPr>
              <a:t>Automated, consistent analysis of every student record</a:t>
            </a:r>
            <a:endParaRPr lang="en-US" sz="1200" dirty="0"/>
          </a:p>
        </p:txBody>
      </p:sp>
      <p:sp>
        <p:nvSpPr>
          <p:cNvPr id="28" name="Shape 19"/>
          <p:cNvSpPr/>
          <p:nvPr/>
        </p:nvSpPr>
        <p:spPr>
          <a:xfrm>
            <a:off x="6565392" y="3675888"/>
            <a:ext cx="457200" cy="457200"/>
          </a:xfrm>
          <a:prstGeom prst="ellipse">
            <a:avLst/>
          </a:prstGeom>
          <a:solidFill>
            <a:srgbClr val="86EFAC"/>
          </a:solidFill>
          <a:ln/>
          <a:effectLst>
            <a:outerShdw blurRad="76200" dist="25400" dir="5400000" algn="bl" rotWithShape="0">
              <a:srgbClr val="0F172A">
                <a:alpha val="12000"/>
              </a:srgbClr>
            </a:outerShdw>
          </a:effectLst>
        </p:spPr>
        <p:txBody>
          <a:bodyPr/>
          <a:lstStyle/>
          <a:p>
            <a:endParaRPr lang="en-US"/>
          </a:p>
        </p:txBody>
      </p:sp>
      <p:pic>
        <p:nvPicPr>
          <p:cNvPr id="29" name="Image 7" descr="/home/claude/assets/icons/FiTarget.png"/>
          <p:cNvPicPr>
            <a:picLocks noChangeAspect="1"/>
          </p:cNvPicPr>
          <p:nvPr/>
        </p:nvPicPr>
        <p:blipFill>
          <a:blip r:embed="rId5"/>
          <a:stretch>
            <a:fillRect/>
          </a:stretch>
        </p:blipFill>
        <p:spPr>
          <a:xfrm>
            <a:off x="6679692" y="3790188"/>
            <a:ext cx="228600" cy="228600"/>
          </a:xfrm>
          <a:prstGeom prst="rect">
            <a:avLst/>
          </a:prstGeom>
        </p:spPr>
      </p:pic>
      <p:sp>
        <p:nvSpPr>
          <p:cNvPr id="30" name="Text 20"/>
          <p:cNvSpPr/>
          <p:nvPr/>
        </p:nvSpPr>
        <p:spPr>
          <a:xfrm>
            <a:off x="7132320" y="3730752"/>
            <a:ext cx="4114800" cy="548640"/>
          </a:xfrm>
          <a:prstGeom prst="rect">
            <a:avLst/>
          </a:prstGeom>
          <a:noFill/>
          <a:ln/>
        </p:spPr>
        <p:txBody>
          <a:bodyPr wrap="square" lIns="0" tIns="0" rIns="0" bIns="0" rtlCol="0" anchor="ctr"/>
          <a:lstStyle/>
          <a:p>
            <a:pPr marL="0" indent="0">
              <a:lnSpc>
                <a:spcPct val="110000"/>
              </a:lnSpc>
              <a:buNone/>
            </a:pPr>
            <a:r>
              <a:rPr lang="en-US" sz="1200" dirty="0">
                <a:solidFill>
                  <a:srgbClr val="14532D"/>
                </a:solidFill>
                <a:latin typeface="Arial" pitchFamily="34" charset="0"/>
                <a:ea typeface="Arial" pitchFamily="34" charset="-122"/>
                <a:cs typeface="Arial" pitchFamily="34" charset="-120"/>
              </a:rPr>
              <a:t>Early identification — days or weeks in advance</a:t>
            </a:r>
            <a:endParaRPr lang="en-US" sz="1200" dirty="0"/>
          </a:p>
        </p:txBody>
      </p:sp>
      <p:sp>
        <p:nvSpPr>
          <p:cNvPr id="31" name="Shape 21"/>
          <p:cNvSpPr/>
          <p:nvPr/>
        </p:nvSpPr>
        <p:spPr>
          <a:xfrm>
            <a:off x="6565392" y="4389120"/>
            <a:ext cx="457200" cy="457200"/>
          </a:xfrm>
          <a:prstGeom prst="ellipse">
            <a:avLst/>
          </a:prstGeom>
          <a:solidFill>
            <a:srgbClr val="86EFAC"/>
          </a:solidFill>
          <a:ln/>
          <a:effectLst>
            <a:outerShdw blurRad="76200" dist="25400" dir="5400000" algn="bl" rotWithShape="0">
              <a:srgbClr val="0F172A">
                <a:alpha val="12000"/>
              </a:srgbClr>
            </a:outerShdw>
          </a:effectLst>
        </p:spPr>
        <p:txBody>
          <a:bodyPr/>
          <a:lstStyle/>
          <a:p>
            <a:endParaRPr lang="en-US"/>
          </a:p>
        </p:txBody>
      </p:sp>
      <p:pic>
        <p:nvPicPr>
          <p:cNvPr id="32" name="Image 8" descr="/home/claude/assets/icons/FiUsers.png"/>
          <p:cNvPicPr>
            <a:picLocks noChangeAspect="1"/>
          </p:cNvPicPr>
          <p:nvPr/>
        </p:nvPicPr>
        <p:blipFill>
          <a:blip r:embed="rId9"/>
          <a:stretch>
            <a:fillRect/>
          </a:stretch>
        </p:blipFill>
        <p:spPr>
          <a:xfrm>
            <a:off x="6679692" y="4503420"/>
            <a:ext cx="228600" cy="228600"/>
          </a:xfrm>
          <a:prstGeom prst="rect">
            <a:avLst/>
          </a:prstGeom>
        </p:spPr>
      </p:pic>
      <p:sp>
        <p:nvSpPr>
          <p:cNvPr id="33" name="Text 22"/>
          <p:cNvSpPr/>
          <p:nvPr/>
        </p:nvSpPr>
        <p:spPr>
          <a:xfrm>
            <a:off x="7132320" y="4443984"/>
            <a:ext cx="4114800" cy="548640"/>
          </a:xfrm>
          <a:prstGeom prst="rect">
            <a:avLst/>
          </a:prstGeom>
          <a:noFill/>
          <a:ln/>
        </p:spPr>
        <p:txBody>
          <a:bodyPr wrap="square" lIns="0" tIns="0" rIns="0" bIns="0" rtlCol="0" anchor="ctr"/>
          <a:lstStyle/>
          <a:p>
            <a:pPr marL="0" indent="0">
              <a:lnSpc>
                <a:spcPct val="110000"/>
              </a:lnSpc>
              <a:buNone/>
            </a:pPr>
            <a:r>
              <a:rPr lang="en-US" sz="1200" dirty="0">
                <a:solidFill>
                  <a:srgbClr val="14532D"/>
                </a:solidFill>
                <a:latin typeface="Arial" pitchFamily="34" charset="0"/>
                <a:ea typeface="Arial" pitchFamily="34" charset="-122"/>
                <a:cs typeface="Arial" pitchFamily="34" charset="-120"/>
              </a:rPr>
              <a:t>Data-backed, personalized intervention plans</a:t>
            </a:r>
            <a:endParaRPr lang="en-US" sz="1200" dirty="0"/>
          </a:p>
        </p:txBody>
      </p:sp>
      <p:sp>
        <p:nvSpPr>
          <p:cNvPr id="34" name="Shape 23"/>
          <p:cNvSpPr/>
          <p:nvPr/>
        </p:nvSpPr>
        <p:spPr>
          <a:xfrm>
            <a:off x="6565392" y="5102352"/>
            <a:ext cx="457200" cy="457200"/>
          </a:xfrm>
          <a:prstGeom prst="ellipse">
            <a:avLst/>
          </a:prstGeom>
          <a:solidFill>
            <a:srgbClr val="86EFAC"/>
          </a:solidFill>
          <a:ln/>
          <a:effectLst>
            <a:outerShdw blurRad="76200" dist="25400" dir="5400000" algn="bl" rotWithShape="0">
              <a:srgbClr val="0F172A">
                <a:alpha val="12000"/>
              </a:srgbClr>
            </a:outerShdw>
          </a:effectLst>
        </p:spPr>
        <p:txBody>
          <a:bodyPr/>
          <a:lstStyle/>
          <a:p>
            <a:endParaRPr lang="en-US"/>
          </a:p>
        </p:txBody>
      </p:sp>
      <p:pic>
        <p:nvPicPr>
          <p:cNvPr id="35" name="Image 9" descr="/home/claude/assets/icons/FiTrendingUp.png"/>
          <p:cNvPicPr>
            <a:picLocks noChangeAspect="1"/>
          </p:cNvPicPr>
          <p:nvPr/>
        </p:nvPicPr>
        <p:blipFill>
          <a:blip r:embed="rId10"/>
          <a:stretch>
            <a:fillRect/>
          </a:stretch>
        </p:blipFill>
        <p:spPr>
          <a:xfrm>
            <a:off x="6679692" y="5216652"/>
            <a:ext cx="228600" cy="228600"/>
          </a:xfrm>
          <a:prstGeom prst="rect">
            <a:avLst/>
          </a:prstGeom>
        </p:spPr>
      </p:pic>
      <p:sp>
        <p:nvSpPr>
          <p:cNvPr id="36" name="Text 24"/>
          <p:cNvSpPr/>
          <p:nvPr/>
        </p:nvSpPr>
        <p:spPr>
          <a:xfrm>
            <a:off x="7132320" y="5157216"/>
            <a:ext cx="4114800" cy="548640"/>
          </a:xfrm>
          <a:prstGeom prst="rect">
            <a:avLst/>
          </a:prstGeom>
          <a:noFill/>
          <a:ln/>
        </p:spPr>
        <p:txBody>
          <a:bodyPr wrap="square" lIns="0" tIns="0" rIns="0" bIns="0" rtlCol="0" anchor="ctr"/>
          <a:lstStyle/>
          <a:p>
            <a:pPr marL="0" indent="0">
              <a:lnSpc>
                <a:spcPct val="110000"/>
              </a:lnSpc>
              <a:buNone/>
            </a:pPr>
            <a:r>
              <a:rPr lang="en-US" sz="1200" dirty="0">
                <a:solidFill>
                  <a:srgbClr val="14532D"/>
                </a:solidFill>
                <a:latin typeface="Arial" pitchFamily="34" charset="0"/>
                <a:ea typeface="Arial" pitchFamily="34" charset="-122"/>
                <a:cs typeface="Arial" pitchFamily="34" charset="-120"/>
              </a:rPr>
              <a:t>Scalable early-warning system for institutions</a:t>
            </a:r>
            <a:endParaRPr lang="en-US" sz="1200" dirty="0"/>
          </a:p>
        </p:txBody>
      </p:sp>
      <p:sp>
        <p:nvSpPr>
          <p:cNvPr id="37" name="Text 25"/>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38" name="Text 26"/>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01  ·  INTRODUCTION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Project Objectives</a:t>
            </a:r>
            <a:endParaRPr lang="en-US" sz="3200" dirty="0"/>
          </a:p>
        </p:txBody>
      </p:sp>
      <p:sp>
        <p:nvSpPr>
          <p:cNvPr id="4" name="Shape 2"/>
          <p:cNvSpPr/>
          <p:nvPr/>
        </p:nvSpPr>
        <p:spPr>
          <a:xfrm>
            <a:off x="548640" y="1417320"/>
            <a:ext cx="10881360" cy="1051560"/>
          </a:xfrm>
          <a:prstGeom prst="roundRect">
            <a:avLst>
              <a:gd name="adj" fmla="val 12174"/>
            </a:avLst>
          </a:prstGeom>
          <a:solidFill>
            <a:srgbClr val="4F46E5"/>
          </a:solidFill>
          <a:ln/>
          <a:effectLst>
            <a:outerShdw blurRad="127000" dist="38100" dir="5400000" algn="bl" rotWithShape="0">
              <a:srgbClr val="0F172A">
                <a:alpha val="18000"/>
              </a:srgbClr>
            </a:outerShdw>
          </a:effectLst>
        </p:spPr>
        <p:txBody>
          <a:bodyPr/>
          <a:lstStyle/>
          <a:p>
            <a:endParaRPr lang="en-US"/>
          </a:p>
        </p:txBody>
      </p:sp>
      <p:sp>
        <p:nvSpPr>
          <p:cNvPr id="5" name="Shape 3"/>
          <p:cNvSpPr/>
          <p:nvPr/>
        </p:nvSpPr>
        <p:spPr>
          <a:xfrm>
            <a:off x="1028700" y="1554480"/>
            <a:ext cx="777240" cy="777240"/>
          </a:xfrm>
          <a:prstGeom prst="ellipse">
            <a:avLst/>
          </a:prstGeom>
          <a:solidFill>
            <a:srgbClr val="FFFFFF"/>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Target.png"/>
          <p:cNvPicPr>
            <a:picLocks noChangeAspect="1"/>
          </p:cNvPicPr>
          <p:nvPr/>
        </p:nvPicPr>
        <p:blipFill>
          <a:blip r:embed="rId3"/>
          <a:stretch>
            <a:fillRect/>
          </a:stretch>
        </p:blipFill>
        <p:spPr>
          <a:xfrm>
            <a:off x="1223010" y="1748790"/>
            <a:ext cx="388620" cy="388620"/>
          </a:xfrm>
          <a:prstGeom prst="rect">
            <a:avLst/>
          </a:prstGeom>
        </p:spPr>
      </p:pic>
      <p:sp>
        <p:nvSpPr>
          <p:cNvPr id="7" name="Text 4"/>
          <p:cNvSpPr/>
          <p:nvPr/>
        </p:nvSpPr>
        <p:spPr>
          <a:xfrm>
            <a:off x="2011680" y="1572768"/>
            <a:ext cx="7315200" cy="274320"/>
          </a:xfrm>
          <a:prstGeom prst="rect">
            <a:avLst/>
          </a:prstGeom>
          <a:noFill/>
          <a:ln/>
        </p:spPr>
        <p:txBody>
          <a:bodyPr wrap="square" lIns="0" tIns="0" rIns="0" bIns="0" rtlCol="0" anchor="ctr"/>
          <a:lstStyle/>
          <a:p>
            <a:pPr marL="0" indent="0">
              <a:buNone/>
            </a:pPr>
            <a:r>
              <a:rPr lang="en-US" sz="1050" b="1" kern="0" spc="200" dirty="0">
                <a:solidFill>
                  <a:srgbClr val="C7D2FE"/>
                </a:solidFill>
                <a:latin typeface="Arial" pitchFamily="34" charset="0"/>
                <a:ea typeface="Arial" pitchFamily="34" charset="-122"/>
                <a:cs typeface="Arial" pitchFamily="34" charset="-120"/>
              </a:rPr>
              <a:t>MAIN OBJECTIVE</a:t>
            </a:r>
            <a:endParaRPr lang="en-US" sz="1050" dirty="0"/>
          </a:p>
        </p:txBody>
      </p:sp>
      <p:sp>
        <p:nvSpPr>
          <p:cNvPr id="8" name="Text 5"/>
          <p:cNvSpPr/>
          <p:nvPr/>
        </p:nvSpPr>
        <p:spPr>
          <a:xfrm>
            <a:off x="2011680" y="1828800"/>
            <a:ext cx="90525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Predict student academic performance using machine learning, enabling early, data-driven intervention.</a:t>
            </a:r>
            <a:endParaRPr lang="en-US" sz="1500" dirty="0"/>
          </a:p>
        </p:txBody>
      </p:sp>
      <p:sp>
        <p:nvSpPr>
          <p:cNvPr id="9" name="Shape 6"/>
          <p:cNvSpPr/>
          <p:nvPr/>
        </p:nvSpPr>
        <p:spPr>
          <a:xfrm>
            <a:off x="548640" y="2880360"/>
            <a:ext cx="2532888" cy="2880360"/>
          </a:xfrm>
          <a:prstGeom prst="roundRect">
            <a:avLst>
              <a:gd name="adj" fmla="val 5054"/>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0" name="Shape 7"/>
          <p:cNvSpPr/>
          <p:nvPr/>
        </p:nvSpPr>
        <p:spPr>
          <a:xfrm>
            <a:off x="1426464" y="313182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11" name="Image 1" descr="/home/claude/assets/icons/FiTrendingUp.png"/>
          <p:cNvPicPr>
            <a:picLocks noChangeAspect="1"/>
          </p:cNvPicPr>
          <p:nvPr/>
        </p:nvPicPr>
        <p:blipFill>
          <a:blip r:embed="rId4"/>
          <a:stretch>
            <a:fillRect/>
          </a:stretch>
        </p:blipFill>
        <p:spPr>
          <a:xfrm>
            <a:off x="1628546" y="3333902"/>
            <a:ext cx="373075" cy="373075"/>
          </a:xfrm>
          <a:prstGeom prst="rect">
            <a:avLst/>
          </a:prstGeom>
        </p:spPr>
      </p:pic>
      <p:sp>
        <p:nvSpPr>
          <p:cNvPr id="12" name="Text 8"/>
          <p:cNvSpPr/>
          <p:nvPr/>
        </p:nvSpPr>
        <p:spPr>
          <a:xfrm>
            <a:off x="731520" y="4114800"/>
            <a:ext cx="2167128" cy="594360"/>
          </a:xfrm>
          <a:prstGeom prst="rect">
            <a:avLst/>
          </a:prstGeom>
          <a:noFill/>
          <a:ln/>
        </p:spPr>
        <p:txBody>
          <a:bodyPr wrap="square" lIns="0" tIns="0" rIns="0" bIns="0" rtlCol="0" anchor="ctr"/>
          <a:lstStyle/>
          <a:p>
            <a:pPr marL="0" indent="0" algn="ctr">
              <a:lnSpc>
                <a:spcPct val="110000"/>
              </a:lnSpc>
              <a:buNone/>
            </a:pPr>
            <a:r>
              <a:rPr lang="en-US" sz="1250" b="1" dirty="0">
                <a:solidFill>
                  <a:srgbClr val="0F172A"/>
                </a:solidFill>
                <a:latin typeface="Arial" pitchFamily="34" charset="0"/>
                <a:ea typeface="Arial" pitchFamily="34" charset="-122"/>
                <a:cs typeface="Arial" pitchFamily="34" charset="-120"/>
              </a:rPr>
              <a:t>Improve Academic Success</a:t>
            </a:r>
            <a:endParaRPr lang="en-US" sz="1250" dirty="0"/>
          </a:p>
        </p:txBody>
      </p:sp>
      <p:sp>
        <p:nvSpPr>
          <p:cNvPr id="13" name="Text 9"/>
          <p:cNvSpPr/>
          <p:nvPr/>
        </p:nvSpPr>
        <p:spPr>
          <a:xfrm>
            <a:off x="749808" y="4754880"/>
            <a:ext cx="2130552" cy="91440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Arial" pitchFamily="34" charset="0"/>
                <a:ea typeface="Arial" pitchFamily="34" charset="-122"/>
                <a:cs typeface="Arial" pitchFamily="34" charset="-120"/>
              </a:rPr>
              <a:t>Support better outcomes through timely, targeted action</a:t>
            </a:r>
            <a:endParaRPr lang="en-US" sz="1050" dirty="0"/>
          </a:p>
        </p:txBody>
      </p:sp>
      <p:sp>
        <p:nvSpPr>
          <p:cNvPr id="14" name="Shape 10"/>
          <p:cNvSpPr/>
          <p:nvPr/>
        </p:nvSpPr>
        <p:spPr>
          <a:xfrm>
            <a:off x="3337560" y="2880360"/>
            <a:ext cx="2532888" cy="2880360"/>
          </a:xfrm>
          <a:prstGeom prst="roundRect">
            <a:avLst>
              <a:gd name="adj" fmla="val 5054"/>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5" name="Shape 11"/>
          <p:cNvSpPr/>
          <p:nvPr/>
        </p:nvSpPr>
        <p:spPr>
          <a:xfrm>
            <a:off x="4215384" y="313182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16" name="Image 2" descr="/home/claude/assets/icons/FiUserCheck.png"/>
          <p:cNvPicPr>
            <a:picLocks noChangeAspect="1"/>
          </p:cNvPicPr>
          <p:nvPr/>
        </p:nvPicPr>
        <p:blipFill>
          <a:blip r:embed="rId5"/>
          <a:stretch>
            <a:fillRect/>
          </a:stretch>
        </p:blipFill>
        <p:spPr>
          <a:xfrm>
            <a:off x="4417466" y="3333902"/>
            <a:ext cx="373075" cy="373075"/>
          </a:xfrm>
          <a:prstGeom prst="rect">
            <a:avLst/>
          </a:prstGeom>
        </p:spPr>
      </p:pic>
      <p:sp>
        <p:nvSpPr>
          <p:cNvPr id="17" name="Text 12"/>
          <p:cNvSpPr/>
          <p:nvPr/>
        </p:nvSpPr>
        <p:spPr>
          <a:xfrm>
            <a:off x="3520440" y="4114800"/>
            <a:ext cx="2167128" cy="594360"/>
          </a:xfrm>
          <a:prstGeom prst="rect">
            <a:avLst/>
          </a:prstGeom>
          <a:noFill/>
          <a:ln/>
        </p:spPr>
        <p:txBody>
          <a:bodyPr wrap="square" lIns="0" tIns="0" rIns="0" bIns="0" rtlCol="0" anchor="ctr"/>
          <a:lstStyle/>
          <a:p>
            <a:pPr marL="0" indent="0" algn="ctr">
              <a:lnSpc>
                <a:spcPct val="110000"/>
              </a:lnSpc>
              <a:buNone/>
            </a:pPr>
            <a:r>
              <a:rPr lang="en-US" sz="1250" b="1" dirty="0">
                <a:solidFill>
                  <a:srgbClr val="0F172A"/>
                </a:solidFill>
                <a:latin typeface="Arial" pitchFamily="34" charset="0"/>
                <a:ea typeface="Arial" pitchFamily="34" charset="-122"/>
                <a:cs typeface="Arial" pitchFamily="34" charset="-120"/>
              </a:rPr>
              <a:t>Identify At-Risk Students</a:t>
            </a:r>
            <a:endParaRPr lang="en-US" sz="1250" dirty="0"/>
          </a:p>
        </p:txBody>
      </p:sp>
      <p:sp>
        <p:nvSpPr>
          <p:cNvPr id="18" name="Text 13"/>
          <p:cNvSpPr/>
          <p:nvPr/>
        </p:nvSpPr>
        <p:spPr>
          <a:xfrm>
            <a:off x="3538728" y="4754880"/>
            <a:ext cx="2130552" cy="91440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Arial" pitchFamily="34" charset="0"/>
                <a:ea typeface="Arial" pitchFamily="34" charset="-122"/>
                <a:cs typeface="Arial" pitchFamily="34" charset="-120"/>
              </a:rPr>
              <a:t>Flag students likely to underperform, well in advance</a:t>
            </a:r>
            <a:endParaRPr lang="en-US" sz="1050" dirty="0"/>
          </a:p>
        </p:txBody>
      </p:sp>
      <p:sp>
        <p:nvSpPr>
          <p:cNvPr id="19" name="Shape 14"/>
          <p:cNvSpPr/>
          <p:nvPr/>
        </p:nvSpPr>
        <p:spPr>
          <a:xfrm>
            <a:off x="6126480" y="2880360"/>
            <a:ext cx="2532888" cy="2880360"/>
          </a:xfrm>
          <a:prstGeom prst="roundRect">
            <a:avLst>
              <a:gd name="adj" fmla="val 5054"/>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0" name="Shape 15"/>
          <p:cNvSpPr/>
          <p:nvPr/>
        </p:nvSpPr>
        <p:spPr>
          <a:xfrm>
            <a:off x="7004304" y="313182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21" name="Image 3" descr="/home/claude/assets/icons/FiUsers.png"/>
          <p:cNvPicPr>
            <a:picLocks noChangeAspect="1"/>
          </p:cNvPicPr>
          <p:nvPr/>
        </p:nvPicPr>
        <p:blipFill>
          <a:blip r:embed="rId6"/>
          <a:stretch>
            <a:fillRect/>
          </a:stretch>
        </p:blipFill>
        <p:spPr>
          <a:xfrm>
            <a:off x="7206386" y="3333902"/>
            <a:ext cx="373075" cy="373075"/>
          </a:xfrm>
          <a:prstGeom prst="rect">
            <a:avLst/>
          </a:prstGeom>
        </p:spPr>
      </p:pic>
      <p:sp>
        <p:nvSpPr>
          <p:cNvPr id="22" name="Text 16"/>
          <p:cNvSpPr/>
          <p:nvPr/>
        </p:nvSpPr>
        <p:spPr>
          <a:xfrm>
            <a:off x="6309360" y="4114800"/>
            <a:ext cx="2167128" cy="594360"/>
          </a:xfrm>
          <a:prstGeom prst="rect">
            <a:avLst/>
          </a:prstGeom>
          <a:noFill/>
          <a:ln/>
        </p:spPr>
        <p:txBody>
          <a:bodyPr wrap="square" lIns="0" tIns="0" rIns="0" bIns="0" rtlCol="0" anchor="ctr"/>
          <a:lstStyle/>
          <a:p>
            <a:pPr marL="0" indent="0" algn="ctr">
              <a:lnSpc>
                <a:spcPct val="110000"/>
              </a:lnSpc>
              <a:buNone/>
            </a:pPr>
            <a:r>
              <a:rPr lang="en-US" sz="1250" b="1" dirty="0">
                <a:solidFill>
                  <a:srgbClr val="0F172A"/>
                </a:solidFill>
                <a:latin typeface="Arial" pitchFamily="34" charset="0"/>
                <a:ea typeface="Arial" pitchFamily="34" charset="-122"/>
                <a:cs typeface="Arial" pitchFamily="34" charset="-120"/>
              </a:rPr>
              <a:t>Assist Teachers</a:t>
            </a:r>
            <a:endParaRPr lang="en-US" sz="1250" dirty="0"/>
          </a:p>
        </p:txBody>
      </p:sp>
      <p:sp>
        <p:nvSpPr>
          <p:cNvPr id="23" name="Text 17"/>
          <p:cNvSpPr/>
          <p:nvPr/>
        </p:nvSpPr>
        <p:spPr>
          <a:xfrm>
            <a:off x="6327648" y="4754880"/>
            <a:ext cx="2130552" cy="91440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Arial" pitchFamily="34" charset="0"/>
                <a:ea typeface="Arial" pitchFamily="34" charset="-122"/>
                <a:cs typeface="Arial" pitchFamily="34" charset="-120"/>
              </a:rPr>
              <a:t>Give educators a data-backed decision support tool</a:t>
            </a:r>
            <a:endParaRPr lang="en-US" sz="1050" dirty="0"/>
          </a:p>
        </p:txBody>
      </p:sp>
      <p:sp>
        <p:nvSpPr>
          <p:cNvPr id="24" name="Shape 18"/>
          <p:cNvSpPr/>
          <p:nvPr/>
        </p:nvSpPr>
        <p:spPr>
          <a:xfrm>
            <a:off x="8915400" y="2880360"/>
            <a:ext cx="2532888" cy="2880360"/>
          </a:xfrm>
          <a:prstGeom prst="roundRect">
            <a:avLst>
              <a:gd name="adj" fmla="val 5054"/>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5" name="Shape 19"/>
          <p:cNvSpPr/>
          <p:nvPr/>
        </p:nvSpPr>
        <p:spPr>
          <a:xfrm>
            <a:off x="9793224" y="313182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26" name="Image 4" descr="/home/claude/assets/icons/FiHome.png"/>
          <p:cNvPicPr>
            <a:picLocks noChangeAspect="1"/>
          </p:cNvPicPr>
          <p:nvPr/>
        </p:nvPicPr>
        <p:blipFill>
          <a:blip r:embed="rId7"/>
          <a:stretch>
            <a:fillRect/>
          </a:stretch>
        </p:blipFill>
        <p:spPr>
          <a:xfrm>
            <a:off x="9995306" y="3333902"/>
            <a:ext cx="373075" cy="373075"/>
          </a:xfrm>
          <a:prstGeom prst="rect">
            <a:avLst/>
          </a:prstGeom>
        </p:spPr>
      </p:pic>
      <p:sp>
        <p:nvSpPr>
          <p:cNvPr id="27" name="Text 20"/>
          <p:cNvSpPr/>
          <p:nvPr/>
        </p:nvSpPr>
        <p:spPr>
          <a:xfrm>
            <a:off x="9098280" y="4114800"/>
            <a:ext cx="2167128" cy="594360"/>
          </a:xfrm>
          <a:prstGeom prst="rect">
            <a:avLst/>
          </a:prstGeom>
          <a:noFill/>
          <a:ln/>
        </p:spPr>
        <p:txBody>
          <a:bodyPr wrap="square" lIns="0" tIns="0" rIns="0" bIns="0" rtlCol="0" anchor="ctr"/>
          <a:lstStyle/>
          <a:p>
            <a:pPr marL="0" indent="0" algn="ctr">
              <a:lnSpc>
                <a:spcPct val="110000"/>
              </a:lnSpc>
              <a:buNone/>
            </a:pPr>
            <a:r>
              <a:rPr lang="en-US" sz="1250" b="1" dirty="0">
                <a:solidFill>
                  <a:srgbClr val="0F172A"/>
                </a:solidFill>
                <a:latin typeface="Arial" pitchFamily="34" charset="0"/>
                <a:ea typeface="Arial" pitchFamily="34" charset="-122"/>
                <a:cs typeface="Arial" pitchFamily="34" charset="-120"/>
              </a:rPr>
              <a:t>Support Institutions</a:t>
            </a:r>
            <a:endParaRPr lang="en-US" sz="1250" dirty="0"/>
          </a:p>
        </p:txBody>
      </p:sp>
      <p:sp>
        <p:nvSpPr>
          <p:cNvPr id="28" name="Text 21"/>
          <p:cNvSpPr/>
          <p:nvPr/>
        </p:nvSpPr>
        <p:spPr>
          <a:xfrm>
            <a:off x="9116568" y="4754880"/>
            <a:ext cx="2130552" cy="91440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Arial" pitchFamily="34" charset="0"/>
                <a:ea typeface="Arial" pitchFamily="34" charset="-122"/>
                <a:cs typeface="Arial" pitchFamily="34" charset="-120"/>
              </a:rPr>
              <a:t>Help colleges plan resources and retention strategies</a:t>
            </a:r>
            <a:endParaRPr lang="en-US" sz="1050" dirty="0"/>
          </a:p>
        </p:txBody>
      </p:sp>
      <p:sp>
        <p:nvSpPr>
          <p:cNvPr id="29" name="Text 22"/>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30" name="Text 23"/>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02  ·  DATASET</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Dataset Overview</a:t>
            </a:r>
            <a:endParaRPr lang="en-US" sz="3200" dirty="0"/>
          </a:p>
        </p:txBody>
      </p:sp>
      <p:sp>
        <p:nvSpPr>
          <p:cNvPr id="4" name="Shape 2"/>
          <p:cNvSpPr/>
          <p:nvPr/>
        </p:nvSpPr>
        <p:spPr>
          <a:xfrm>
            <a:off x="548640" y="1508760"/>
            <a:ext cx="2532888" cy="1417320"/>
          </a:xfrm>
          <a:prstGeom prst="roundRect">
            <a:avLst>
              <a:gd name="adj" fmla="val 903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Shape 3"/>
          <p:cNvSpPr/>
          <p:nvPr/>
        </p:nvSpPr>
        <p:spPr>
          <a:xfrm>
            <a:off x="813816" y="1888236"/>
            <a:ext cx="658368" cy="65836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Database.png"/>
          <p:cNvPicPr>
            <a:picLocks noChangeAspect="1"/>
          </p:cNvPicPr>
          <p:nvPr/>
        </p:nvPicPr>
        <p:blipFill>
          <a:blip r:embed="rId3"/>
          <a:stretch>
            <a:fillRect/>
          </a:stretch>
        </p:blipFill>
        <p:spPr>
          <a:xfrm>
            <a:off x="978408" y="2052828"/>
            <a:ext cx="329184" cy="329184"/>
          </a:xfrm>
          <a:prstGeom prst="rect">
            <a:avLst/>
          </a:prstGeom>
        </p:spPr>
      </p:pic>
      <p:sp>
        <p:nvSpPr>
          <p:cNvPr id="7" name="Text 4"/>
          <p:cNvSpPr/>
          <p:nvPr/>
        </p:nvSpPr>
        <p:spPr>
          <a:xfrm>
            <a:off x="1600200" y="1737360"/>
            <a:ext cx="1344168" cy="502920"/>
          </a:xfrm>
          <a:prstGeom prst="rect">
            <a:avLst/>
          </a:prstGeom>
          <a:noFill/>
          <a:ln/>
        </p:spPr>
        <p:txBody>
          <a:bodyPr wrap="square" lIns="0" tIns="0" rIns="0" bIns="0" rtlCol="0" anchor="ctr"/>
          <a:lstStyle/>
          <a:p>
            <a:pPr marL="0" indent="0">
              <a:buNone/>
            </a:pPr>
            <a:r>
              <a:rPr lang="en-US" sz="2200" b="1" dirty="0">
                <a:solidFill>
                  <a:srgbClr val="0F172A"/>
                </a:solidFill>
                <a:latin typeface="Arial" pitchFamily="34" charset="0"/>
                <a:ea typeface="Arial" pitchFamily="34" charset="-122"/>
                <a:cs typeface="Arial" pitchFamily="34" charset="-120"/>
              </a:rPr>
              <a:t>1,000</a:t>
            </a:r>
            <a:endParaRPr lang="en-US" sz="2200" dirty="0"/>
          </a:p>
        </p:txBody>
      </p:sp>
      <p:sp>
        <p:nvSpPr>
          <p:cNvPr id="8" name="Text 5"/>
          <p:cNvSpPr/>
          <p:nvPr/>
        </p:nvSpPr>
        <p:spPr>
          <a:xfrm>
            <a:off x="1600200" y="2286000"/>
            <a:ext cx="1344168" cy="4572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Arial" pitchFamily="34" charset="0"/>
                <a:ea typeface="Arial" pitchFamily="34" charset="-122"/>
                <a:cs typeface="Arial" pitchFamily="34" charset="-120"/>
              </a:rPr>
              <a:t>Student Records</a:t>
            </a:r>
            <a:endParaRPr lang="en-US" sz="1050" dirty="0"/>
          </a:p>
        </p:txBody>
      </p:sp>
      <p:sp>
        <p:nvSpPr>
          <p:cNvPr id="9" name="Shape 6"/>
          <p:cNvSpPr/>
          <p:nvPr/>
        </p:nvSpPr>
        <p:spPr>
          <a:xfrm>
            <a:off x="3337560" y="1508760"/>
            <a:ext cx="2532888" cy="1417320"/>
          </a:xfrm>
          <a:prstGeom prst="roundRect">
            <a:avLst>
              <a:gd name="adj" fmla="val 903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0" name="Shape 7"/>
          <p:cNvSpPr/>
          <p:nvPr/>
        </p:nvSpPr>
        <p:spPr>
          <a:xfrm>
            <a:off x="3602736" y="1888236"/>
            <a:ext cx="658368" cy="65836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1" name="Image 1" descr="/home/claude/assets/icons/FiGrid.png"/>
          <p:cNvPicPr>
            <a:picLocks noChangeAspect="1"/>
          </p:cNvPicPr>
          <p:nvPr/>
        </p:nvPicPr>
        <p:blipFill>
          <a:blip r:embed="rId4"/>
          <a:stretch>
            <a:fillRect/>
          </a:stretch>
        </p:blipFill>
        <p:spPr>
          <a:xfrm>
            <a:off x="3767328" y="2052828"/>
            <a:ext cx="329184" cy="329184"/>
          </a:xfrm>
          <a:prstGeom prst="rect">
            <a:avLst/>
          </a:prstGeom>
        </p:spPr>
      </p:pic>
      <p:sp>
        <p:nvSpPr>
          <p:cNvPr id="12" name="Text 8"/>
          <p:cNvSpPr/>
          <p:nvPr/>
        </p:nvSpPr>
        <p:spPr>
          <a:xfrm>
            <a:off x="4389120" y="1737360"/>
            <a:ext cx="1344168" cy="502920"/>
          </a:xfrm>
          <a:prstGeom prst="rect">
            <a:avLst/>
          </a:prstGeom>
          <a:noFill/>
          <a:ln/>
        </p:spPr>
        <p:txBody>
          <a:bodyPr wrap="square" lIns="0" tIns="0" rIns="0" bIns="0" rtlCol="0" anchor="ctr"/>
          <a:lstStyle/>
          <a:p>
            <a:pPr marL="0" indent="0">
              <a:buNone/>
            </a:pPr>
            <a:r>
              <a:rPr lang="en-US" sz="2200" b="1" dirty="0">
                <a:solidFill>
                  <a:srgbClr val="0F172A"/>
                </a:solidFill>
                <a:latin typeface="Arial" pitchFamily="34" charset="0"/>
                <a:ea typeface="Arial" pitchFamily="34" charset="-122"/>
                <a:cs typeface="Arial" pitchFamily="34" charset="-120"/>
              </a:rPr>
              <a:t>14</a:t>
            </a:r>
            <a:endParaRPr lang="en-US" sz="2200" dirty="0"/>
          </a:p>
        </p:txBody>
      </p:sp>
      <p:sp>
        <p:nvSpPr>
          <p:cNvPr id="13" name="Text 9"/>
          <p:cNvSpPr/>
          <p:nvPr/>
        </p:nvSpPr>
        <p:spPr>
          <a:xfrm>
            <a:off x="4389120" y="2286000"/>
            <a:ext cx="1344168" cy="4572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Arial" pitchFamily="34" charset="0"/>
                <a:ea typeface="Arial" pitchFamily="34" charset="-122"/>
                <a:cs typeface="Arial" pitchFamily="34" charset="-120"/>
              </a:rPr>
              <a:t>Input Features</a:t>
            </a:r>
            <a:endParaRPr lang="en-US" sz="1050" dirty="0"/>
          </a:p>
        </p:txBody>
      </p:sp>
      <p:sp>
        <p:nvSpPr>
          <p:cNvPr id="14" name="Shape 10"/>
          <p:cNvSpPr/>
          <p:nvPr/>
        </p:nvSpPr>
        <p:spPr>
          <a:xfrm>
            <a:off x="6126480" y="1508760"/>
            <a:ext cx="2532888" cy="1417320"/>
          </a:xfrm>
          <a:prstGeom prst="roundRect">
            <a:avLst>
              <a:gd name="adj" fmla="val 903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5" name="Shape 11"/>
          <p:cNvSpPr/>
          <p:nvPr/>
        </p:nvSpPr>
        <p:spPr>
          <a:xfrm>
            <a:off x="6391656" y="1888236"/>
            <a:ext cx="658368" cy="65836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6" name="Image 2" descr="/home/claude/assets/icons/FiFlag.png"/>
          <p:cNvPicPr>
            <a:picLocks noChangeAspect="1"/>
          </p:cNvPicPr>
          <p:nvPr/>
        </p:nvPicPr>
        <p:blipFill>
          <a:blip r:embed="rId5"/>
          <a:stretch>
            <a:fillRect/>
          </a:stretch>
        </p:blipFill>
        <p:spPr>
          <a:xfrm>
            <a:off x="6556248" y="2052828"/>
            <a:ext cx="329184" cy="329184"/>
          </a:xfrm>
          <a:prstGeom prst="rect">
            <a:avLst/>
          </a:prstGeom>
        </p:spPr>
      </p:pic>
      <p:sp>
        <p:nvSpPr>
          <p:cNvPr id="17" name="Text 12"/>
          <p:cNvSpPr/>
          <p:nvPr/>
        </p:nvSpPr>
        <p:spPr>
          <a:xfrm>
            <a:off x="7178040" y="1737360"/>
            <a:ext cx="1344168" cy="502920"/>
          </a:xfrm>
          <a:prstGeom prst="rect">
            <a:avLst/>
          </a:prstGeom>
          <a:noFill/>
          <a:ln/>
        </p:spPr>
        <p:txBody>
          <a:bodyPr wrap="square" lIns="0" tIns="0" rIns="0" bIns="0" rtlCol="0" anchor="ctr"/>
          <a:lstStyle/>
          <a:p>
            <a:pPr marL="0" indent="0">
              <a:buNone/>
            </a:pPr>
            <a:r>
              <a:rPr lang="en-US" sz="2200" b="1" dirty="0">
                <a:solidFill>
                  <a:srgbClr val="0F172A"/>
                </a:solidFill>
                <a:latin typeface="Arial" pitchFamily="34" charset="0"/>
                <a:ea typeface="Arial" pitchFamily="34" charset="-122"/>
                <a:cs typeface="Arial" pitchFamily="34" charset="-120"/>
              </a:rPr>
              <a:t>1</a:t>
            </a:r>
            <a:endParaRPr lang="en-US" sz="2200" dirty="0"/>
          </a:p>
        </p:txBody>
      </p:sp>
      <p:sp>
        <p:nvSpPr>
          <p:cNvPr id="18" name="Text 13"/>
          <p:cNvSpPr/>
          <p:nvPr/>
        </p:nvSpPr>
        <p:spPr>
          <a:xfrm>
            <a:off x="7178040" y="2286000"/>
            <a:ext cx="1344168" cy="4572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Arial" pitchFamily="34" charset="0"/>
                <a:ea typeface="Arial" pitchFamily="34" charset="-122"/>
                <a:cs typeface="Arial" pitchFamily="34" charset="-120"/>
              </a:rPr>
              <a:t>Target Variable</a:t>
            </a:r>
            <a:endParaRPr lang="en-US" sz="1050" dirty="0"/>
          </a:p>
        </p:txBody>
      </p:sp>
      <p:sp>
        <p:nvSpPr>
          <p:cNvPr id="19" name="Shape 14"/>
          <p:cNvSpPr/>
          <p:nvPr/>
        </p:nvSpPr>
        <p:spPr>
          <a:xfrm>
            <a:off x="8915400" y="1508760"/>
            <a:ext cx="2532888" cy="1417320"/>
          </a:xfrm>
          <a:prstGeom prst="roundRect">
            <a:avLst>
              <a:gd name="adj" fmla="val 903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0" name="Shape 15"/>
          <p:cNvSpPr/>
          <p:nvPr/>
        </p:nvSpPr>
        <p:spPr>
          <a:xfrm>
            <a:off x="9180576" y="1888236"/>
            <a:ext cx="658368" cy="65836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1" name="Image 3" descr="/home/claude/assets/icons/FiHash.png"/>
          <p:cNvPicPr>
            <a:picLocks noChangeAspect="1"/>
          </p:cNvPicPr>
          <p:nvPr/>
        </p:nvPicPr>
        <p:blipFill>
          <a:blip r:embed="rId6"/>
          <a:stretch>
            <a:fillRect/>
          </a:stretch>
        </p:blipFill>
        <p:spPr>
          <a:xfrm>
            <a:off x="9345168" y="2052828"/>
            <a:ext cx="329184" cy="329184"/>
          </a:xfrm>
          <a:prstGeom prst="rect">
            <a:avLst/>
          </a:prstGeom>
        </p:spPr>
      </p:pic>
      <p:sp>
        <p:nvSpPr>
          <p:cNvPr id="22" name="Text 16"/>
          <p:cNvSpPr/>
          <p:nvPr/>
        </p:nvSpPr>
        <p:spPr>
          <a:xfrm>
            <a:off x="9966960" y="1737360"/>
            <a:ext cx="1344168" cy="502920"/>
          </a:xfrm>
          <a:prstGeom prst="rect">
            <a:avLst/>
          </a:prstGeom>
          <a:noFill/>
          <a:ln/>
        </p:spPr>
        <p:txBody>
          <a:bodyPr wrap="square" lIns="0" tIns="0" rIns="0" bIns="0" rtlCol="0" anchor="ctr"/>
          <a:lstStyle/>
          <a:p>
            <a:pPr marL="0" indent="0">
              <a:buNone/>
            </a:pPr>
            <a:r>
              <a:rPr lang="en-US" sz="2200" b="1" dirty="0">
                <a:solidFill>
                  <a:srgbClr val="0F172A"/>
                </a:solidFill>
                <a:latin typeface="Arial" pitchFamily="34" charset="0"/>
                <a:ea typeface="Arial" pitchFamily="34" charset="-122"/>
                <a:cs typeface="Arial" pitchFamily="34" charset="-120"/>
              </a:rPr>
              <a:t>9 / 5</a:t>
            </a:r>
            <a:endParaRPr lang="en-US" sz="2200" dirty="0"/>
          </a:p>
        </p:txBody>
      </p:sp>
      <p:sp>
        <p:nvSpPr>
          <p:cNvPr id="23" name="Text 17"/>
          <p:cNvSpPr/>
          <p:nvPr/>
        </p:nvSpPr>
        <p:spPr>
          <a:xfrm>
            <a:off x="9966960" y="2286000"/>
            <a:ext cx="1344168" cy="4572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Arial" pitchFamily="34" charset="0"/>
                <a:ea typeface="Arial" pitchFamily="34" charset="-122"/>
                <a:cs typeface="Arial" pitchFamily="34" charset="-120"/>
              </a:rPr>
              <a:t>Numeric / Categorical</a:t>
            </a:r>
            <a:endParaRPr lang="en-US" sz="1050" dirty="0"/>
          </a:p>
        </p:txBody>
      </p:sp>
      <p:sp>
        <p:nvSpPr>
          <p:cNvPr id="24" name="Text 18"/>
          <p:cNvSpPr/>
          <p:nvPr/>
        </p:nvSpPr>
        <p:spPr>
          <a:xfrm>
            <a:off x="548640" y="3154680"/>
            <a:ext cx="10881360" cy="320040"/>
          </a:xfrm>
          <a:prstGeom prst="rect">
            <a:avLst/>
          </a:prstGeom>
          <a:noFill/>
          <a:ln/>
        </p:spPr>
        <p:txBody>
          <a:bodyPr wrap="square" lIns="0" tIns="0" rIns="0" bIns="0" rtlCol="0" anchor="ctr"/>
          <a:lstStyle/>
          <a:p>
            <a:pPr marL="0" indent="0">
              <a:buNone/>
            </a:pPr>
            <a:r>
              <a:rPr lang="en-US" sz="1100" b="1" dirty="0">
                <a:solidFill>
                  <a:srgbClr val="64748B"/>
                </a:solidFill>
                <a:latin typeface="Arial" pitchFamily="34" charset="0"/>
                <a:ea typeface="Arial" pitchFamily="34" charset="-122"/>
                <a:cs typeface="Arial" pitchFamily="34" charset="-120"/>
              </a:rPr>
              <a:t>SOURCE:  Kaggle — "Student Performance Prediction Dataset"  ·  UCI Machine Learning Repository</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0881360" cy="2359152"/>
        </p:xfrm>
        <a:graphic>
          <a:graphicData uri="http://schemas.openxmlformats.org/drawingml/2006/table">
            <a:tbl>
              <a:tblPr/>
              <a:tblGrid>
                <a:gridCol w="1813560">
                  <a:extLst>
                    <a:ext uri="{9D8B030D-6E8A-4147-A177-3AD203B41FA5}">
                      <a16:colId xmlns:a16="http://schemas.microsoft.com/office/drawing/2014/main" val="20000"/>
                    </a:ext>
                  </a:extLst>
                </a:gridCol>
                <a:gridCol w="1813560">
                  <a:extLst>
                    <a:ext uri="{9D8B030D-6E8A-4147-A177-3AD203B41FA5}">
                      <a16:colId xmlns:a16="http://schemas.microsoft.com/office/drawing/2014/main" val="20001"/>
                    </a:ext>
                  </a:extLst>
                </a:gridCol>
                <a:gridCol w="1813560">
                  <a:extLst>
                    <a:ext uri="{9D8B030D-6E8A-4147-A177-3AD203B41FA5}">
                      <a16:colId xmlns:a16="http://schemas.microsoft.com/office/drawing/2014/main" val="20002"/>
                    </a:ext>
                  </a:extLst>
                </a:gridCol>
                <a:gridCol w="1813560">
                  <a:extLst>
                    <a:ext uri="{9D8B030D-6E8A-4147-A177-3AD203B41FA5}">
                      <a16:colId xmlns:a16="http://schemas.microsoft.com/office/drawing/2014/main" val="20003"/>
                    </a:ext>
                  </a:extLst>
                </a:gridCol>
                <a:gridCol w="1813560">
                  <a:extLst>
                    <a:ext uri="{9D8B030D-6E8A-4147-A177-3AD203B41FA5}">
                      <a16:colId xmlns:a16="http://schemas.microsoft.com/office/drawing/2014/main" val="20004"/>
                    </a:ext>
                  </a:extLst>
                </a:gridCol>
                <a:gridCol w="1813560">
                  <a:extLst>
                    <a:ext uri="{9D8B030D-6E8A-4147-A177-3AD203B41FA5}">
                      <a16:colId xmlns:a16="http://schemas.microsoft.com/office/drawing/2014/main" val="20005"/>
                    </a:ext>
                  </a:extLst>
                </a:gridCol>
              </a:tblGrid>
              <a:tr h="393192">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Gender</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Study Hrs/Wk</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Attendance %</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Prev. Score</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Sleep Hrs</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Performance (Target)</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extLst>
                  <a:ext uri="{0D108BD9-81ED-4DB2-BD59-A6C34878D82A}">
                    <a16:rowId xmlns:a16="http://schemas.microsoft.com/office/drawing/2014/main" val="10000"/>
                  </a:ext>
                </a:extLst>
              </a:tr>
              <a:tr h="393192">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Female</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5.2</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92</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78</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High</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Male</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2.1</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65</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54</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Low</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93192">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Female</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3.8</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80</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68</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Medium</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Male</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6.0</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95</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85</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8</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High</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93192">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Male</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1.5</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55</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42</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F172A"/>
                          </a:solidFill>
                          <a:latin typeface="Arial" pitchFamily="34" charset="0"/>
                          <a:ea typeface="Arial" pitchFamily="34" charset="-122"/>
                          <a:cs typeface="Arial" pitchFamily="34" charset="-120"/>
                        </a:rPr>
                        <a:t>Low</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6" name="Text 19"/>
          <p:cNvSpPr/>
          <p:nvPr/>
        </p:nvSpPr>
        <p:spPr>
          <a:xfrm>
            <a:off x="548640" y="6053328"/>
            <a:ext cx="5486400" cy="274320"/>
          </a:xfrm>
          <a:prstGeom prst="rect">
            <a:avLst/>
          </a:prstGeom>
          <a:noFill/>
          <a:ln/>
        </p:spPr>
        <p:txBody>
          <a:bodyPr wrap="square" lIns="0" tIns="0" rIns="0" bIns="0" rtlCol="0" anchor="ctr"/>
          <a:lstStyle/>
          <a:p>
            <a:pPr marL="0" indent="0">
              <a:buNone/>
            </a:pPr>
            <a:r>
              <a:rPr lang="en-US" sz="950" i="1" dirty="0">
                <a:solidFill>
                  <a:srgbClr val="94A3B8"/>
                </a:solidFill>
                <a:latin typeface="Arial" pitchFamily="34" charset="0"/>
                <a:ea typeface="Arial" pitchFamily="34" charset="-122"/>
                <a:cs typeface="Arial" pitchFamily="34" charset="-120"/>
              </a:rPr>
              <a:t>Sample records from the dataset (illustrative)</a:t>
            </a:r>
            <a:endParaRPr lang="en-US" sz="950" dirty="0"/>
          </a:p>
        </p:txBody>
      </p:sp>
      <p:sp>
        <p:nvSpPr>
          <p:cNvPr id="27" name="Text 20"/>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28" name="Text 21"/>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02  ·  DATASET</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Feature Description</a:t>
            </a:r>
            <a:endParaRPr lang="en-US" sz="3200" dirty="0"/>
          </a:p>
        </p:txBody>
      </p:sp>
      <p:sp>
        <p:nvSpPr>
          <p:cNvPr id="4" name="Shape 2"/>
          <p:cNvSpPr/>
          <p:nvPr/>
        </p:nvSpPr>
        <p:spPr>
          <a:xfrm>
            <a:off x="548640" y="150876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Shape 3"/>
          <p:cNvSpPr/>
          <p:nvPr/>
        </p:nvSpPr>
        <p:spPr>
          <a:xfrm>
            <a:off x="1261872" y="1700784"/>
            <a:ext cx="621792" cy="621792"/>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User.png"/>
          <p:cNvPicPr>
            <a:picLocks noChangeAspect="1"/>
          </p:cNvPicPr>
          <p:nvPr/>
        </p:nvPicPr>
        <p:blipFill>
          <a:blip r:embed="rId3"/>
          <a:stretch>
            <a:fillRect/>
          </a:stretch>
        </p:blipFill>
        <p:spPr>
          <a:xfrm>
            <a:off x="1417320" y="1856232"/>
            <a:ext cx="310896" cy="310896"/>
          </a:xfrm>
          <a:prstGeom prst="rect">
            <a:avLst/>
          </a:prstGeom>
        </p:spPr>
      </p:pic>
      <p:sp>
        <p:nvSpPr>
          <p:cNvPr id="7" name="Text 4"/>
          <p:cNvSpPr/>
          <p:nvPr/>
        </p:nvSpPr>
        <p:spPr>
          <a:xfrm>
            <a:off x="640080" y="240487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Gender</a:t>
            </a:r>
            <a:endParaRPr lang="en-US" sz="1150" dirty="0"/>
          </a:p>
        </p:txBody>
      </p:sp>
      <p:sp>
        <p:nvSpPr>
          <p:cNvPr id="8" name="Text 5"/>
          <p:cNvSpPr/>
          <p:nvPr/>
        </p:nvSpPr>
        <p:spPr>
          <a:xfrm>
            <a:off x="640080" y="274320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Male / Female</a:t>
            </a:r>
            <a:endParaRPr lang="en-US" sz="900" dirty="0"/>
          </a:p>
        </p:txBody>
      </p:sp>
      <p:sp>
        <p:nvSpPr>
          <p:cNvPr id="9" name="Shape 6"/>
          <p:cNvSpPr/>
          <p:nvPr/>
        </p:nvSpPr>
        <p:spPr>
          <a:xfrm>
            <a:off x="2743200" y="150876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0" name="Shape 7"/>
          <p:cNvSpPr/>
          <p:nvPr/>
        </p:nvSpPr>
        <p:spPr>
          <a:xfrm>
            <a:off x="3456432" y="1700784"/>
            <a:ext cx="621792" cy="621792"/>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1" name="Image 1" descr="/home/claude/assets/icons/FiClock.png"/>
          <p:cNvPicPr>
            <a:picLocks noChangeAspect="1"/>
          </p:cNvPicPr>
          <p:nvPr/>
        </p:nvPicPr>
        <p:blipFill>
          <a:blip r:embed="rId4"/>
          <a:stretch>
            <a:fillRect/>
          </a:stretch>
        </p:blipFill>
        <p:spPr>
          <a:xfrm>
            <a:off x="3611880" y="1856232"/>
            <a:ext cx="310896" cy="310896"/>
          </a:xfrm>
          <a:prstGeom prst="rect">
            <a:avLst/>
          </a:prstGeom>
        </p:spPr>
      </p:pic>
      <p:sp>
        <p:nvSpPr>
          <p:cNvPr id="12" name="Text 8"/>
          <p:cNvSpPr/>
          <p:nvPr/>
        </p:nvSpPr>
        <p:spPr>
          <a:xfrm>
            <a:off x="2834640" y="240487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Study Time</a:t>
            </a:r>
            <a:endParaRPr lang="en-US" sz="1150" dirty="0"/>
          </a:p>
        </p:txBody>
      </p:sp>
      <p:sp>
        <p:nvSpPr>
          <p:cNvPr id="13" name="Text 9"/>
          <p:cNvSpPr/>
          <p:nvPr/>
        </p:nvSpPr>
        <p:spPr>
          <a:xfrm>
            <a:off x="2834640" y="274320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Weekly study hours</a:t>
            </a:r>
            <a:endParaRPr lang="en-US" sz="900" dirty="0"/>
          </a:p>
        </p:txBody>
      </p:sp>
      <p:sp>
        <p:nvSpPr>
          <p:cNvPr id="14" name="Shape 10"/>
          <p:cNvSpPr/>
          <p:nvPr/>
        </p:nvSpPr>
        <p:spPr>
          <a:xfrm>
            <a:off x="4937760" y="150876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5" name="Shape 11"/>
          <p:cNvSpPr/>
          <p:nvPr/>
        </p:nvSpPr>
        <p:spPr>
          <a:xfrm>
            <a:off x="5650992" y="1700784"/>
            <a:ext cx="621792" cy="621792"/>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6" name="Image 2" descr="/home/claude/assets/icons/FiCalendar.png"/>
          <p:cNvPicPr>
            <a:picLocks noChangeAspect="1"/>
          </p:cNvPicPr>
          <p:nvPr/>
        </p:nvPicPr>
        <p:blipFill>
          <a:blip r:embed="rId5"/>
          <a:stretch>
            <a:fillRect/>
          </a:stretch>
        </p:blipFill>
        <p:spPr>
          <a:xfrm>
            <a:off x="5806440" y="1856232"/>
            <a:ext cx="310896" cy="310896"/>
          </a:xfrm>
          <a:prstGeom prst="rect">
            <a:avLst/>
          </a:prstGeom>
        </p:spPr>
      </p:pic>
      <p:sp>
        <p:nvSpPr>
          <p:cNvPr id="17" name="Text 12"/>
          <p:cNvSpPr/>
          <p:nvPr/>
        </p:nvSpPr>
        <p:spPr>
          <a:xfrm>
            <a:off x="5029200" y="240487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Attendance</a:t>
            </a:r>
            <a:endParaRPr lang="en-US" sz="1150" dirty="0"/>
          </a:p>
        </p:txBody>
      </p:sp>
      <p:sp>
        <p:nvSpPr>
          <p:cNvPr id="18" name="Text 13"/>
          <p:cNvSpPr/>
          <p:nvPr/>
        </p:nvSpPr>
        <p:spPr>
          <a:xfrm>
            <a:off x="5029200" y="274320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 of classes attended</a:t>
            </a:r>
            <a:endParaRPr lang="en-US" sz="900" dirty="0"/>
          </a:p>
        </p:txBody>
      </p:sp>
      <p:sp>
        <p:nvSpPr>
          <p:cNvPr id="19" name="Shape 14"/>
          <p:cNvSpPr/>
          <p:nvPr/>
        </p:nvSpPr>
        <p:spPr>
          <a:xfrm>
            <a:off x="7132320" y="150876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0" name="Shape 15"/>
          <p:cNvSpPr/>
          <p:nvPr/>
        </p:nvSpPr>
        <p:spPr>
          <a:xfrm>
            <a:off x="7845552" y="1700784"/>
            <a:ext cx="621792" cy="621792"/>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1" name="Image 3" descr="/home/claude/assets/icons/FiAward.png"/>
          <p:cNvPicPr>
            <a:picLocks noChangeAspect="1"/>
          </p:cNvPicPr>
          <p:nvPr/>
        </p:nvPicPr>
        <p:blipFill>
          <a:blip r:embed="rId6"/>
          <a:stretch>
            <a:fillRect/>
          </a:stretch>
        </p:blipFill>
        <p:spPr>
          <a:xfrm>
            <a:off x="8001000" y="1856232"/>
            <a:ext cx="310896" cy="310896"/>
          </a:xfrm>
          <a:prstGeom prst="rect">
            <a:avLst/>
          </a:prstGeom>
        </p:spPr>
      </p:pic>
      <p:sp>
        <p:nvSpPr>
          <p:cNvPr id="22" name="Text 16"/>
          <p:cNvSpPr/>
          <p:nvPr/>
        </p:nvSpPr>
        <p:spPr>
          <a:xfrm>
            <a:off x="7223760" y="240487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Previous Score</a:t>
            </a:r>
            <a:endParaRPr lang="en-US" sz="1150" dirty="0"/>
          </a:p>
        </p:txBody>
      </p:sp>
      <p:sp>
        <p:nvSpPr>
          <p:cNvPr id="23" name="Text 17"/>
          <p:cNvSpPr/>
          <p:nvPr/>
        </p:nvSpPr>
        <p:spPr>
          <a:xfrm>
            <a:off x="7223760" y="274320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Prior exam marks</a:t>
            </a:r>
            <a:endParaRPr lang="en-US" sz="900" dirty="0"/>
          </a:p>
        </p:txBody>
      </p:sp>
      <p:sp>
        <p:nvSpPr>
          <p:cNvPr id="24" name="Shape 18"/>
          <p:cNvSpPr/>
          <p:nvPr/>
        </p:nvSpPr>
        <p:spPr>
          <a:xfrm>
            <a:off x="9326880" y="150876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5" name="Shape 19"/>
          <p:cNvSpPr/>
          <p:nvPr/>
        </p:nvSpPr>
        <p:spPr>
          <a:xfrm>
            <a:off x="10040112" y="1700784"/>
            <a:ext cx="621792" cy="621792"/>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6" name="Image 4" descr="/home/claude/assets/icons/FiMoon.png"/>
          <p:cNvPicPr>
            <a:picLocks noChangeAspect="1"/>
          </p:cNvPicPr>
          <p:nvPr/>
        </p:nvPicPr>
        <p:blipFill>
          <a:blip r:embed="rId7"/>
          <a:stretch>
            <a:fillRect/>
          </a:stretch>
        </p:blipFill>
        <p:spPr>
          <a:xfrm>
            <a:off x="10195560" y="1856232"/>
            <a:ext cx="310896" cy="310896"/>
          </a:xfrm>
          <a:prstGeom prst="rect">
            <a:avLst/>
          </a:prstGeom>
        </p:spPr>
      </p:pic>
      <p:sp>
        <p:nvSpPr>
          <p:cNvPr id="27" name="Text 20"/>
          <p:cNvSpPr/>
          <p:nvPr/>
        </p:nvSpPr>
        <p:spPr>
          <a:xfrm>
            <a:off x="9418320" y="240487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Sleep Hours</a:t>
            </a:r>
            <a:endParaRPr lang="en-US" sz="1150" dirty="0"/>
          </a:p>
        </p:txBody>
      </p:sp>
      <p:sp>
        <p:nvSpPr>
          <p:cNvPr id="28" name="Text 21"/>
          <p:cNvSpPr/>
          <p:nvPr/>
        </p:nvSpPr>
        <p:spPr>
          <a:xfrm>
            <a:off x="9418320" y="274320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Avg. nightly sleep</a:t>
            </a:r>
            <a:endParaRPr lang="en-US" sz="900" dirty="0"/>
          </a:p>
        </p:txBody>
      </p:sp>
      <p:sp>
        <p:nvSpPr>
          <p:cNvPr id="29" name="Shape 22"/>
          <p:cNvSpPr/>
          <p:nvPr/>
        </p:nvSpPr>
        <p:spPr>
          <a:xfrm>
            <a:off x="548640" y="338328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30" name="Shape 23"/>
          <p:cNvSpPr/>
          <p:nvPr/>
        </p:nvSpPr>
        <p:spPr>
          <a:xfrm>
            <a:off x="1261872" y="3575304"/>
            <a:ext cx="621792" cy="621792"/>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31" name="Image 5" descr="/home/claude/assets/icons/FiWifi.png"/>
          <p:cNvPicPr>
            <a:picLocks noChangeAspect="1"/>
          </p:cNvPicPr>
          <p:nvPr/>
        </p:nvPicPr>
        <p:blipFill>
          <a:blip r:embed="rId8"/>
          <a:stretch>
            <a:fillRect/>
          </a:stretch>
        </p:blipFill>
        <p:spPr>
          <a:xfrm>
            <a:off x="1417320" y="3730752"/>
            <a:ext cx="310896" cy="310896"/>
          </a:xfrm>
          <a:prstGeom prst="rect">
            <a:avLst/>
          </a:prstGeom>
        </p:spPr>
      </p:pic>
      <p:sp>
        <p:nvSpPr>
          <p:cNvPr id="32" name="Text 24"/>
          <p:cNvSpPr/>
          <p:nvPr/>
        </p:nvSpPr>
        <p:spPr>
          <a:xfrm>
            <a:off x="640080" y="427939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Internet Access</a:t>
            </a:r>
            <a:endParaRPr lang="en-US" sz="1150" dirty="0"/>
          </a:p>
        </p:txBody>
      </p:sp>
      <p:sp>
        <p:nvSpPr>
          <p:cNvPr id="33" name="Text 25"/>
          <p:cNvSpPr/>
          <p:nvPr/>
        </p:nvSpPr>
        <p:spPr>
          <a:xfrm>
            <a:off x="640080" y="461772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Availability at home</a:t>
            </a:r>
            <a:endParaRPr lang="en-US" sz="900" dirty="0"/>
          </a:p>
        </p:txBody>
      </p:sp>
      <p:sp>
        <p:nvSpPr>
          <p:cNvPr id="34" name="Shape 26"/>
          <p:cNvSpPr/>
          <p:nvPr/>
        </p:nvSpPr>
        <p:spPr>
          <a:xfrm>
            <a:off x="2743200" y="338328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35" name="Shape 27"/>
          <p:cNvSpPr/>
          <p:nvPr/>
        </p:nvSpPr>
        <p:spPr>
          <a:xfrm>
            <a:off x="3456432" y="3575304"/>
            <a:ext cx="621792" cy="621792"/>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36" name="Image 6" descr="/home/claude/assets/icons/FiHeart.png"/>
          <p:cNvPicPr>
            <a:picLocks noChangeAspect="1"/>
          </p:cNvPicPr>
          <p:nvPr/>
        </p:nvPicPr>
        <p:blipFill>
          <a:blip r:embed="rId9"/>
          <a:stretch>
            <a:fillRect/>
          </a:stretch>
        </p:blipFill>
        <p:spPr>
          <a:xfrm>
            <a:off x="3611880" y="3730752"/>
            <a:ext cx="310896" cy="310896"/>
          </a:xfrm>
          <a:prstGeom prst="rect">
            <a:avLst/>
          </a:prstGeom>
        </p:spPr>
      </p:pic>
      <p:sp>
        <p:nvSpPr>
          <p:cNvPr id="37" name="Text 28"/>
          <p:cNvSpPr/>
          <p:nvPr/>
        </p:nvSpPr>
        <p:spPr>
          <a:xfrm>
            <a:off x="2834640" y="427939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Family Support</a:t>
            </a:r>
            <a:endParaRPr lang="en-US" sz="1150" dirty="0"/>
          </a:p>
        </p:txBody>
      </p:sp>
      <p:sp>
        <p:nvSpPr>
          <p:cNvPr id="38" name="Text 29"/>
          <p:cNvSpPr/>
          <p:nvPr/>
        </p:nvSpPr>
        <p:spPr>
          <a:xfrm>
            <a:off x="2834640" y="461772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Level of support at home</a:t>
            </a:r>
            <a:endParaRPr lang="en-US" sz="900" dirty="0"/>
          </a:p>
        </p:txBody>
      </p:sp>
      <p:sp>
        <p:nvSpPr>
          <p:cNvPr id="39" name="Shape 30"/>
          <p:cNvSpPr/>
          <p:nvPr/>
        </p:nvSpPr>
        <p:spPr>
          <a:xfrm>
            <a:off x="4937760" y="338328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40" name="Shape 31"/>
          <p:cNvSpPr/>
          <p:nvPr/>
        </p:nvSpPr>
        <p:spPr>
          <a:xfrm>
            <a:off x="5650992" y="3575304"/>
            <a:ext cx="621792" cy="621792"/>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41" name="Image 7" descr="/home/claude/assets/icons/FiBookOpen.png"/>
          <p:cNvPicPr>
            <a:picLocks noChangeAspect="1"/>
          </p:cNvPicPr>
          <p:nvPr/>
        </p:nvPicPr>
        <p:blipFill>
          <a:blip r:embed="rId10"/>
          <a:stretch>
            <a:fillRect/>
          </a:stretch>
        </p:blipFill>
        <p:spPr>
          <a:xfrm>
            <a:off x="5806440" y="3730752"/>
            <a:ext cx="310896" cy="310896"/>
          </a:xfrm>
          <a:prstGeom prst="rect">
            <a:avLst/>
          </a:prstGeom>
        </p:spPr>
      </p:pic>
      <p:sp>
        <p:nvSpPr>
          <p:cNvPr id="42" name="Text 32"/>
          <p:cNvSpPr/>
          <p:nvPr/>
        </p:nvSpPr>
        <p:spPr>
          <a:xfrm>
            <a:off x="5029200" y="427939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Parent Education</a:t>
            </a:r>
            <a:endParaRPr lang="en-US" sz="1150" dirty="0"/>
          </a:p>
        </p:txBody>
      </p:sp>
      <p:sp>
        <p:nvSpPr>
          <p:cNvPr id="43" name="Text 33"/>
          <p:cNvSpPr/>
          <p:nvPr/>
        </p:nvSpPr>
        <p:spPr>
          <a:xfrm>
            <a:off x="5029200" y="461772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Highest qualification</a:t>
            </a:r>
            <a:endParaRPr lang="en-US" sz="900" dirty="0"/>
          </a:p>
        </p:txBody>
      </p:sp>
      <p:sp>
        <p:nvSpPr>
          <p:cNvPr id="44" name="Shape 34"/>
          <p:cNvSpPr/>
          <p:nvPr/>
        </p:nvSpPr>
        <p:spPr>
          <a:xfrm>
            <a:off x="7132320" y="338328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45" name="Shape 35"/>
          <p:cNvSpPr/>
          <p:nvPr/>
        </p:nvSpPr>
        <p:spPr>
          <a:xfrm>
            <a:off x="7845552" y="3575304"/>
            <a:ext cx="621792" cy="621792"/>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46" name="Image 8" descr="/home/claude/assets/icons/FiActivity.png"/>
          <p:cNvPicPr>
            <a:picLocks noChangeAspect="1"/>
          </p:cNvPicPr>
          <p:nvPr/>
        </p:nvPicPr>
        <p:blipFill>
          <a:blip r:embed="rId11"/>
          <a:stretch>
            <a:fillRect/>
          </a:stretch>
        </p:blipFill>
        <p:spPr>
          <a:xfrm>
            <a:off x="8001000" y="3730752"/>
            <a:ext cx="310896" cy="310896"/>
          </a:xfrm>
          <a:prstGeom prst="rect">
            <a:avLst/>
          </a:prstGeom>
        </p:spPr>
      </p:pic>
      <p:sp>
        <p:nvSpPr>
          <p:cNvPr id="47" name="Text 36"/>
          <p:cNvSpPr/>
          <p:nvPr/>
        </p:nvSpPr>
        <p:spPr>
          <a:xfrm>
            <a:off x="7223760" y="427939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Extra Activities</a:t>
            </a:r>
            <a:endParaRPr lang="en-US" sz="1150" dirty="0"/>
          </a:p>
        </p:txBody>
      </p:sp>
      <p:sp>
        <p:nvSpPr>
          <p:cNvPr id="48" name="Text 37"/>
          <p:cNvSpPr/>
          <p:nvPr/>
        </p:nvSpPr>
        <p:spPr>
          <a:xfrm>
            <a:off x="7223760" y="461772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Extracurricular participation</a:t>
            </a:r>
            <a:endParaRPr lang="en-US" sz="900" dirty="0"/>
          </a:p>
        </p:txBody>
      </p:sp>
      <p:sp>
        <p:nvSpPr>
          <p:cNvPr id="49" name="Shape 38"/>
          <p:cNvSpPr/>
          <p:nvPr/>
        </p:nvSpPr>
        <p:spPr>
          <a:xfrm>
            <a:off x="9326880" y="3383280"/>
            <a:ext cx="2048256" cy="1691640"/>
          </a:xfrm>
          <a:prstGeom prst="roundRect">
            <a:avLst>
              <a:gd name="adj" fmla="val 648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0" name="Shape 39"/>
          <p:cNvSpPr/>
          <p:nvPr/>
        </p:nvSpPr>
        <p:spPr>
          <a:xfrm>
            <a:off x="10040112" y="3575304"/>
            <a:ext cx="621792" cy="621792"/>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51" name="Image 9" descr="/home/claude/assets/icons/FiTrendingUp.png"/>
          <p:cNvPicPr>
            <a:picLocks noChangeAspect="1"/>
          </p:cNvPicPr>
          <p:nvPr/>
        </p:nvPicPr>
        <p:blipFill>
          <a:blip r:embed="rId12"/>
          <a:stretch>
            <a:fillRect/>
          </a:stretch>
        </p:blipFill>
        <p:spPr>
          <a:xfrm>
            <a:off x="10195560" y="3730752"/>
            <a:ext cx="310896" cy="310896"/>
          </a:xfrm>
          <a:prstGeom prst="rect">
            <a:avLst/>
          </a:prstGeom>
        </p:spPr>
      </p:pic>
      <p:sp>
        <p:nvSpPr>
          <p:cNvPr id="52" name="Text 40"/>
          <p:cNvSpPr/>
          <p:nvPr/>
        </p:nvSpPr>
        <p:spPr>
          <a:xfrm>
            <a:off x="9418320" y="4279392"/>
            <a:ext cx="1865376" cy="36576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Hours Studied</a:t>
            </a:r>
            <a:endParaRPr lang="en-US" sz="1150" dirty="0"/>
          </a:p>
        </p:txBody>
      </p:sp>
      <p:sp>
        <p:nvSpPr>
          <p:cNvPr id="53" name="Text 41"/>
          <p:cNvSpPr/>
          <p:nvPr/>
        </p:nvSpPr>
        <p:spPr>
          <a:xfrm>
            <a:off x="9418320" y="4617720"/>
            <a:ext cx="1865376" cy="411480"/>
          </a:xfrm>
          <a:prstGeom prst="rect">
            <a:avLst/>
          </a:prstGeom>
          <a:noFill/>
          <a:ln/>
        </p:spPr>
        <p:txBody>
          <a:bodyPr wrap="square" lIns="0" tIns="0" rIns="0" bIns="0" rtlCol="0" anchor="ctr"/>
          <a:lstStyle/>
          <a:p>
            <a:pPr marL="0" indent="0" algn="ctr">
              <a:lnSpc>
                <a:spcPct val="110000"/>
              </a:lnSpc>
              <a:buNone/>
            </a:pPr>
            <a:r>
              <a:rPr lang="en-US" sz="900" dirty="0">
                <a:solidFill>
                  <a:srgbClr val="64748B"/>
                </a:solidFill>
                <a:latin typeface="Arial" pitchFamily="34" charset="0"/>
                <a:ea typeface="Arial" pitchFamily="34" charset="-122"/>
                <a:cs typeface="Arial" pitchFamily="34" charset="-120"/>
              </a:rPr>
              <a:t>Daily self-study time</a:t>
            </a:r>
            <a:endParaRPr lang="en-US" sz="900" dirty="0"/>
          </a:p>
        </p:txBody>
      </p:sp>
      <p:sp>
        <p:nvSpPr>
          <p:cNvPr id="54" name="Shape 42"/>
          <p:cNvSpPr/>
          <p:nvPr/>
        </p:nvSpPr>
        <p:spPr>
          <a:xfrm>
            <a:off x="548640" y="5303520"/>
            <a:ext cx="10881360" cy="685800"/>
          </a:xfrm>
          <a:prstGeom prst="roundRect">
            <a:avLst>
              <a:gd name="adj" fmla="val 16000"/>
            </a:avLst>
          </a:prstGeom>
          <a:solidFill>
            <a:srgbClr val="8B5CF6"/>
          </a:solidFill>
          <a:ln/>
        </p:spPr>
        <p:txBody>
          <a:bodyPr/>
          <a:lstStyle/>
          <a:p>
            <a:endParaRPr lang="en-US"/>
          </a:p>
        </p:txBody>
      </p:sp>
      <p:sp>
        <p:nvSpPr>
          <p:cNvPr id="55" name="Shape 43"/>
          <p:cNvSpPr/>
          <p:nvPr/>
        </p:nvSpPr>
        <p:spPr>
          <a:xfrm>
            <a:off x="1005840" y="5417820"/>
            <a:ext cx="457200" cy="457200"/>
          </a:xfrm>
          <a:prstGeom prst="ellipse">
            <a:avLst/>
          </a:prstGeom>
          <a:solidFill>
            <a:srgbClr val="FFFFFF"/>
          </a:solidFill>
          <a:ln/>
          <a:effectLst>
            <a:outerShdw blurRad="76200" dist="25400" dir="5400000" algn="bl" rotWithShape="0">
              <a:srgbClr val="0F172A">
                <a:alpha val="12000"/>
              </a:srgbClr>
            </a:outerShdw>
          </a:effectLst>
        </p:spPr>
        <p:txBody>
          <a:bodyPr/>
          <a:lstStyle/>
          <a:p>
            <a:endParaRPr lang="en-US"/>
          </a:p>
        </p:txBody>
      </p:sp>
      <p:pic>
        <p:nvPicPr>
          <p:cNvPr id="56" name="Image 10" descr="/home/claude/assets/icons/FiFlag.png"/>
          <p:cNvPicPr>
            <a:picLocks noChangeAspect="1"/>
          </p:cNvPicPr>
          <p:nvPr/>
        </p:nvPicPr>
        <p:blipFill>
          <a:blip r:embed="rId13"/>
          <a:stretch>
            <a:fillRect/>
          </a:stretch>
        </p:blipFill>
        <p:spPr>
          <a:xfrm>
            <a:off x="1120140" y="5532120"/>
            <a:ext cx="228600" cy="228600"/>
          </a:xfrm>
          <a:prstGeom prst="rect">
            <a:avLst/>
          </a:prstGeom>
        </p:spPr>
      </p:pic>
      <p:sp>
        <p:nvSpPr>
          <p:cNvPr id="57" name="Text 44"/>
          <p:cNvSpPr/>
          <p:nvPr/>
        </p:nvSpPr>
        <p:spPr>
          <a:xfrm>
            <a:off x="1600200" y="5394960"/>
            <a:ext cx="2286000" cy="274320"/>
          </a:xfrm>
          <a:prstGeom prst="rect">
            <a:avLst/>
          </a:prstGeom>
          <a:noFill/>
          <a:ln/>
        </p:spPr>
        <p:txBody>
          <a:bodyPr wrap="square" lIns="0" tIns="0" rIns="0" bIns="0" rtlCol="0" anchor="ctr"/>
          <a:lstStyle/>
          <a:p>
            <a:pPr marL="0" indent="0">
              <a:buNone/>
            </a:pPr>
            <a:r>
              <a:rPr lang="en-US" sz="1000" b="1" kern="0" spc="100" dirty="0">
                <a:solidFill>
                  <a:srgbClr val="EDE9FE"/>
                </a:solidFill>
                <a:latin typeface="Arial" pitchFamily="34" charset="0"/>
                <a:ea typeface="Arial" pitchFamily="34" charset="-122"/>
                <a:cs typeface="Arial" pitchFamily="34" charset="-120"/>
              </a:rPr>
              <a:t>TARGET VARIABLE</a:t>
            </a:r>
            <a:endParaRPr lang="en-US" sz="1000" dirty="0"/>
          </a:p>
        </p:txBody>
      </p:sp>
      <p:sp>
        <p:nvSpPr>
          <p:cNvPr id="58" name="Text 45"/>
          <p:cNvSpPr/>
          <p:nvPr/>
        </p:nvSpPr>
        <p:spPr>
          <a:xfrm>
            <a:off x="1600200" y="5623560"/>
            <a:ext cx="7315200" cy="29260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Performance Level — High / Medium / Low</a:t>
            </a:r>
            <a:endParaRPr lang="en-US" sz="1300" dirty="0"/>
          </a:p>
        </p:txBody>
      </p:sp>
      <p:sp>
        <p:nvSpPr>
          <p:cNvPr id="59" name="Text 46"/>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60" name="Text 47"/>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03  ·  PREPARATION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Data Preprocessing Pipeline</a:t>
            </a:r>
            <a:endParaRPr lang="en-US" sz="3200" dirty="0"/>
          </a:p>
        </p:txBody>
      </p:sp>
      <p:sp>
        <p:nvSpPr>
          <p:cNvPr id="4" name="Text 2"/>
          <p:cNvSpPr/>
          <p:nvPr/>
        </p:nvSpPr>
        <p:spPr>
          <a:xfrm>
            <a:off x="548640" y="1234440"/>
            <a:ext cx="9144000" cy="320040"/>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Seven steps to turn raw records into model-ready data</a:t>
            </a:r>
            <a:endParaRPr lang="en-US" sz="1300" dirty="0"/>
          </a:p>
        </p:txBody>
      </p:sp>
      <p:sp>
        <p:nvSpPr>
          <p:cNvPr id="5" name="Shape 3"/>
          <p:cNvSpPr/>
          <p:nvPr/>
        </p:nvSpPr>
        <p:spPr>
          <a:xfrm>
            <a:off x="1459774" y="2834640"/>
            <a:ext cx="9287691" cy="0"/>
          </a:xfrm>
          <a:prstGeom prst="line">
            <a:avLst/>
          </a:prstGeom>
          <a:noFill/>
          <a:ln w="25400">
            <a:solidFill>
              <a:srgbClr val="E2E8F0"/>
            </a:solidFill>
            <a:prstDash val="solid"/>
          </a:ln>
        </p:spPr>
        <p:txBody>
          <a:bodyPr/>
          <a:lstStyle/>
          <a:p>
            <a:endParaRPr lang="en-US"/>
          </a:p>
        </p:txBody>
      </p:sp>
      <p:sp>
        <p:nvSpPr>
          <p:cNvPr id="6" name="Shape 4"/>
          <p:cNvSpPr/>
          <p:nvPr/>
        </p:nvSpPr>
        <p:spPr>
          <a:xfrm>
            <a:off x="1071154" y="244602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7" name="Image 0" descr="/home/claude/assets/icons/FiAlertTriangle.png"/>
          <p:cNvPicPr>
            <a:picLocks noChangeAspect="1"/>
          </p:cNvPicPr>
          <p:nvPr/>
        </p:nvPicPr>
        <p:blipFill>
          <a:blip r:embed="rId3"/>
          <a:stretch>
            <a:fillRect/>
          </a:stretch>
        </p:blipFill>
        <p:spPr>
          <a:xfrm>
            <a:off x="1273237" y="2648102"/>
            <a:ext cx="373075" cy="373075"/>
          </a:xfrm>
          <a:prstGeom prst="rect">
            <a:avLst/>
          </a:prstGeom>
        </p:spPr>
      </p:pic>
      <p:sp>
        <p:nvSpPr>
          <p:cNvPr id="8" name="Text 5"/>
          <p:cNvSpPr/>
          <p:nvPr/>
        </p:nvSpPr>
        <p:spPr>
          <a:xfrm>
            <a:off x="1715806" y="2331720"/>
            <a:ext cx="320040" cy="274320"/>
          </a:xfrm>
          <a:prstGeom prst="rect">
            <a:avLst/>
          </a:prstGeom>
          <a:noFill/>
          <a:ln/>
        </p:spPr>
        <p:txBody>
          <a:bodyPr wrap="square" lIns="0" tIns="0" rIns="0" bIns="0" rtlCol="0" anchor="ctr"/>
          <a:lstStyle/>
          <a:p>
            <a:pPr marL="0" indent="0">
              <a:buNone/>
            </a:pPr>
            <a:r>
              <a:rPr lang="en-US" sz="1100" b="1" dirty="0">
                <a:solidFill>
                  <a:srgbClr val="8B5CF6"/>
                </a:solidFill>
                <a:latin typeface="Arial" pitchFamily="34" charset="0"/>
                <a:ea typeface="Arial" pitchFamily="34" charset="-122"/>
                <a:cs typeface="Arial" pitchFamily="34" charset="-120"/>
              </a:rPr>
              <a:t>1</a:t>
            </a:r>
            <a:endParaRPr lang="en-US" sz="1100" dirty="0"/>
          </a:p>
        </p:txBody>
      </p:sp>
      <p:sp>
        <p:nvSpPr>
          <p:cNvPr id="9" name="Text 6"/>
          <p:cNvSpPr/>
          <p:nvPr/>
        </p:nvSpPr>
        <p:spPr>
          <a:xfrm>
            <a:off x="731520" y="3401568"/>
            <a:ext cx="1456509"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0F172A"/>
                </a:solidFill>
                <a:latin typeface="Arial" pitchFamily="34" charset="0"/>
                <a:ea typeface="Arial" pitchFamily="34" charset="-122"/>
                <a:cs typeface="Arial" pitchFamily="34" charset="-120"/>
              </a:rPr>
              <a:t>Missing Values</a:t>
            </a:r>
            <a:endParaRPr lang="en-US" sz="1100" dirty="0"/>
          </a:p>
        </p:txBody>
      </p:sp>
      <p:sp>
        <p:nvSpPr>
          <p:cNvPr id="10" name="Text 7"/>
          <p:cNvSpPr/>
          <p:nvPr/>
        </p:nvSpPr>
        <p:spPr>
          <a:xfrm>
            <a:off x="731520" y="3858768"/>
            <a:ext cx="1456509" cy="548640"/>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Impute or drop nulls</a:t>
            </a:r>
            <a:endParaRPr lang="en-US" sz="880" dirty="0"/>
          </a:p>
        </p:txBody>
      </p:sp>
      <p:sp>
        <p:nvSpPr>
          <p:cNvPr id="11" name="Shape 8"/>
          <p:cNvSpPr/>
          <p:nvPr/>
        </p:nvSpPr>
        <p:spPr>
          <a:xfrm>
            <a:off x="2619103" y="244602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2" name="Image 1" descr="/home/claude/assets/icons/FiCopy.png"/>
          <p:cNvPicPr>
            <a:picLocks noChangeAspect="1"/>
          </p:cNvPicPr>
          <p:nvPr/>
        </p:nvPicPr>
        <p:blipFill>
          <a:blip r:embed="rId4"/>
          <a:stretch>
            <a:fillRect/>
          </a:stretch>
        </p:blipFill>
        <p:spPr>
          <a:xfrm>
            <a:off x="2821185" y="2648102"/>
            <a:ext cx="373075" cy="373075"/>
          </a:xfrm>
          <a:prstGeom prst="rect">
            <a:avLst/>
          </a:prstGeom>
        </p:spPr>
      </p:pic>
      <p:sp>
        <p:nvSpPr>
          <p:cNvPr id="13" name="Text 9"/>
          <p:cNvSpPr/>
          <p:nvPr/>
        </p:nvSpPr>
        <p:spPr>
          <a:xfrm>
            <a:off x="3263755" y="2331720"/>
            <a:ext cx="320040" cy="274320"/>
          </a:xfrm>
          <a:prstGeom prst="rect">
            <a:avLst/>
          </a:prstGeom>
          <a:noFill/>
          <a:ln/>
        </p:spPr>
        <p:txBody>
          <a:bodyPr wrap="square" lIns="0" tIns="0" rIns="0" bIns="0" rtlCol="0" anchor="ctr"/>
          <a:lstStyle/>
          <a:p>
            <a:pPr marL="0" indent="0">
              <a:buNone/>
            </a:pPr>
            <a:r>
              <a:rPr lang="en-US" sz="1100" b="1" dirty="0">
                <a:solidFill>
                  <a:srgbClr val="8B5CF6"/>
                </a:solidFill>
                <a:latin typeface="Arial" pitchFamily="34" charset="0"/>
                <a:ea typeface="Arial" pitchFamily="34" charset="-122"/>
                <a:cs typeface="Arial" pitchFamily="34" charset="-120"/>
              </a:rPr>
              <a:t>2</a:t>
            </a:r>
            <a:endParaRPr lang="en-US" sz="1100" dirty="0"/>
          </a:p>
        </p:txBody>
      </p:sp>
      <p:sp>
        <p:nvSpPr>
          <p:cNvPr id="14" name="Text 10"/>
          <p:cNvSpPr/>
          <p:nvPr/>
        </p:nvSpPr>
        <p:spPr>
          <a:xfrm>
            <a:off x="2279469" y="3401568"/>
            <a:ext cx="1456509"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0F172A"/>
                </a:solidFill>
                <a:latin typeface="Arial" pitchFamily="34" charset="0"/>
                <a:ea typeface="Arial" pitchFamily="34" charset="-122"/>
                <a:cs typeface="Arial" pitchFamily="34" charset="-120"/>
              </a:rPr>
              <a:t>Duplicate Removal</a:t>
            </a:r>
            <a:endParaRPr lang="en-US" sz="1100" dirty="0"/>
          </a:p>
        </p:txBody>
      </p:sp>
      <p:sp>
        <p:nvSpPr>
          <p:cNvPr id="15" name="Text 11"/>
          <p:cNvSpPr/>
          <p:nvPr/>
        </p:nvSpPr>
        <p:spPr>
          <a:xfrm>
            <a:off x="2279469" y="3858768"/>
            <a:ext cx="1456509" cy="548640"/>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Drop repeated records</a:t>
            </a:r>
            <a:endParaRPr lang="en-US" sz="880" dirty="0"/>
          </a:p>
        </p:txBody>
      </p:sp>
      <p:sp>
        <p:nvSpPr>
          <p:cNvPr id="16" name="Shape 12"/>
          <p:cNvSpPr/>
          <p:nvPr/>
        </p:nvSpPr>
        <p:spPr>
          <a:xfrm>
            <a:off x="4167051" y="244602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7" name="Image 2" descr="/home/claude/assets/icons/FiFilter.png"/>
          <p:cNvPicPr>
            <a:picLocks noChangeAspect="1"/>
          </p:cNvPicPr>
          <p:nvPr/>
        </p:nvPicPr>
        <p:blipFill>
          <a:blip r:embed="rId5"/>
          <a:stretch>
            <a:fillRect/>
          </a:stretch>
        </p:blipFill>
        <p:spPr>
          <a:xfrm>
            <a:off x="4369134" y="2648102"/>
            <a:ext cx="373075" cy="373075"/>
          </a:xfrm>
          <a:prstGeom prst="rect">
            <a:avLst/>
          </a:prstGeom>
        </p:spPr>
      </p:pic>
      <p:sp>
        <p:nvSpPr>
          <p:cNvPr id="18" name="Text 13"/>
          <p:cNvSpPr/>
          <p:nvPr/>
        </p:nvSpPr>
        <p:spPr>
          <a:xfrm>
            <a:off x="4811703" y="2331720"/>
            <a:ext cx="320040" cy="274320"/>
          </a:xfrm>
          <a:prstGeom prst="rect">
            <a:avLst/>
          </a:prstGeom>
          <a:noFill/>
          <a:ln/>
        </p:spPr>
        <p:txBody>
          <a:bodyPr wrap="square" lIns="0" tIns="0" rIns="0" bIns="0" rtlCol="0" anchor="ctr"/>
          <a:lstStyle/>
          <a:p>
            <a:pPr marL="0" indent="0">
              <a:buNone/>
            </a:pPr>
            <a:r>
              <a:rPr lang="en-US" sz="1100" b="1" dirty="0">
                <a:solidFill>
                  <a:srgbClr val="8B5CF6"/>
                </a:solidFill>
                <a:latin typeface="Arial" pitchFamily="34" charset="0"/>
                <a:ea typeface="Arial" pitchFamily="34" charset="-122"/>
                <a:cs typeface="Arial" pitchFamily="34" charset="-120"/>
              </a:rPr>
              <a:t>3</a:t>
            </a:r>
            <a:endParaRPr lang="en-US" sz="1100" dirty="0"/>
          </a:p>
        </p:txBody>
      </p:sp>
      <p:sp>
        <p:nvSpPr>
          <p:cNvPr id="19" name="Text 14"/>
          <p:cNvSpPr/>
          <p:nvPr/>
        </p:nvSpPr>
        <p:spPr>
          <a:xfrm>
            <a:off x="3827417" y="3401568"/>
            <a:ext cx="1456509"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0F172A"/>
                </a:solidFill>
                <a:latin typeface="Arial" pitchFamily="34" charset="0"/>
                <a:ea typeface="Arial" pitchFamily="34" charset="-122"/>
                <a:cs typeface="Arial" pitchFamily="34" charset="-120"/>
              </a:rPr>
              <a:t>Outlier Detection</a:t>
            </a:r>
            <a:endParaRPr lang="en-US" sz="1100" dirty="0"/>
          </a:p>
        </p:txBody>
      </p:sp>
      <p:sp>
        <p:nvSpPr>
          <p:cNvPr id="20" name="Text 15"/>
          <p:cNvSpPr/>
          <p:nvPr/>
        </p:nvSpPr>
        <p:spPr>
          <a:xfrm>
            <a:off x="3827417" y="3858768"/>
            <a:ext cx="1456509" cy="548640"/>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IQR / Z-score checks</a:t>
            </a:r>
            <a:endParaRPr lang="en-US" sz="880" dirty="0"/>
          </a:p>
        </p:txBody>
      </p:sp>
      <p:sp>
        <p:nvSpPr>
          <p:cNvPr id="21" name="Shape 16"/>
          <p:cNvSpPr/>
          <p:nvPr/>
        </p:nvSpPr>
        <p:spPr>
          <a:xfrm>
            <a:off x="5715000" y="244602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2" name="Image 3" descr="/home/claude/assets/icons/FiHash.png"/>
          <p:cNvPicPr>
            <a:picLocks noChangeAspect="1"/>
          </p:cNvPicPr>
          <p:nvPr/>
        </p:nvPicPr>
        <p:blipFill>
          <a:blip r:embed="rId6"/>
          <a:stretch>
            <a:fillRect/>
          </a:stretch>
        </p:blipFill>
        <p:spPr>
          <a:xfrm>
            <a:off x="5917082" y="2648102"/>
            <a:ext cx="373075" cy="373075"/>
          </a:xfrm>
          <a:prstGeom prst="rect">
            <a:avLst/>
          </a:prstGeom>
        </p:spPr>
      </p:pic>
      <p:sp>
        <p:nvSpPr>
          <p:cNvPr id="23" name="Text 17"/>
          <p:cNvSpPr/>
          <p:nvPr/>
        </p:nvSpPr>
        <p:spPr>
          <a:xfrm>
            <a:off x="6359652" y="2331720"/>
            <a:ext cx="320040" cy="274320"/>
          </a:xfrm>
          <a:prstGeom prst="rect">
            <a:avLst/>
          </a:prstGeom>
          <a:noFill/>
          <a:ln/>
        </p:spPr>
        <p:txBody>
          <a:bodyPr wrap="square" lIns="0" tIns="0" rIns="0" bIns="0" rtlCol="0" anchor="ctr"/>
          <a:lstStyle/>
          <a:p>
            <a:pPr marL="0" indent="0">
              <a:buNone/>
            </a:pPr>
            <a:r>
              <a:rPr lang="en-US" sz="1100" b="1" dirty="0">
                <a:solidFill>
                  <a:srgbClr val="8B5CF6"/>
                </a:solidFill>
                <a:latin typeface="Arial" pitchFamily="34" charset="0"/>
                <a:ea typeface="Arial" pitchFamily="34" charset="-122"/>
                <a:cs typeface="Arial" pitchFamily="34" charset="-120"/>
              </a:rPr>
              <a:t>4</a:t>
            </a:r>
            <a:endParaRPr lang="en-US" sz="1100" dirty="0"/>
          </a:p>
        </p:txBody>
      </p:sp>
      <p:sp>
        <p:nvSpPr>
          <p:cNvPr id="24" name="Text 18"/>
          <p:cNvSpPr/>
          <p:nvPr/>
        </p:nvSpPr>
        <p:spPr>
          <a:xfrm>
            <a:off x="5375366" y="3401568"/>
            <a:ext cx="1456509"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0F172A"/>
                </a:solidFill>
                <a:latin typeface="Arial" pitchFamily="34" charset="0"/>
                <a:ea typeface="Arial" pitchFamily="34" charset="-122"/>
                <a:cs typeface="Arial" pitchFamily="34" charset="-120"/>
              </a:rPr>
              <a:t>Encoding</a:t>
            </a:r>
            <a:endParaRPr lang="en-US" sz="1100" dirty="0"/>
          </a:p>
        </p:txBody>
      </p:sp>
      <p:sp>
        <p:nvSpPr>
          <p:cNvPr id="25" name="Text 19"/>
          <p:cNvSpPr/>
          <p:nvPr/>
        </p:nvSpPr>
        <p:spPr>
          <a:xfrm>
            <a:off x="5375366" y="3858768"/>
            <a:ext cx="1456509" cy="548640"/>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Categorical → numeric</a:t>
            </a:r>
            <a:endParaRPr lang="en-US" sz="880" dirty="0"/>
          </a:p>
        </p:txBody>
      </p:sp>
      <p:sp>
        <p:nvSpPr>
          <p:cNvPr id="26" name="Shape 20"/>
          <p:cNvSpPr/>
          <p:nvPr/>
        </p:nvSpPr>
        <p:spPr>
          <a:xfrm>
            <a:off x="7262949" y="244602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7" name="Image 4" descr="/home/claude/assets/icons/FiSliders.png"/>
          <p:cNvPicPr>
            <a:picLocks noChangeAspect="1"/>
          </p:cNvPicPr>
          <p:nvPr/>
        </p:nvPicPr>
        <p:blipFill>
          <a:blip r:embed="rId6"/>
          <a:stretch>
            <a:fillRect/>
          </a:stretch>
        </p:blipFill>
        <p:spPr>
          <a:xfrm>
            <a:off x="7465031" y="2648102"/>
            <a:ext cx="373075" cy="373075"/>
          </a:xfrm>
          <a:prstGeom prst="rect">
            <a:avLst/>
          </a:prstGeom>
        </p:spPr>
      </p:pic>
      <p:sp>
        <p:nvSpPr>
          <p:cNvPr id="28" name="Text 21"/>
          <p:cNvSpPr/>
          <p:nvPr/>
        </p:nvSpPr>
        <p:spPr>
          <a:xfrm>
            <a:off x="7907601" y="2331720"/>
            <a:ext cx="320040" cy="274320"/>
          </a:xfrm>
          <a:prstGeom prst="rect">
            <a:avLst/>
          </a:prstGeom>
          <a:noFill/>
          <a:ln/>
        </p:spPr>
        <p:txBody>
          <a:bodyPr wrap="square" lIns="0" tIns="0" rIns="0" bIns="0" rtlCol="0" anchor="ctr"/>
          <a:lstStyle/>
          <a:p>
            <a:pPr marL="0" indent="0">
              <a:buNone/>
            </a:pPr>
            <a:r>
              <a:rPr lang="en-US" sz="1100" b="1" dirty="0">
                <a:solidFill>
                  <a:srgbClr val="8B5CF6"/>
                </a:solidFill>
                <a:latin typeface="Arial" pitchFamily="34" charset="0"/>
                <a:ea typeface="Arial" pitchFamily="34" charset="-122"/>
                <a:cs typeface="Arial" pitchFamily="34" charset="-120"/>
              </a:rPr>
              <a:t>5</a:t>
            </a:r>
            <a:endParaRPr lang="en-US" sz="1100" dirty="0"/>
          </a:p>
        </p:txBody>
      </p:sp>
      <p:sp>
        <p:nvSpPr>
          <p:cNvPr id="29" name="Text 22"/>
          <p:cNvSpPr/>
          <p:nvPr/>
        </p:nvSpPr>
        <p:spPr>
          <a:xfrm>
            <a:off x="6923314" y="3401568"/>
            <a:ext cx="1456509"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0F172A"/>
                </a:solidFill>
                <a:latin typeface="Arial" pitchFamily="34" charset="0"/>
                <a:ea typeface="Arial" pitchFamily="34" charset="-122"/>
                <a:cs typeface="Arial" pitchFamily="34" charset="-120"/>
              </a:rPr>
              <a:t>Scaling</a:t>
            </a:r>
            <a:endParaRPr lang="en-US" sz="1100" dirty="0"/>
          </a:p>
        </p:txBody>
      </p:sp>
      <p:sp>
        <p:nvSpPr>
          <p:cNvPr id="30" name="Text 23"/>
          <p:cNvSpPr/>
          <p:nvPr/>
        </p:nvSpPr>
        <p:spPr>
          <a:xfrm>
            <a:off x="6923314" y="3858768"/>
            <a:ext cx="1456509" cy="548640"/>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Standardize feature range</a:t>
            </a:r>
            <a:endParaRPr lang="en-US" sz="880" dirty="0"/>
          </a:p>
        </p:txBody>
      </p:sp>
      <p:sp>
        <p:nvSpPr>
          <p:cNvPr id="31" name="Shape 24"/>
          <p:cNvSpPr/>
          <p:nvPr/>
        </p:nvSpPr>
        <p:spPr>
          <a:xfrm>
            <a:off x="8810897" y="244602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32" name="Image 5" descr="/home/claude/assets/icons/FiCheckSquare.png"/>
          <p:cNvPicPr>
            <a:picLocks noChangeAspect="1"/>
          </p:cNvPicPr>
          <p:nvPr/>
        </p:nvPicPr>
        <p:blipFill>
          <a:blip r:embed="rId7"/>
          <a:stretch>
            <a:fillRect/>
          </a:stretch>
        </p:blipFill>
        <p:spPr>
          <a:xfrm>
            <a:off x="9012980" y="2648102"/>
            <a:ext cx="373075" cy="373075"/>
          </a:xfrm>
          <a:prstGeom prst="rect">
            <a:avLst/>
          </a:prstGeom>
        </p:spPr>
      </p:pic>
      <p:sp>
        <p:nvSpPr>
          <p:cNvPr id="33" name="Text 25"/>
          <p:cNvSpPr/>
          <p:nvPr/>
        </p:nvSpPr>
        <p:spPr>
          <a:xfrm>
            <a:off x="9455549" y="2331720"/>
            <a:ext cx="320040" cy="274320"/>
          </a:xfrm>
          <a:prstGeom prst="rect">
            <a:avLst/>
          </a:prstGeom>
          <a:noFill/>
          <a:ln/>
        </p:spPr>
        <p:txBody>
          <a:bodyPr wrap="square" lIns="0" tIns="0" rIns="0" bIns="0" rtlCol="0" anchor="ctr"/>
          <a:lstStyle/>
          <a:p>
            <a:pPr marL="0" indent="0">
              <a:buNone/>
            </a:pPr>
            <a:r>
              <a:rPr lang="en-US" sz="1100" b="1" dirty="0">
                <a:solidFill>
                  <a:srgbClr val="8B5CF6"/>
                </a:solidFill>
                <a:latin typeface="Arial" pitchFamily="34" charset="0"/>
                <a:ea typeface="Arial" pitchFamily="34" charset="-122"/>
                <a:cs typeface="Arial" pitchFamily="34" charset="-120"/>
              </a:rPr>
              <a:t>6</a:t>
            </a:r>
            <a:endParaRPr lang="en-US" sz="1100" dirty="0"/>
          </a:p>
        </p:txBody>
      </p:sp>
      <p:sp>
        <p:nvSpPr>
          <p:cNvPr id="34" name="Text 26"/>
          <p:cNvSpPr/>
          <p:nvPr/>
        </p:nvSpPr>
        <p:spPr>
          <a:xfrm>
            <a:off x="8471263" y="3401568"/>
            <a:ext cx="1456509"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0F172A"/>
                </a:solidFill>
                <a:latin typeface="Arial" pitchFamily="34" charset="0"/>
                <a:ea typeface="Arial" pitchFamily="34" charset="-122"/>
                <a:cs typeface="Arial" pitchFamily="34" charset="-120"/>
              </a:rPr>
              <a:t>Feature Selection</a:t>
            </a:r>
            <a:endParaRPr lang="en-US" sz="1100" dirty="0"/>
          </a:p>
        </p:txBody>
      </p:sp>
      <p:sp>
        <p:nvSpPr>
          <p:cNvPr id="35" name="Text 27"/>
          <p:cNvSpPr/>
          <p:nvPr/>
        </p:nvSpPr>
        <p:spPr>
          <a:xfrm>
            <a:off x="8471263" y="3858768"/>
            <a:ext cx="1456509" cy="548640"/>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Keep top predictors</a:t>
            </a:r>
            <a:endParaRPr lang="en-US" sz="880" dirty="0"/>
          </a:p>
        </p:txBody>
      </p:sp>
      <p:sp>
        <p:nvSpPr>
          <p:cNvPr id="36" name="Shape 28"/>
          <p:cNvSpPr/>
          <p:nvPr/>
        </p:nvSpPr>
        <p:spPr>
          <a:xfrm>
            <a:off x="10358846" y="2446020"/>
            <a:ext cx="777240" cy="777240"/>
          </a:xfrm>
          <a:prstGeom prst="ellipse">
            <a:avLst/>
          </a:prstGeom>
          <a:solidFill>
            <a:srgbClr val="22C55E"/>
          </a:solidFill>
          <a:ln/>
          <a:effectLst>
            <a:outerShdw blurRad="76200" dist="25400" dir="5400000" algn="bl" rotWithShape="0">
              <a:srgbClr val="0F172A">
                <a:alpha val="12000"/>
              </a:srgbClr>
            </a:outerShdw>
          </a:effectLst>
        </p:spPr>
        <p:txBody>
          <a:bodyPr/>
          <a:lstStyle/>
          <a:p>
            <a:endParaRPr lang="en-US"/>
          </a:p>
        </p:txBody>
      </p:sp>
      <p:pic>
        <p:nvPicPr>
          <p:cNvPr id="37" name="Image 6" descr="/home/claude/assets/icons/FiScissors.png"/>
          <p:cNvPicPr>
            <a:picLocks noChangeAspect="1"/>
          </p:cNvPicPr>
          <p:nvPr/>
        </p:nvPicPr>
        <p:blipFill>
          <a:blip r:embed="rId8"/>
          <a:stretch>
            <a:fillRect/>
          </a:stretch>
        </p:blipFill>
        <p:spPr>
          <a:xfrm>
            <a:off x="10560928" y="2648102"/>
            <a:ext cx="373075" cy="373075"/>
          </a:xfrm>
          <a:prstGeom prst="rect">
            <a:avLst/>
          </a:prstGeom>
        </p:spPr>
      </p:pic>
      <p:sp>
        <p:nvSpPr>
          <p:cNvPr id="38" name="Text 29"/>
          <p:cNvSpPr/>
          <p:nvPr/>
        </p:nvSpPr>
        <p:spPr>
          <a:xfrm>
            <a:off x="11003498" y="2331720"/>
            <a:ext cx="320040" cy="274320"/>
          </a:xfrm>
          <a:prstGeom prst="rect">
            <a:avLst/>
          </a:prstGeom>
          <a:noFill/>
          <a:ln/>
        </p:spPr>
        <p:txBody>
          <a:bodyPr wrap="square" lIns="0" tIns="0" rIns="0" bIns="0" rtlCol="0" anchor="ctr"/>
          <a:lstStyle/>
          <a:p>
            <a:pPr marL="0" indent="0">
              <a:buNone/>
            </a:pPr>
            <a:r>
              <a:rPr lang="en-US" sz="1100" b="1" dirty="0">
                <a:solidFill>
                  <a:srgbClr val="8B5CF6"/>
                </a:solidFill>
                <a:latin typeface="Arial" pitchFamily="34" charset="0"/>
                <a:ea typeface="Arial" pitchFamily="34" charset="-122"/>
                <a:cs typeface="Arial" pitchFamily="34" charset="-120"/>
              </a:rPr>
              <a:t>7</a:t>
            </a:r>
            <a:endParaRPr lang="en-US" sz="1100" dirty="0"/>
          </a:p>
        </p:txBody>
      </p:sp>
      <p:sp>
        <p:nvSpPr>
          <p:cNvPr id="39" name="Text 30"/>
          <p:cNvSpPr/>
          <p:nvPr/>
        </p:nvSpPr>
        <p:spPr>
          <a:xfrm>
            <a:off x="10019211" y="3401568"/>
            <a:ext cx="1456509" cy="502920"/>
          </a:xfrm>
          <a:prstGeom prst="rect">
            <a:avLst/>
          </a:prstGeom>
          <a:noFill/>
          <a:ln/>
        </p:spPr>
        <p:txBody>
          <a:bodyPr wrap="square" lIns="0" tIns="0" rIns="0" bIns="0" rtlCol="0" anchor="ctr"/>
          <a:lstStyle/>
          <a:p>
            <a:pPr marL="0" indent="0" algn="ctr">
              <a:lnSpc>
                <a:spcPct val="105000"/>
              </a:lnSpc>
              <a:buNone/>
            </a:pPr>
            <a:r>
              <a:rPr lang="en-US" sz="1100" b="1" dirty="0">
                <a:solidFill>
                  <a:srgbClr val="0F172A"/>
                </a:solidFill>
                <a:latin typeface="Arial" pitchFamily="34" charset="0"/>
                <a:ea typeface="Arial" pitchFamily="34" charset="-122"/>
                <a:cs typeface="Arial" pitchFamily="34" charset="-120"/>
              </a:rPr>
              <a:t>Train/Test Split</a:t>
            </a:r>
            <a:endParaRPr lang="en-US" sz="1100" dirty="0"/>
          </a:p>
        </p:txBody>
      </p:sp>
      <p:sp>
        <p:nvSpPr>
          <p:cNvPr id="40" name="Text 31"/>
          <p:cNvSpPr/>
          <p:nvPr/>
        </p:nvSpPr>
        <p:spPr>
          <a:xfrm>
            <a:off x="10019211" y="3858768"/>
            <a:ext cx="1456509" cy="548640"/>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80% train · 20% test</a:t>
            </a:r>
            <a:endParaRPr lang="en-US" sz="880" dirty="0"/>
          </a:p>
        </p:txBody>
      </p:sp>
      <p:sp>
        <p:nvSpPr>
          <p:cNvPr id="41" name="Shape 32"/>
          <p:cNvSpPr/>
          <p:nvPr/>
        </p:nvSpPr>
        <p:spPr>
          <a:xfrm>
            <a:off x="548640" y="4892040"/>
            <a:ext cx="10881360" cy="1234440"/>
          </a:xfrm>
          <a:prstGeom prst="roundRect">
            <a:avLst>
              <a:gd name="adj" fmla="val 10370"/>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42" name="Text 33"/>
          <p:cNvSpPr/>
          <p:nvPr/>
        </p:nvSpPr>
        <p:spPr>
          <a:xfrm>
            <a:off x="868680" y="5074920"/>
            <a:ext cx="3657600" cy="274320"/>
          </a:xfrm>
          <a:prstGeom prst="rect">
            <a:avLst/>
          </a:prstGeom>
          <a:noFill/>
          <a:ln/>
        </p:spPr>
        <p:txBody>
          <a:bodyPr wrap="square" lIns="0" tIns="0" rIns="0" bIns="0" rtlCol="0" anchor="ctr"/>
          <a:lstStyle/>
          <a:p>
            <a:pPr marL="0" indent="0">
              <a:buNone/>
            </a:pPr>
            <a:r>
              <a:rPr lang="en-US" sz="1200" b="1" dirty="0">
                <a:solidFill>
                  <a:srgbClr val="4F46E5"/>
                </a:solidFill>
                <a:latin typeface="Arial" pitchFamily="34" charset="0"/>
                <a:ea typeface="Arial" pitchFamily="34" charset="-122"/>
                <a:cs typeface="Arial" pitchFamily="34" charset="-120"/>
              </a:rPr>
              <a:t>Why this matters</a:t>
            </a:r>
            <a:endParaRPr lang="en-US" sz="1200" dirty="0"/>
          </a:p>
        </p:txBody>
      </p:sp>
      <p:sp>
        <p:nvSpPr>
          <p:cNvPr id="43" name="Text 34"/>
          <p:cNvSpPr/>
          <p:nvPr/>
        </p:nvSpPr>
        <p:spPr>
          <a:xfrm>
            <a:off x="868680" y="5349240"/>
            <a:ext cx="10241280" cy="640080"/>
          </a:xfrm>
          <a:prstGeom prst="rect">
            <a:avLst/>
          </a:prstGeom>
          <a:noFill/>
          <a:ln/>
        </p:spPr>
        <p:txBody>
          <a:bodyPr wrap="square" lIns="0" tIns="0" rIns="0" bIns="0" rtlCol="0" anchor="ctr"/>
          <a:lstStyle/>
          <a:p>
            <a:pPr marL="0" indent="0">
              <a:lnSpc>
                <a:spcPct val="125000"/>
              </a:lnSpc>
              <a:buNone/>
            </a:pPr>
            <a:r>
              <a:rPr lang="en-US" sz="1200" dirty="0">
                <a:solidFill>
                  <a:srgbClr val="64748B"/>
                </a:solidFill>
                <a:latin typeface="Arial" pitchFamily="34" charset="0"/>
                <a:ea typeface="Arial" pitchFamily="34" charset="-122"/>
                <a:cs typeface="Arial" pitchFamily="34" charset="-120"/>
              </a:rPr>
              <a:t>Clean, well-scaled, correctly encoded data is the single biggest driver of model accuracy — more than the choice of algorithm itself.</a:t>
            </a:r>
            <a:endParaRPr lang="en-US" sz="1200" dirty="0"/>
          </a:p>
        </p:txBody>
      </p:sp>
      <p:sp>
        <p:nvSpPr>
          <p:cNvPr id="44" name="Text 35"/>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45" name="Text 36"/>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03  ·  PREPARATION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Exploratory Data Analysis</a:t>
            </a:r>
            <a:endParaRPr lang="en-US" sz="3200" dirty="0"/>
          </a:p>
        </p:txBody>
      </p:sp>
      <p:sp>
        <p:nvSpPr>
          <p:cNvPr id="4" name="Shape 2"/>
          <p:cNvSpPr/>
          <p:nvPr/>
        </p:nvSpPr>
        <p:spPr>
          <a:xfrm>
            <a:off x="548640" y="1508760"/>
            <a:ext cx="5349240" cy="2286000"/>
          </a:xfrm>
          <a:prstGeom prst="roundRect">
            <a:avLst>
              <a:gd name="adj" fmla="val 4800"/>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Text 3"/>
          <p:cNvSpPr/>
          <p:nvPr/>
        </p:nvSpPr>
        <p:spPr>
          <a:xfrm>
            <a:off x="777240" y="1618488"/>
            <a:ext cx="4892040" cy="274320"/>
          </a:xfrm>
          <a:prstGeom prst="rect">
            <a:avLst/>
          </a:prstGeom>
          <a:noFill/>
          <a:ln/>
        </p:spPr>
        <p:txBody>
          <a:bodyPr wrap="square" lIns="0" tIns="0" rIns="0" bIns="0" rtlCol="0" anchor="ctr"/>
          <a:lstStyle/>
          <a:p>
            <a:pPr marL="0" indent="0">
              <a:buNone/>
            </a:pPr>
            <a:r>
              <a:rPr lang="en-US" sz="1200" b="1" dirty="0">
                <a:solidFill>
                  <a:srgbClr val="0F172A"/>
                </a:solidFill>
                <a:latin typeface="Arial" pitchFamily="34" charset="0"/>
                <a:ea typeface="Arial" pitchFamily="34" charset="-122"/>
                <a:cs typeface="Arial" pitchFamily="34" charset="-120"/>
              </a:rPr>
              <a:t>Attendance Distribution</a:t>
            </a:r>
            <a:endParaRPr lang="en-US" sz="1200" dirty="0"/>
          </a:p>
        </p:txBody>
      </p:sp>
      <p:graphicFrame>
        <p:nvGraphicFramePr>
          <p:cNvPr id="6" name="Chart 0"/>
          <p:cNvGraphicFramePr/>
          <p:nvPr/>
        </p:nvGraphicFramePr>
        <p:xfrm>
          <a:off x="731520" y="1965960"/>
          <a:ext cx="361188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4297680" y="2331720"/>
            <a:ext cx="1463040" cy="1188720"/>
          </a:xfrm>
          <a:prstGeom prst="rect">
            <a:avLst/>
          </a:prstGeom>
          <a:noFill/>
          <a:ln/>
        </p:spPr>
        <p:txBody>
          <a:bodyPr wrap="square" lIns="0" tIns="0" rIns="0" bIns="0" rtlCol="0" anchor="ctr"/>
          <a:lstStyle/>
          <a:p>
            <a:pPr marL="0" indent="0">
              <a:lnSpc>
                <a:spcPct val="120000"/>
              </a:lnSpc>
              <a:buNone/>
            </a:pPr>
            <a:r>
              <a:rPr lang="en-US" sz="950" i="1" dirty="0">
                <a:solidFill>
                  <a:srgbClr val="64748B"/>
                </a:solidFill>
                <a:latin typeface="Arial" pitchFamily="34" charset="0"/>
                <a:ea typeface="Arial" pitchFamily="34" charset="-122"/>
                <a:cs typeface="Arial" pitchFamily="34" charset="-120"/>
              </a:rPr>
              <a:t>Most students attend</a:t>
            </a:r>
            <a:endParaRPr lang="en-US" sz="950" dirty="0"/>
          </a:p>
          <a:p>
            <a:pPr marL="0" indent="0">
              <a:lnSpc>
                <a:spcPct val="120000"/>
              </a:lnSpc>
              <a:buNone/>
            </a:pPr>
            <a:r>
              <a:rPr lang="en-US" sz="950" i="1" dirty="0">
                <a:solidFill>
                  <a:srgbClr val="64748B"/>
                </a:solidFill>
                <a:latin typeface="Arial" pitchFamily="34" charset="0"/>
                <a:ea typeface="Arial" pitchFamily="34" charset="-122"/>
                <a:cs typeface="Arial" pitchFamily="34" charset="-120"/>
              </a:rPr>
              <a:t>75–90% of classes.</a:t>
            </a:r>
            <a:endParaRPr lang="en-US" sz="950" dirty="0"/>
          </a:p>
        </p:txBody>
      </p:sp>
      <p:sp>
        <p:nvSpPr>
          <p:cNvPr id="8" name="Shape 5"/>
          <p:cNvSpPr/>
          <p:nvPr/>
        </p:nvSpPr>
        <p:spPr>
          <a:xfrm>
            <a:off x="5989320" y="1508760"/>
            <a:ext cx="5349240" cy="2286000"/>
          </a:xfrm>
          <a:prstGeom prst="roundRect">
            <a:avLst>
              <a:gd name="adj" fmla="val 4800"/>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9" name="Text 6"/>
          <p:cNvSpPr/>
          <p:nvPr/>
        </p:nvSpPr>
        <p:spPr>
          <a:xfrm>
            <a:off x="6217920" y="1618488"/>
            <a:ext cx="4892040" cy="274320"/>
          </a:xfrm>
          <a:prstGeom prst="rect">
            <a:avLst/>
          </a:prstGeom>
          <a:noFill/>
          <a:ln/>
        </p:spPr>
        <p:txBody>
          <a:bodyPr wrap="square" lIns="0" tIns="0" rIns="0" bIns="0" rtlCol="0" anchor="ctr"/>
          <a:lstStyle/>
          <a:p>
            <a:pPr marL="0" indent="0">
              <a:buNone/>
            </a:pPr>
            <a:r>
              <a:rPr lang="en-US" sz="1200" b="1" dirty="0">
                <a:solidFill>
                  <a:srgbClr val="0F172A"/>
                </a:solidFill>
                <a:latin typeface="Arial" pitchFamily="34" charset="0"/>
                <a:ea typeface="Arial" pitchFamily="34" charset="-122"/>
                <a:cs typeface="Arial" pitchFamily="34" charset="-120"/>
              </a:rPr>
              <a:t>Study Time Distribution</a:t>
            </a:r>
            <a:endParaRPr lang="en-US" sz="1200" dirty="0"/>
          </a:p>
        </p:txBody>
      </p:sp>
      <p:graphicFrame>
        <p:nvGraphicFramePr>
          <p:cNvPr id="10" name="Chart 1"/>
          <p:cNvGraphicFramePr/>
          <p:nvPr/>
        </p:nvGraphicFramePr>
        <p:xfrm>
          <a:off x="6172200" y="1965960"/>
          <a:ext cx="361188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9738360" y="2331720"/>
            <a:ext cx="1463040" cy="1188720"/>
          </a:xfrm>
          <a:prstGeom prst="rect">
            <a:avLst/>
          </a:prstGeom>
          <a:noFill/>
          <a:ln/>
        </p:spPr>
        <p:txBody>
          <a:bodyPr wrap="square" lIns="0" tIns="0" rIns="0" bIns="0" rtlCol="0" anchor="ctr"/>
          <a:lstStyle/>
          <a:p>
            <a:pPr marL="0" indent="0">
              <a:lnSpc>
                <a:spcPct val="120000"/>
              </a:lnSpc>
              <a:buNone/>
            </a:pPr>
            <a:r>
              <a:rPr lang="en-US" sz="950" i="1" dirty="0">
                <a:solidFill>
                  <a:srgbClr val="64748B"/>
                </a:solidFill>
                <a:latin typeface="Arial" pitchFamily="34" charset="0"/>
                <a:ea typeface="Arial" pitchFamily="34" charset="-122"/>
                <a:cs typeface="Arial" pitchFamily="34" charset="-120"/>
              </a:rPr>
              <a:t>Weekly study time peaks</a:t>
            </a:r>
            <a:endParaRPr lang="en-US" sz="950" dirty="0"/>
          </a:p>
          <a:p>
            <a:pPr marL="0" indent="0">
              <a:lnSpc>
                <a:spcPct val="120000"/>
              </a:lnSpc>
              <a:buNone/>
            </a:pPr>
            <a:r>
              <a:rPr lang="en-US" sz="950" i="1" dirty="0">
                <a:solidFill>
                  <a:srgbClr val="64748B"/>
                </a:solidFill>
                <a:latin typeface="Arial" pitchFamily="34" charset="0"/>
                <a:ea typeface="Arial" pitchFamily="34" charset="-122"/>
                <a:cs typeface="Arial" pitchFamily="34" charset="-120"/>
              </a:rPr>
              <a:t>around 4–6 hours.</a:t>
            </a:r>
            <a:endParaRPr lang="en-US" sz="950" dirty="0"/>
          </a:p>
        </p:txBody>
      </p:sp>
      <p:sp>
        <p:nvSpPr>
          <p:cNvPr id="12" name="Shape 8"/>
          <p:cNvSpPr/>
          <p:nvPr/>
        </p:nvSpPr>
        <p:spPr>
          <a:xfrm>
            <a:off x="548640" y="3977640"/>
            <a:ext cx="5349240" cy="2286000"/>
          </a:xfrm>
          <a:prstGeom prst="roundRect">
            <a:avLst>
              <a:gd name="adj" fmla="val 4800"/>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3" name="Text 9"/>
          <p:cNvSpPr/>
          <p:nvPr/>
        </p:nvSpPr>
        <p:spPr>
          <a:xfrm>
            <a:off x="777240" y="4087368"/>
            <a:ext cx="4892040" cy="274320"/>
          </a:xfrm>
          <a:prstGeom prst="rect">
            <a:avLst/>
          </a:prstGeom>
          <a:noFill/>
          <a:ln/>
        </p:spPr>
        <p:txBody>
          <a:bodyPr wrap="square" lIns="0" tIns="0" rIns="0" bIns="0" rtlCol="0" anchor="ctr"/>
          <a:lstStyle/>
          <a:p>
            <a:pPr marL="0" indent="0">
              <a:buNone/>
            </a:pPr>
            <a:r>
              <a:rPr lang="en-US" sz="1200" b="1" dirty="0">
                <a:solidFill>
                  <a:srgbClr val="0F172A"/>
                </a:solidFill>
                <a:latin typeface="Arial" pitchFamily="34" charset="0"/>
                <a:ea typeface="Arial" pitchFamily="34" charset="-122"/>
                <a:cs typeface="Arial" pitchFamily="34" charset="-120"/>
              </a:rPr>
              <a:t>Performance Distribution</a:t>
            </a:r>
            <a:endParaRPr lang="en-US" sz="1200" dirty="0"/>
          </a:p>
        </p:txBody>
      </p:sp>
      <p:graphicFrame>
        <p:nvGraphicFramePr>
          <p:cNvPr id="14" name="Chart 2"/>
          <p:cNvGraphicFramePr/>
          <p:nvPr/>
        </p:nvGraphicFramePr>
        <p:xfrm>
          <a:off x="777240" y="4361688"/>
          <a:ext cx="2377440" cy="1691640"/>
        </p:xfrm>
        <a:graphic>
          <a:graphicData uri="http://schemas.openxmlformats.org/drawingml/2006/chart">
            <c:chart xmlns:c="http://schemas.openxmlformats.org/drawingml/2006/chart" xmlns:r="http://schemas.openxmlformats.org/officeDocument/2006/relationships" r:id="rId5"/>
          </a:graphicData>
        </a:graphic>
      </p:graphicFrame>
      <p:sp>
        <p:nvSpPr>
          <p:cNvPr id="15" name="Shape 10"/>
          <p:cNvSpPr/>
          <p:nvPr/>
        </p:nvSpPr>
        <p:spPr>
          <a:xfrm>
            <a:off x="3429000" y="4572000"/>
            <a:ext cx="164592" cy="164592"/>
          </a:xfrm>
          <a:prstGeom prst="rect">
            <a:avLst/>
          </a:prstGeom>
          <a:solidFill>
            <a:srgbClr val="22C55E"/>
          </a:solidFill>
          <a:ln/>
        </p:spPr>
        <p:txBody>
          <a:bodyPr/>
          <a:lstStyle/>
          <a:p>
            <a:endParaRPr lang="en-US"/>
          </a:p>
        </p:txBody>
      </p:sp>
      <p:sp>
        <p:nvSpPr>
          <p:cNvPr id="16" name="Text 11"/>
          <p:cNvSpPr/>
          <p:nvPr/>
        </p:nvSpPr>
        <p:spPr>
          <a:xfrm>
            <a:off x="3703320" y="4517136"/>
            <a:ext cx="1920240" cy="274320"/>
          </a:xfrm>
          <a:prstGeom prst="rect">
            <a:avLst/>
          </a:prstGeom>
          <a:noFill/>
          <a:ln/>
        </p:spPr>
        <p:txBody>
          <a:bodyPr wrap="square" lIns="0" tIns="0" rIns="0" bIns="0" rtlCol="0" anchor="ctr"/>
          <a:lstStyle/>
          <a:p>
            <a:pPr marL="0" indent="0">
              <a:buNone/>
            </a:pPr>
            <a:r>
              <a:rPr lang="en-US" sz="1050" dirty="0">
                <a:solidFill>
                  <a:srgbClr val="0F172A"/>
                </a:solidFill>
                <a:latin typeface="Arial" pitchFamily="34" charset="0"/>
                <a:ea typeface="Arial" pitchFamily="34" charset="-122"/>
                <a:cs typeface="Arial" pitchFamily="34" charset="-120"/>
              </a:rPr>
              <a:t>High — 38%</a:t>
            </a:r>
            <a:endParaRPr lang="en-US" sz="1050" dirty="0"/>
          </a:p>
        </p:txBody>
      </p:sp>
      <p:sp>
        <p:nvSpPr>
          <p:cNvPr id="17" name="Shape 12"/>
          <p:cNvSpPr/>
          <p:nvPr/>
        </p:nvSpPr>
        <p:spPr>
          <a:xfrm>
            <a:off x="3429000" y="5029200"/>
            <a:ext cx="164592" cy="164592"/>
          </a:xfrm>
          <a:prstGeom prst="rect">
            <a:avLst/>
          </a:prstGeom>
          <a:solidFill>
            <a:srgbClr val="6366F1"/>
          </a:solidFill>
          <a:ln/>
        </p:spPr>
        <p:txBody>
          <a:bodyPr/>
          <a:lstStyle/>
          <a:p>
            <a:endParaRPr lang="en-US"/>
          </a:p>
        </p:txBody>
      </p:sp>
      <p:sp>
        <p:nvSpPr>
          <p:cNvPr id="18" name="Text 13"/>
          <p:cNvSpPr/>
          <p:nvPr/>
        </p:nvSpPr>
        <p:spPr>
          <a:xfrm>
            <a:off x="3703320" y="4974336"/>
            <a:ext cx="1920240" cy="274320"/>
          </a:xfrm>
          <a:prstGeom prst="rect">
            <a:avLst/>
          </a:prstGeom>
          <a:noFill/>
          <a:ln/>
        </p:spPr>
        <p:txBody>
          <a:bodyPr wrap="square" lIns="0" tIns="0" rIns="0" bIns="0" rtlCol="0" anchor="ctr"/>
          <a:lstStyle/>
          <a:p>
            <a:pPr marL="0" indent="0">
              <a:buNone/>
            </a:pPr>
            <a:r>
              <a:rPr lang="en-US" sz="1050" dirty="0">
                <a:solidFill>
                  <a:srgbClr val="0F172A"/>
                </a:solidFill>
                <a:latin typeface="Arial" pitchFamily="34" charset="0"/>
                <a:ea typeface="Arial" pitchFamily="34" charset="-122"/>
                <a:cs typeface="Arial" pitchFamily="34" charset="-120"/>
              </a:rPr>
              <a:t>Medium — 40%</a:t>
            </a:r>
            <a:endParaRPr lang="en-US" sz="1050" dirty="0"/>
          </a:p>
        </p:txBody>
      </p:sp>
      <p:sp>
        <p:nvSpPr>
          <p:cNvPr id="19" name="Shape 14"/>
          <p:cNvSpPr/>
          <p:nvPr/>
        </p:nvSpPr>
        <p:spPr>
          <a:xfrm>
            <a:off x="3429000" y="5486400"/>
            <a:ext cx="164592" cy="164592"/>
          </a:xfrm>
          <a:prstGeom prst="rect">
            <a:avLst/>
          </a:prstGeom>
          <a:solidFill>
            <a:srgbClr val="EF4444"/>
          </a:solidFill>
          <a:ln/>
        </p:spPr>
        <p:txBody>
          <a:bodyPr/>
          <a:lstStyle/>
          <a:p>
            <a:endParaRPr lang="en-US"/>
          </a:p>
        </p:txBody>
      </p:sp>
      <p:sp>
        <p:nvSpPr>
          <p:cNvPr id="20" name="Text 15"/>
          <p:cNvSpPr/>
          <p:nvPr/>
        </p:nvSpPr>
        <p:spPr>
          <a:xfrm>
            <a:off x="3703320" y="5431536"/>
            <a:ext cx="1920240" cy="274320"/>
          </a:xfrm>
          <a:prstGeom prst="rect">
            <a:avLst/>
          </a:prstGeom>
          <a:noFill/>
          <a:ln/>
        </p:spPr>
        <p:txBody>
          <a:bodyPr wrap="square" lIns="0" tIns="0" rIns="0" bIns="0" rtlCol="0" anchor="ctr"/>
          <a:lstStyle/>
          <a:p>
            <a:pPr marL="0" indent="0">
              <a:buNone/>
            </a:pPr>
            <a:r>
              <a:rPr lang="en-US" sz="1050" dirty="0">
                <a:solidFill>
                  <a:srgbClr val="0F172A"/>
                </a:solidFill>
                <a:latin typeface="Arial" pitchFamily="34" charset="0"/>
                <a:ea typeface="Arial" pitchFamily="34" charset="-122"/>
                <a:cs typeface="Arial" pitchFamily="34" charset="-120"/>
              </a:rPr>
              <a:t>Low — 22%</a:t>
            </a:r>
            <a:endParaRPr lang="en-US" sz="1050" dirty="0"/>
          </a:p>
        </p:txBody>
      </p:sp>
      <p:sp>
        <p:nvSpPr>
          <p:cNvPr id="21" name="Text 16"/>
          <p:cNvSpPr/>
          <p:nvPr/>
        </p:nvSpPr>
        <p:spPr>
          <a:xfrm>
            <a:off x="3429000" y="5577840"/>
            <a:ext cx="2286000" cy="548640"/>
          </a:xfrm>
          <a:prstGeom prst="rect">
            <a:avLst/>
          </a:prstGeom>
          <a:noFill/>
          <a:ln/>
        </p:spPr>
        <p:txBody>
          <a:bodyPr wrap="square" lIns="0" tIns="0" rIns="0" bIns="0" rtlCol="0" anchor="ctr"/>
          <a:lstStyle/>
          <a:p>
            <a:pPr marL="0" indent="0">
              <a:lnSpc>
                <a:spcPct val="120000"/>
              </a:lnSpc>
              <a:buNone/>
            </a:pPr>
            <a:r>
              <a:rPr lang="en-US" sz="950" i="1" dirty="0">
                <a:solidFill>
                  <a:srgbClr val="64748B"/>
                </a:solidFill>
                <a:latin typeface="Arial" pitchFamily="34" charset="0"/>
                <a:ea typeface="Arial" pitchFamily="34" charset="-122"/>
                <a:cs typeface="Arial" pitchFamily="34" charset="-120"/>
              </a:rPr>
              <a:t>Class balance is reasonable —</a:t>
            </a:r>
            <a:endParaRPr lang="en-US" sz="950" dirty="0"/>
          </a:p>
          <a:p>
            <a:pPr marL="0" indent="0">
              <a:lnSpc>
                <a:spcPct val="120000"/>
              </a:lnSpc>
              <a:buNone/>
            </a:pPr>
            <a:r>
              <a:rPr lang="en-US" sz="950" i="1" dirty="0">
                <a:solidFill>
                  <a:srgbClr val="64748B"/>
                </a:solidFill>
                <a:latin typeface="Arial" pitchFamily="34" charset="0"/>
                <a:ea typeface="Arial" pitchFamily="34" charset="-122"/>
                <a:cs typeface="Arial" pitchFamily="34" charset="-120"/>
              </a:rPr>
              <a:t>no severe skew.</a:t>
            </a:r>
            <a:endParaRPr lang="en-US" sz="950" dirty="0"/>
          </a:p>
        </p:txBody>
      </p:sp>
      <p:sp>
        <p:nvSpPr>
          <p:cNvPr id="22" name="Shape 17"/>
          <p:cNvSpPr/>
          <p:nvPr/>
        </p:nvSpPr>
        <p:spPr>
          <a:xfrm>
            <a:off x="5989320" y="3977640"/>
            <a:ext cx="5349240" cy="2286000"/>
          </a:xfrm>
          <a:prstGeom prst="roundRect">
            <a:avLst>
              <a:gd name="adj" fmla="val 4800"/>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3" name="Text 18"/>
          <p:cNvSpPr/>
          <p:nvPr/>
        </p:nvSpPr>
        <p:spPr>
          <a:xfrm>
            <a:off x="6217920" y="4087368"/>
            <a:ext cx="4892040" cy="274320"/>
          </a:xfrm>
          <a:prstGeom prst="rect">
            <a:avLst/>
          </a:prstGeom>
          <a:noFill/>
          <a:ln/>
        </p:spPr>
        <p:txBody>
          <a:bodyPr wrap="square" lIns="0" tIns="0" rIns="0" bIns="0" rtlCol="0" anchor="ctr"/>
          <a:lstStyle/>
          <a:p>
            <a:pPr marL="0" indent="0">
              <a:buNone/>
            </a:pPr>
            <a:r>
              <a:rPr lang="en-US" sz="1200" b="1" dirty="0">
                <a:solidFill>
                  <a:srgbClr val="0F172A"/>
                </a:solidFill>
                <a:latin typeface="Arial" pitchFamily="34" charset="0"/>
                <a:ea typeface="Arial" pitchFamily="34" charset="-122"/>
                <a:cs typeface="Arial" pitchFamily="34" charset="-120"/>
              </a:rPr>
              <a:t>Correlation Heatmap</a:t>
            </a:r>
            <a:endParaRPr lang="en-US" sz="1200" dirty="0"/>
          </a:p>
        </p:txBody>
      </p:sp>
      <p:sp>
        <p:nvSpPr>
          <p:cNvPr id="24" name="Text 19"/>
          <p:cNvSpPr/>
          <p:nvPr/>
        </p:nvSpPr>
        <p:spPr>
          <a:xfrm>
            <a:off x="6903720" y="4224528"/>
            <a:ext cx="566928" cy="237744"/>
          </a:xfrm>
          <a:prstGeom prst="rect">
            <a:avLst/>
          </a:prstGeom>
          <a:noFill/>
          <a:ln/>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Attend</a:t>
            </a:r>
            <a:endParaRPr lang="en-US" sz="750" dirty="0"/>
          </a:p>
        </p:txBody>
      </p:sp>
      <p:sp>
        <p:nvSpPr>
          <p:cNvPr id="25" name="Text 20"/>
          <p:cNvSpPr/>
          <p:nvPr/>
        </p:nvSpPr>
        <p:spPr>
          <a:xfrm>
            <a:off x="6126480" y="4663440"/>
            <a:ext cx="731520" cy="201168"/>
          </a:xfrm>
          <a:prstGeom prst="rect">
            <a:avLst/>
          </a:prstGeom>
          <a:noFill/>
          <a:ln/>
        </p:spPr>
        <p:txBody>
          <a:bodyPr wrap="square" lIns="0" tIns="0" rIns="0" bIns="0" rtlCol="0" anchor="ctr"/>
          <a:lstStyle/>
          <a:p>
            <a:pPr marL="0" indent="0" algn="r">
              <a:buNone/>
            </a:pPr>
            <a:r>
              <a:rPr lang="en-US" sz="750" dirty="0">
                <a:solidFill>
                  <a:srgbClr val="64748B"/>
                </a:solidFill>
                <a:latin typeface="Arial" pitchFamily="34" charset="0"/>
                <a:ea typeface="Arial" pitchFamily="34" charset="-122"/>
                <a:cs typeface="Arial" pitchFamily="34" charset="-120"/>
              </a:rPr>
              <a:t>Attend</a:t>
            </a:r>
            <a:endParaRPr lang="en-US" sz="750" dirty="0"/>
          </a:p>
        </p:txBody>
      </p:sp>
      <p:sp>
        <p:nvSpPr>
          <p:cNvPr id="26" name="Text 21"/>
          <p:cNvSpPr/>
          <p:nvPr/>
        </p:nvSpPr>
        <p:spPr>
          <a:xfrm>
            <a:off x="7470648" y="4224528"/>
            <a:ext cx="566928" cy="237744"/>
          </a:xfrm>
          <a:prstGeom prst="rect">
            <a:avLst/>
          </a:prstGeom>
          <a:noFill/>
          <a:ln/>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Study</a:t>
            </a:r>
            <a:endParaRPr lang="en-US" sz="750" dirty="0"/>
          </a:p>
        </p:txBody>
      </p:sp>
      <p:sp>
        <p:nvSpPr>
          <p:cNvPr id="27" name="Text 22"/>
          <p:cNvSpPr/>
          <p:nvPr/>
        </p:nvSpPr>
        <p:spPr>
          <a:xfrm>
            <a:off x="6126480" y="5230368"/>
            <a:ext cx="731520" cy="201168"/>
          </a:xfrm>
          <a:prstGeom prst="rect">
            <a:avLst/>
          </a:prstGeom>
          <a:noFill/>
          <a:ln/>
        </p:spPr>
        <p:txBody>
          <a:bodyPr wrap="square" lIns="0" tIns="0" rIns="0" bIns="0" rtlCol="0" anchor="ctr"/>
          <a:lstStyle/>
          <a:p>
            <a:pPr marL="0" indent="0" algn="r">
              <a:buNone/>
            </a:pPr>
            <a:r>
              <a:rPr lang="en-US" sz="750" dirty="0">
                <a:solidFill>
                  <a:srgbClr val="64748B"/>
                </a:solidFill>
                <a:latin typeface="Arial" pitchFamily="34" charset="0"/>
                <a:ea typeface="Arial" pitchFamily="34" charset="-122"/>
                <a:cs typeface="Arial" pitchFamily="34" charset="-120"/>
              </a:rPr>
              <a:t>Study</a:t>
            </a:r>
            <a:endParaRPr lang="en-US" sz="750" dirty="0"/>
          </a:p>
        </p:txBody>
      </p:sp>
      <p:sp>
        <p:nvSpPr>
          <p:cNvPr id="28" name="Text 23"/>
          <p:cNvSpPr/>
          <p:nvPr/>
        </p:nvSpPr>
        <p:spPr>
          <a:xfrm>
            <a:off x="8037576" y="4224528"/>
            <a:ext cx="566928" cy="237744"/>
          </a:xfrm>
          <a:prstGeom prst="rect">
            <a:avLst/>
          </a:prstGeom>
          <a:noFill/>
          <a:ln/>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PrevSc</a:t>
            </a:r>
            <a:endParaRPr lang="en-US" sz="750" dirty="0"/>
          </a:p>
        </p:txBody>
      </p:sp>
      <p:sp>
        <p:nvSpPr>
          <p:cNvPr id="29" name="Text 24"/>
          <p:cNvSpPr/>
          <p:nvPr/>
        </p:nvSpPr>
        <p:spPr>
          <a:xfrm>
            <a:off x="6126480" y="5797296"/>
            <a:ext cx="731520" cy="201168"/>
          </a:xfrm>
          <a:prstGeom prst="rect">
            <a:avLst/>
          </a:prstGeom>
          <a:noFill/>
          <a:ln/>
        </p:spPr>
        <p:txBody>
          <a:bodyPr wrap="square" lIns="0" tIns="0" rIns="0" bIns="0" rtlCol="0" anchor="ctr"/>
          <a:lstStyle/>
          <a:p>
            <a:pPr marL="0" indent="0" algn="r">
              <a:buNone/>
            </a:pPr>
            <a:r>
              <a:rPr lang="en-US" sz="750" dirty="0">
                <a:solidFill>
                  <a:srgbClr val="64748B"/>
                </a:solidFill>
                <a:latin typeface="Arial" pitchFamily="34" charset="0"/>
                <a:ea typeface="Arial" pitchFamily="34" charset="-122"/>
                <a:cs typeface="Arial" pitchFamily="34" charset="-120"/>
              </a:rPr>
              <a:t>PrevSc</a:t>
            </a:r>
            <a:endParaRPr lang="en-US" sz="750" dirty="0"/>
          </a:p>
        </p:txBody>
      </p:sp>
      <p:sp>
        <p:nvSpPr>
          <p:cNvPr id="30" name="Text 25"/>
          <p:cNvSpPr/>
          <p:nvPr/>
        </p:nvSpPr>
        <p:spPr>
          <a:xfrm>
            <a:off x="8604504" y="4224528"/>
            <a:ext cx="566928" cy="237744"/>
          </a:xfrm>
          <a:prstGeom prst="rect">
            <a:avLst/>
          </a:prstGeom>
          <a:noFill/>
          <a:ln/>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Sleep</a:t>
            </a:r>
            <a:endParaRPr lang="en-US" sz="750" dirty="0"/>
          </a:p>
        </p:txBody>
      </p:sp>
      <p:sp>
        <p:nvSpPr>
          <p:cNvPr id="31" name="Text 26"/>
          <p:cNvSpPr/>
          <p:nvPr/>
        </p:nvSpPr>
        <p:spPr>
          <a:xfrm>
            <a:off x="6126480" y="6364224"/>
            <a:ext cx="731520" cy="201168"/>
          </a:xfrm>
          <a:prstGeom prst="rect">
            <a:avLst/>
          </a:prstGeom>
          <a:noFill/>
          <a:ln/>
        </p:spPr>
        <p:txBody>
          <a:bodyPr wrap="square" lIns="0" tIns="0" rIns="0" bIns="0" rtlCol="0" anchor="ctr"/>
          <a:lstStyle/>
          <a:p>
            <a:pPr marL="0" indent="0" algn="r">
              <a:buNone/>
            </a:pPr>
            <a:r>
              <a:rPr lang="en-US" sz="750" dirty="0">
                <a:solidFill>
                  <a:srgbClr val="64748B"/>
                </a:solidFill>
                <a:latin typeface="Arial" pitchFamily="34" charset="0"/>
                <a:ea typeface="Arial" pitchFamily="34" charset="-122"/>
                <a:cs typeface="Arial" pitchFamily="34" charset="-120"/>
              </a:rPr>
              <a:t>Sleep</a:t>
            </a:r>
            <a:endParaRPr lang="en-US" sz="750" dirty="0"/>
          </a:p>
        </p:txBody>
      </p:sp>
      <p:sp>
        <p:nvSpPr>
          <p:cNvPr id="32" name="Text 27"/>
          <p:cNvSpPr/>
          <p:nvPr/>
        </p:nvSpPr>
        <p:spPr>
          <a:xfrm>
            <a:off x="9171432" y="4224528"/>
            <a:ext cx="566928" cy="237744"/>
          </a:xfrm>
          <a:prstGeom prst="rect">
            <a:avLst/>
          </a:prstGeom>
          <a:noFill/>
          <a:ln/>
        </p:spPr>
        <p:txBody>
          <a:bodyPr wrap="square" lIns="0" tIns="0" rIns="0" bIns="0" rtlCol="0" anchor="ctr"/>
          <a:lstStyle/>
          <a:p>
            <a:pPr marL="0" indent="0" algn="ctr">
              <a:buNone/>
            </a:pPr>
            <a:r>
              <a:rPr lang="en-US" sz="750" dirty="0">
                <a:solidFill>
                  <a:srgbClr val="64748B"/>
                </a:solidFill>
                <a:latin typeface="Arial" pitchFamily="34" charset="0"/>
                <a:ea typeface="Arial" pitchFamily="34" charset="-122"/>
                <a:cs typeface="Arial" pitchFamily="34" charset="-120"/>
              </a:rPr>
              <a:t>Perf</a:t>
            </a:r>
            <a:endParaRPr lang="en-US" sz="750" dirty="0"/>
          </a:p>
        </p:txBody>
      </p:sp>
      <p:sp>
        <p:nvSpPr>
          <p:cNvPr id="33" name="Text 28"/>
          <p:cNvSpPr/>
          <p:nvPr/>
        </p:nvSpPr>
        <p:spPr>
          <a:xfrm>
            <a:off x="6126480" y="6931152"/>
            <a:ext cx="731520" cy="201168"/>
          </a:xfrm>
          <a:prstGeom prst="rect">
            <a:avLst/>
          </a:prstGeom>
          <a:noFill/>
          <a:ln/>
        </p:spPr>
        <p:txBody>
          <a:bodyPr wrap="square" lIns="0" tIns="0" rIns="0" bIns="0" rtlCol="0" anchor="ctr"/>
          <a:lstStyle/>
          <a:p>
            <a:pPr marL="0" indent="0" algn="r">
              <a:buNone/>
            </a:pPr>
            <a:r>
              <a:rPr lang="en-US" sz="750" dirty="0">
                <a:solidFill>
                  <a:srgbClr val="64748B"/>
                </a:solidFill>
                <a:latin typeface="Arial" pitchFamily="34" charset="0"/>
                <a:ea typeface="Arial" pitchFamily="34" charset="-122"/>
                <a:cs typeface="Arial" pitchFamily="34" charset="-120"/>
              </a:rPr>
              <a:t>Perf</a:t>
            </a:r>
            <a:endParaRPr lang="en-US" sz="750" dirty="0"/>
          </a:p>
        </p:txBody>
      </p:sp>
      <p:sp>
        <p:nvSpPr>
          <p:cNvPr id="34" name="Shape 29"/>
          <p:cNvSpPr/>
          <p:nvPr/>
        </p:nvSpPr>
        <p:spPr>
          <a:xfrm>
            <a:off x="6903720" y="4480560"/>
            <a:ext cx="539496" cy="539496"/>
          </a:xfrm>
          <a:prstGeom prst="rect">
            <a:avLst/>
          </a:prstGeom>
          <a:solidFill>
            <a:srgbClr val="4F46E5"/>
          </a:solidFill>
          <a:ln w="12700">
            <a:solidFill>
              <a:srgbClr val="FFFFFF"/>
            </a:solidFill>
            <a:prstDash val="solid"/>
          </a:ln>
        </p:spPr>
        <p:txBody>
          <a:bodyPr/>
          <a:lstStyle/>
          <a:p>
            <a:endParaRPr lang="en-US"/>
          </a:p>
        </p:txBody>
      </p:sp>
      <p:sp>
        <p:nvSpPr>
          <p:cNvPr id="35" name="Text 30"/>
          <p:cNvSpPr/>
          <p:nvPr/>
        </p:nvSpPr>
        <p:spPr>
          <a:xfrm>
            <a:off x="6903720" y="4480560"/>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1.00</a:t>
            </a:r>
            <a:endParaRPr lang="en-US" sz="750" dirty="0"/>
          </a:p>
        </p:txBody>
      </p:sp>
      <p:sp>
        <p:nvSpPr>
          <p:cNvPr id="36" name="Shape 31"/>
          <p:cNvSpPr/>
          <p:nvPr/>
        </p:nvSpPr>
        <p:spPr>
          <a:xfrm>
            <a:off x="7470648" y="4480560"/>
            <a:ext cx="539496" cy="539496"/>
          </a:xfrm>
          <a:prstGeom prst="rect">
            <a:avLst/>
          </a:prstGeom>
          <a:solidFill>
            <a:srgbClr val="4F46E5">
              <a:alpha val="42000"/>
            </a:srgbClr>
          </a:solidFill>
          <a:ln w="12700">
            <a:solidFill>
              <a:srgbClr val="FFFFFF"/>
            </a:solidFill>
            <a:prstDash val="solid"/>
          </a:ln>
        </p:spPr>
        <p:txBody>
          <a:bodyPr/>
          <a:lstStyle/>
          <a:p>
            <a:endParaRPr lang="en-US"/>
          </a:p>
        </p:txBody>
      </p:sp>
      <p:sp>
        <p:nvSpPr>
          <p:cNvPr id="37" name="Text 32"/>
          <p:cNvSpPr/>
          <p:nvPr/>
        </p:nvSpPr>
        <p:spPr>
          <a:xfrm>
            <a:off x="7470648" y="4480560"/>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0.42</a:t>
            </a:r>
            <a:endParaRPr lang="en-US" sz="750" dirty="0"/>
          </a:p>
        </p:txBody>
      </p:sp>
      <p:sp>
        <p:nvSpPr>
          <p:cNvPr id="38" name="Shape 33"/>
          <p:cNvSpPr/>
          <p:nvPr/>
        </p:nvSpPr>
        <p:spPr>
          <a:xfrm>
            <a:off x="8037576" y="4480560"/>
            <a:ext cx="539496" cy="539496"/>
          </a:xfrm>
          <a:prstGeom prst="rect">
            <a:avLst/>
          </a:prstGeom>
          <a:solidFill>
            <a:srgbClr val="4F46E5">
              <a:alpha val="55000"/>
            </a:srgbClr>
          </a:solidFill>
          <a:ln w="12700">
            <a:solidFill>
              <a:srgbClr val="FFFFFF"/>
            </a:solidFill>
            <a:prstDash val="solid"/>
          </a:ln>
        </p:spPr>
        <p:txBody>
          <a:bodyPr/>
          <a:lstStyle/>
          <a:p>
            <a:endParaRPr lang="en-US"/>
          </a:p>
        </p:txBody>
      </p:sp>
      <p:sp>
        <p:nvSpPr>
          <p:cNvPr id="39" name="Text 34"/>
          <p:cNvSpPr/>
          <p:nvPr/>
        </p:nvSpPr>
        <p:spPr>
          <a:xfrm>
            <a:off x="8037576" y="4480560"/>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0.55</a:t>
            </a:r>
            <a:endParaRPr lang="en-US" sz="750" dirty="0"/>
          </a:p>
        </p:txBody>
      </p:sp>
      <p:sp>
        <p:nvSpPr>
          <p:cNvPr id="40" name="Shape 35"/>
          <p:cNvSpPr/>
          <p:nvPr/>
        </p:nvSpPr>
        <p:spPr>
          <a:xfrm>
            <a:off x="8604504" y="4480560"/>
            <a:ext cx="539496" cy="539496"/>
          </a:xfrm>
          <a:prstGeom prst="rect">
            <a:avLst/>
          </a:prstGeom>
          <a:solidFill>
            <a:srgbClr val="4F46E5">
              <a:alpha val="18000"/>
            </a:srgbClr>
          </a:solidFill>
          <a:ln w="12700">
            <a:solidFill>
              <a:srgbClr val="FFFFFF"/>
            </a:solidFill>
            <a:prstDash val="solid"/>
          </a:ln>
        </p:spPr>
        <p:txBody>
          <a:bodyPr/>
          <a:lstStyle/>
          <a:p>
            <a:endParaRPr lang="en-US"/>
          </a:p>
        </p:txBody>
      </p:sp>
      <p:sp>
        <p:nvSpPr>
          <p:cNvPr id="41" name="Text 36"/>
          <p:cNvSpPr/>
          <p:nvPr/>
        </p:nvSpPr>
        <p:spPr>
          <a:xfrm>
            <a:off x="8604504" y="4480560"/>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0.18</a:t>
            </a:r>
            <a:endParaRPr lang="en-US" sz="750" dirty="0"/>
          </a:p>
        </p:txBody>
      </p:sp>
      <p:sp>
        <p:nvSpPr>
          <p:cNvPr id="42" name="Shape 37"/>
          <p:cNvSpPr/>
          <p:nvPr/>
        </p:nvSpPr>
        <p:spPr>
          <a:xfrm>
            <a:off x="9171432" y="4480560"/>
            <a:ext cx="539496" cy="539496"/>
          </a:xfrm>
          <a:prstGeom prst="rect">
            <a:avLst/>
          </a:prstGeom>
          <a:solidFill>
            <a:srgbClr val="4F46E5">
              <a:alpha val="71000"/>
            </a:srgbClr>
          </a:solidFill>
          <a:ln w="12700">
            <a:solidFill>
              <a:srgbClr val="FFFFFF"/>
            </a:solidFill>
            <a:prstDash val="solid"/>
          </a:ln>
        </p:spPr>
        <p:txBody>
          <a:bodyPr/>
          <a:lstStyle/>
          <a:p>
            <a:endParaRPr lang="en-US"/>
          </a:p>
        </p:txBody>
      </p:sp>
      <p:sp>
        <p:nvSpPr>
          <p:cNvPr id="43" name="Text 38"/>
          <p:cNvSpPr/>
          <p:nvPr/>
        </p:nvSpPr>
        <p:spPr>
          <a:xfrm>
            <a:off x="9171432" y="4480560"/>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0.71</a:t>
            </a:r>
            <a:endParaRPr lang="en-US" sz="750" dirty="0"/>
          </a:p>
        </p:txBody>
      </p:sp>
      <p:sp>
        <p:nvSpPr>
          <p:cNvPr id="44" name="Shape 39"/>
          <p:cNvSpPr/>
          <p:nvPr/>
        </p:nvSpPr>
        <p:spPr>
          <a:xfrm>
            <a:off x="6903720" y="5047488"/>
            <a:ext cx="539496" cy="539496"/>
          </a:xfrm>
          <a:prstGeom prst="rect">
            <a:avLst/>
          </a:prstGeom>
          <a:solidFill>
            <a:srgbClr val="4F46E5">
              <a:alpha val="42000"/>
            </a:srgbClr>
          </a:solidFill>
          <a:ln w="12700">
            <a:solidFill>
              <a:srgbClr val="FFFFFF"/>
            </a:solidFill>
            <a:prstDash val="solid"/>
          </a:ln>
        </p:spPr>
        <p:txBody>
          <a:bodyPr/>
          <a:lstStyle/>
          <a:p>
            <a:endParaRPr lang="en-US"/>
          </a:p>
        </p:txBody>
      </p:sp>
      <p:sp>
        <p:nvSpPr>
          <p:cNvPr id="45" name="Text 40"/>
          <p:cNvSpPr/>
          <p:nvPr/>
        </p:nvSpPr>
        <p:spPr>
          <a:xfrm>
            <a:off x="6903720" y="5047488"/>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0.42</a:t>
            </a:r>
            <a:endParaRPr lang="en-US" sz="750" dirty="0"/>
          </a:p>
        </p:txBody>
      </p:sp>
      <p:sp>
        <p:nvSpPr>
          <p:cNvPr id="46" name="Shape 41"/>
          <p:cNvSpPr/>
          <p:nvPr/>
        </p:nvSpPr>
        <p:spPr>
          <a:xfrm>
            <a:off x="7470648" y="5047488"/>
            <a:ext cx="539496" cy="539496"/>
          </a:xfrm>
          <a:prstGeom prst="rect">
            <a:avLst/>
          </a:prstGeom>
          <a:solidFill>
            <a:srgbClr val="4F46E5"/>
          </a:solidFill>
          <a:ln w="12700">
            <a:solidFill>
              <a:srgbClr val="FFFFFF"/>
            </a:solidFill>
            <a:prstDash val="solid"/>
          </a:ln>
        </p:spPr>
        <p:txBody>
          <a:bodyPr/>
          <a:lstStyle/>
          <a:p>
            <a:endParaRPr lang="en-US"/>
          </a:p>
        </p:txBody>
      </p:sp>
      <p:sp>
        <p:nvSpPr>
          <p:cNvPr id="47" name="Text 42"/>
          <p:cNvSpPr/>
          <p:nvPr/>
        </p:nvSpPr>
        <p:spPr>
          <a:xfrm>
            <a:off x="7470648" y="5047488"/>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1.00</a:t>
            </a:r>
            <a:endParaRPr lang="en-US" sz="750" dirty="0"/>
          </a:p>
        </p:txBody>
      </p:sp>
      <p:sp>
        <p:nvSpPr>
          <p:cNvPr id="48" name="Shape 43"/>
          <p:cNvSpPr/>
          <p:nvPr/>
        </p:nvSpPr>
        <p:spPr>
          <a:xfrm>
            <a:off x="8037576" y="5047488"/>
            <a:ext cx="539496" cy="539496"/>
          </a:xfrm>
          <a:prstGeom prst="rect">
            <a:avLst/>
          </a:prstGeom>
          <a:solidFill>
            <a:srgbClr val="4F46E5">
              <a:alpha val="38000"/>
            </a:srgbClr>
          </a:solidFill>
          <a:ln w="12700">
            <a:solidFill>
              <a:srgbClr val="FFFFFF"/>
            </a:solidFill>
            <a:prstDash val="solid"/>
          </a:ln>
        </p:spPr>
        <p:txBody>
          <a:bodyPr/>
          <a:lstStyle/>
          <a:p>
            <a:endParaRPr lang="en-US"/>
          </a:p>
        </p:txBody>
      </p:sp>
      <p:sp>
        <p:nvSpPr>
          <p:cNvPr id="49" name="Text 44"/>
          <p:cNvSpPr/>
          <p:nvPr/>
        </p:nvSpPr>
        <p:spPr>
          <a:xfrm>
            <a:off x="8037576" y="5047488"/>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0.38</a:t>
            </a:r>
            <a:endParaRPr lang="en-US" sz="750" dirty="0"/>
          </a:p>
        </p:txBody>
      </p:sp>
      <p:sp>
        <p:nvSpPr>
          <p:cNvPr id="50" name="Shape 45"/>
          <p:cNvSpPr/>
          <p:nvPr/>
        </p:nvSpPr>
        <p:spPr>
          <a:xfrm>
            <a:off x="8604504" y="5047488"/>
            <a:ext cx="539496" cy="539496"/>
          </a:xfrm>
          <a:prstGeom prst="rect">
            <a:avLst/>
          </a:prstGeom>
          <a:solidFill>
            <a:srgbClr val="4F46E5">
              <a:alpha val="22000"/>
            </a:srgbClr>
          </a:solidFill>
          <a:ln w="12700">
            <a:solidFill>
              <a:srgbClr val="FFFFFF"/>
            </a:solidFill>
            <a:prstDash val="solid"/>
          </a:ln>
        </p:spPr>
        <p:txBody>
          <a:bodyPr/>
          <a:lstStyle/>
          <a:p>
            <a:endParaRPr lang="en-US"/>
          </a:p>
        </p:txBody>
      </p:sp>
      <p:sp>
        <p:nvSpPr>
          <p:cNvPr id="51" name="Text 46"/>
          <p:cNvSpPr/>
          <p:nvPr/>
        </p:nvSpPr>
        <p:spPr>
          <a:xfrm>
            <a:off x="8604504" y="5047488"/>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0.22</a:t>
            </a:r>
            <a:endParaRPr lang="en-US" sz="750" dirty="0"/>
          </a:p>
        </p:txBody>
      </p:sp>
      <p:sp>
        <p:nvSpPr>
          <p:cNvPr id="52" name="Shape 47"/>
          <p:cNvSpPr/>
          <p:nvPr/>
        </p:nvSpPr>
        <p:spPr>
          <a:xfrm>
            <a:off x="9171432" y="5047488"/>
            <a:ext cx="539496" cy="539496"/>
          </a:xfrm>
          <a:prstGeom prst="rect">
            <a:avLst/>
          </a:prstGeom>
          <a:solidFill>
            <a:srgbClr val="4F46E5">
              <a:alpha val="58000"/>
            </a:srgbClr>
          </a:solidFill>
          <a:ln w="12700">
            <a:solidFill>
              <a:srgbClr val="FFFFFF"/>
            </a:solidFill>
            <a:prstDash val="solid"/>
          </a:ln>
        </p:spPr>
        <p:txBody>
          <a:bodyPr/>
          <a:lstStyle/>
          <a:p>
            <a:endParaRPr lang="en-US"/>
          </a:p>
        </p:txBody>
      </p:sp>
      <p:sp>
        <p:nvSpPr>
          <p:cNvPr id="53" name="Text 48"/>
          <p:cNvSpPr/>
          <p:nvPr/>
        </p:nvSpPr>
        <p:spPr>
          <a:xfrm>
            <a:off x="9171432" y="5047488"/>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0.58</a:t>
            </a:r>
            <a:endParaRPr lang="en-US" sz="750" dirty="0"/>
          </a:p>
        </p:txBody>
      </p:sp>
      <p:sp>
        <p:nvSpPr>
          <p:cNvPr id="54" name="Shape 49"/>
          <p:cNvSpPr/>
          <p:nvPr/>
        </p:nvSpPr>
        <p:spPr>
          <a:xfrm>
            <a:off x="6903720" y="5614416"/>
            <a:ext cx="539496" cy="539496"/>
          </a:xfrm>
          <a:prstGeom prst="rect">
            <a:avLst/>
          </a:prstGeom>
          <a:solidFill>
            <a:srgbClr val="4F46E5">
              <a:alpha val="55000"/>
            </a:srgbClr>
          </a:solidFill>
          <a:ln w="12700">
            <a:solidFill>
              <a:srgbClr val="FFFFFF"/>
            </a:solidFill>
            <a:prstDash val="solid"/>
          </a:ln>
        </p:spPr>
        <p:txBody>
          <a:bodyPr/>
          <a:lstStyle/>
          <a:p>
            <a:endParaRPr lang="en-US"/>
          </a:p>
        </p:txBody>
      </p:sp>
      <p:sp>
        <p:nvSpPr>
          <p:cNvPr id="55" name="Text 50"/>
          <p:cNvSpPr/>
          <p:nvPr/>
        </p:nvSpPr>
        <p:spPr>
          <a:xfrm>
            <a:off x="6903720" y="5614416"/>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0.55</a:t>
            </a:r>
            <a:endParaRPr lang="en-US" sz="750" dirty="0"/>
          </a:p>
        </p:txBody>
      </p:sp>
      <p:sp>
        <p:nvSpPr>
          <p:cNvPr id="56" name="Shape 51"/>
          <p:cNvSpPr/>
          <p:nvPr/>
        </p:nvSpPr>
        <p:spPr>
          <a:xfrm>
            <a:off x="7470648" y="5614416"/>
            <a:ext cx="539496" cy="539496"/>
          </a:xfrm>
          <a:prstGeom prst="rect">
            <a:avLst/>
          </a:prstGeom>
          <a:solidFill>
            <a:srgbClr val="4F46E5">
              <a:alpha val="38000"/>
            </a:srgbClr>
          </a:solidFill>
          <a:ln w="12700">
            <a:solidFill>
              <a:srgbClr val="FFFFFF"/>
            </a:solidFill>
            <a:prstDash val="solid"/>
          </a:ln>
        </p:spPr>
        <p:txBody>
          <a:bodyPr/>
          <a:lstStyle/>
          <a:p>
            <a:endParaRPr lang="en-US"/>
          </a:p>
        </p:txBody>
      </p:sp>
      <p:sp>
        <p:nvSpPr>
          <p:cNvPr id="57" name="Text 52"/>
          <p:cNvSpPr/>
          <p:nvPr/>
        </p:nvSpPr>
        <p:spPr>
          <a:xfrm>
            <a:off x="7470648" y="5614416"/>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0.38</a:t>
            </a:r>
            <a:endParaRPr lang="en-US" sz="750" dirty="0"/>
          </a:p>
        </p:txBody>
      </p:sp>
      <p:sp>
        <p:nvSpPr>
          <p:cNvPr id="58" name="Shape 53"/>
          <p:cNvSpPr/>
          <p:nvPr/>
        </p:nvSpPr>
        <p:spPr>
          <a:xfrm>
            <a:off x="8037576" y="5614416"/>
            <a:ext cx="539496" cy="539496"/>
          </a:xfrm>
          <a:prstGeom prst="rect">
            <a:avLst/>
          </a:prstGeom>
          <a:solidFill>
            <a:srgbClr val="4F46E5"/>
          </a:solidFill>
          <a:ln w="12700">
            <a:solidFill>
              <a:srgbClr val="FFFFFF"/>
            </a:solidFill>
            <a:prstDash val="solid"/>
          </a:ln>
        </p:spPr>
        <p:txBody>
          <a:bodyPr/>
          <a:lstStyle/>
          <a:p>
            <a:endParaRPr lang="en-US"/>
          </a:p>
        </p:txBody>
      </p:sp>
      <p:sp>
        <p:nvSpPr>
          <p:cNvPr id="59" name="Text 54"/>
          <p:cNvSpPr/>
          <p:nvPr/>
        </p:nvSpPr>
        <p:spPr>
          <a:xfrm>
            <a:off x="8037576" y="5614416"/>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1.00</a:t>
            </a:r>
            <a:endParaRPr lang="en-US" sz="750" dirty="0"/>
          </a:p>
        </p:txBody>
      </p:sp>
      <p:sp>
        <p:nvSpPr>
          <p:cNvPr id="60" name="Shape 55"/>
          <p:cNvSpPr/>
          <p:nvPr/>
        </p:nvSpPr>
        <p:spPr>
          <a:xfrm>
            <a:off x="8604504" y="5614416"/>
            <a:ext cx="539496" cy="539496"/>
          </a:xfrm>
          <a:prstGeom prst="rect">
            <a:avLst/>
          </a:prstGeom>
          <a:solidFill>
            <a:srgbClr val="4F46E5">
              <a:alpha val="15000"/>
            </a:srgbClr>
          </a:solidFill>
          <a:ln w="12700">
            <a:solidFill>
              <a:srgbClr val="FFFFFF"/>
            </a:solidFill>
            <a:prstDash val="solid"/>
          </a:ln>
        </p:spPr>
        <p:txBody>
          <a:bodyPr/>
          <a:lstStyle/>
          <a:p>
            <a:endParaRPr lang="en-US"/>
          </a:p>
        </p:txBody>
      </p:sp>
      <p:sp>
        <p:nvSpPr>
          <p:cNvPr id="61" name="Text 56"/>
          <p:cNvSpPr/>
          <p:nvPr/>
        </p:nvSpPr>
        <p:spPr>
          <a:xfrm>
            <a:off x="8604504" y="5614416"/>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0.15</a:t>
            </a:r>
            <a:endParaRPr lang="en-US" sz="750" dirty="0"/>
          </a:p>
        </p:txBody>
      </p:sp>
      <p:sp>
        <p:nvSpPr>
          <p:cNvPr id="62" name="Shape 57"/>
          <p:cNvSpPr/>
          <p:nvPr/>
        </p:nvSpPr>
        <p:spPr>
          <a:xfrm>
            <a:off x="9171432" y="5614416"/>
            <a:ext cx="539496" cy="539496"/>
          </a:xfrm>
          <a:prstGeom prst="rect">
            <a:avLst/>
          </a:prstGeom>
          <a:solidFill>
            <a:srgbClr val="4F46E5">
              <a:alpha val="66000"/>
            </a:srgbClr>
          </a:solidFill>
          <a:ln w="12700">
            <a:solidFill>
              <a:srgbClr val="FFFFFF"/>
            </a:solidFill>
            <a:prstDash val="solid"/>
          </a:ln>
        </p:spPr>
        <p:txBody>
          <a:bodyPr/>
          <a:lstStyle/>
          <a:p>
            <a:endParaRPr lang="en-US"/>
          </a:p>
        </p:txBody>
      </p:sp>
      <p:sp>
        <p:nvSpPr>
          <p:cNvPr id="63" name="Text 58"/>
          <p:cNvSpPr/>
          <p:nvPr/>
        </p:nvSpPr>
        <p:spPr>
          <a:xfrm>
            <a:off x="9171432" y="5614416"/>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0.66</a:t>
            </a:r>
            <a:endParaRPr lang="en-US" sz="750" dirty="0"/>
          </a:p>
        </p:txBody>
      </p:sp>
      <p:sp>
        <p:nvSpPr>
          <p:cNvPr id="64" name="Shape 59"/>
          <p:cNvSpPr/>
          <p:nvPr/>
        </p:nvSpPr>
        <p:spPr>
          <a:xfrm>
            <a:off x="6903720" y="6181344"/>
            <a:ext cx="539496" cy="539496"/>
          </a:xfrm>
          <a:prstGeom prst="rect">
            <a:avLst/>
          </a:prstGeom>
          <a:solidFill>
            <a:srgbClr val="4F46E5">
              <a:alpha val="18000"/>
            </a:srgbClr>
          </a:solidFill>
          <a:ln w="12700">
            <a:solidFill>
              <a:srgbClr val="FFFFFF"/>
            </a:solidFill>
            <a:prstDash val="solid"/>
          </a:ln>
        </p:spPr>
        <p:txBody>
          <a:bodyPr/>
          <a:lstStyle/>
          <a:p>
            <a:endParaRPr lang="en-US"/>
          </a:p>
        </p:txBody>
      </p:sp>
      <p:sp>
        <p:nvSpPr>
          <p:cNvPr id="65" name="Text 60"/>
          <p:cNvSpPr/>
          <p:nvPr/>
        </p:nvSpPr>
        <p:spPr>
          <a:xfrm>
            <a:off x="6903720" y="6181344"/>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0.18</a:t>
            </a:r>
            <a:endParaRPr lang="en-US" sz="750" dirty="0"/>
          </a:p>
        </p:txBody>
      </p:sp>
      <p:sp>
        <p:nvSpPr>
          <p:cNvPr id="66" name="Shape 61"/>
          <p:cNvSpPr/>
          <p:nvPr/>
        </p:nvSpPr>
        <p:spPr>
          <a:xfrm>
            <a:off x="7470648" y="6181344"/>
            <a:ext cx="539496" cy="539496"/>
          </a:xfrm>
          <a:prstGeom prst="rect">
            <a:avLst/>
          </a:prstGeom>
          <a:solidFill>
            <a:srgbClr val="4F46E5">
              <a:alpha val="22000"/>
            </a:srgbClr>
          </a:solidFill>
          <a:ln w="12700">
            <a:solidFill>
              <a:srgbClr val="FFFFFF"/>
            </a:solidFill>
            <a:prstDash val="solid"/>
          </a:ln>
        </p:spPr>
        <p:txBody>
          <a:bodyPr/>
          <a:lstStyle/>
          <a:p>
            <a:endParaRPr lang="en-US"/>
          </a:p>
        </p:txBody>
      </p:sp>
      <p:sp>
        <p:nvSpPr>
          <p:cNvPr id="67" name="Text 62"/>
          <p:cNvSpPr/>
          <p:nvPr/>
        </p:nvSpPr>
        <p:spPr>
          <a:xfrm>
            <a:off x="7470648" y="6181344"/>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0.22</a:t>
            </a:r>
            <a:endParaRPr lang="en-US" sz="750" dirty="0"/>
          </a:p>
        </p:txBody>
      </p:sp>
      <p:sp>
        <p:nvSpPr>
          <p:cNvPr id="68" name="Shape 63"/>
          <p:cNvSpPr/>
          <p:nvPr/>
        </p:nvSpPr>
        <p:spPr>
          <a:xfrm>
            <a:off x="8037576" y="6181344"/>
            <a:ext cx="539496" cy="539496"/>
          </a:xfrm>
          <a:prstGeom prst="rect">
            <a:avLst/>
          </a:prstGeom>
          <a:solidFill>
            <a:srgbClr val="4F46E5">
              <a:alpha val="15000"/>
            </a:srgbClr>
          </a:solidFill>
          <a:ln w="12700">
            <a:solidFill>
              <a:srgbClr val="FFFFFF"/>
            </a:solidFill>
            <a:prstDash val="solid"/>
          </a:ln>
        </p:spPr>
        <p:txBody>
          <a:bodyPr/>
          <a:lstStyle/>
          <a:p>
            <a:endParaRPr lang="en-US"/>
          </a:p>
        </p:txBody>
      </p:sp>
      <p:sp>
        <p:nvSpPr>
          <p:cNvPr id="69" name="Text 64"/>
          <p:cNvSpPr/>
          <p:nvPr/>
        </p:nvSpPr>
        <p:spPr>
          <a:xfrm>
            <a:off x="8037576" y="6181344"/>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0.15</a:t>
            </a:r>
            <a:endParaRPr lang="en-US" sz="750" dirty="0"/>
          </a:p>
        </p:txBody>
      </p:sp>
      <p:sp>
        <p:nvSpPr>
          <p:cNvPr id="70" name="Shape 65"/>
          <p:cNvSpPr/>
          <p:nvPr/>
        </p:nvSpPr>
        <p:spPr>
          <a:xfrm>
            <a:off x="8604504" y="6181344"/>
            <a:ext cx="539496" cy="539496"/>
          </a:xfrm>
          <a:prstGeom prst="rect">
            <a:avLst/>
          </a:prstGeom>
          <a:solidFill>
            <a:srgbClr val="4F46E5"/>
          </a:solidFill>
          <a:ln w="12700">
            <a:solidFill>
              <a:srgbClr val="FFFFFF"/>
            </a:solidFill>
            <a:prstDash val="solid"/>
          </a:ln>
        </p:spPr>
        <p:txBody>
          <a:bodyPr/>
          <a:lstStyle/>
          <a:p>
            <a:endParaRPr lang="en-US"/>
          </a:p>
        </p:txBody>
      </p:sp>
      <p:sp>
        <p:nvSpPr>
          <p:cNvPr id="71" name="Text 66"/>
          <p:cNvSpPr/>
          <p:nvPr/>
        </p:nvSpPr>
        <p:spPr>
          <a:xfrm>
            <a:off x="8604504" y="6181344"/>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1.00</a:t>
            </a:r>
            <a:endParaRPr lang="en-US" sz="750" dirty="0"/>
          </a:p>
        </p:txBody>
      </p:sp>
      <p:sp>
        <p:nvSpPr>
          <p:cNvPr id="72" name="Shape 67"/>
          <p:cNvSpPr/>
          <p:nvPr/>
        </p:nvSpPr>
        <p:spPr>
          <a:xfrm>
            <a:off x="9171432" y="6181344"/>
            <a:ext cx="539496" cy="539496"/>
          </a:xfrm>
          <a:prstGeom prst="rect">
            <a:avLst/>
          </a:prstGeom>
          <a:solidFill>
            <a:srgbClr val="4F46E5">
              <a:alpha val="21000"/>
            </a:srgbClr>
          </a:solidFill>
          <a:ln w="12700">
            <a:solidFill>
              <a:srgbClr val="FFFFFF"/>
            </a:solidFill>
            <a:prstDash val="solid"/>
          </a:ln>
        </p:spPr>
        <p:txBody>
          <a:bodyPr/>
          <a:lstStyle/>
          <a:p>
            <a:endParaRPr lang="en-US"/>
          </a:p>
        </p:txBody>
      </p:sp>
      <p:sp>
        <p:nvSpPr>
          <p:cNvPr id="73" name="Text 68"/>
          <p:cNvSpPr/>
          <p:nvPr/>
        </p:nvSpPr>
        <p:spPr>
          <a:xfrm>
            <a:off x="9171432" y="6181344"/>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0.21</a:t>
            </a:r>
            <a:endParaRPr lang="en-US" sz="750" dirty="0"/>
          </a:p>
        </p:txBody>
      </p:sp>
      <p:sp>
        <p:nvSpPr>
          <p:cNvPr id="74" name="Shape 69"/>
          <p:cNvSpPr/>
          <p:nvPr/>
        </p:nvSpPr>
        <p:spPr>
          <a:xfrm>
            <a:off x="6903720" y="6748272"/>
            <a:ext cx="539496" cy="539496"/>
          </a:xfrm>
          <a:prstGeom prst="rect">
            <a:avLst/>
          </a:prstGeom>
          <a:solidFill>
            <a:srgbClr val="4F46E5">
              <a:alpha val="71000"/>
            </a:srgbClr>
          </a:solidFill>
          <a:ln w="12700">
            <a:solidFill>
              <a:srgbClr val="FFFFFF"/>
            </a:solidFill>
            <a:prstDash val="solid"/>
          </a:ln>
        </p:spPr>
        <p:txBody>
          <a:bodyPr/>
          <a:lstStyle/>
          <a:p>
            <a:endParaRPr lang="en-US"/>
          </a:p>
        </p:txBody>
      </p:sp>
      <p:sp>
        <p:nvSpPr>
          <p:cNvPr id="75" name="Text 70"/>
          <p:cNvSpPr/>
          <p:nvPr/>
        </p:nvSpPr>
        <p:spPr>
          <a:xfrm>
            <a:off x="6903720" y="6748272"/>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0.71</a:t>
            </a:r>
            <a:endParaRPr lang="en-US" sz="750" dirty="0"/>
          </a:p>
        </p:txBody>
      </p:sp>
      <p:sp>
        <p:nvSpPr>
          <p:cNvPr id="76" name="Shape 71"/>
          <p:cNvSpPr/>
          <p:nvPr/>
        </p:nvSpPr>
        <p:spPr>
          <a:xfrm>
            <a:off x="7470648" y="6748272"/>
            <a:ext cx="539496" cy="539496"/>
          </a:xfrm>
          <a:prstGeom prst="rect">
            <a:avLst/>
          </a:prstGeom>
          <a:solidFill>
            <a:srgbClr val="4F46E5">
              <a:alpha val="58000"/>
            </a:srgbClr>
          </a:solidFill>
          <a:ln w="12700">
            <a:solidFill>
              <a:srgbClr val="FFFFFF"/>
            </a:solidFill>
            <a:prstDash val="solid"/>
          </a:ln>
        </p:spPr>
        <p:txBody>
          <a:bodyPr/>
          <a:lstStyle/>
          <a:p>
            <a:endParaRPr lang="en-US"/>
          </a:p>
        </p:txBody>
      </p:sp>
      <p:sp>
        <p:nvSpPr>
          <p:cNvPr id="77" name="Text 72"/>
          <p:cNvSpPr/>
          <p:nvPr/>
        </p:nvSpPr>
        <p:spPr>
          <a:xfrm>
            <a:off x="7470648" y="6748272"/>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0.58</a:t>
            </a:r>
            <a:endParaRPr lang="en-US" sz="750" dirty="0"/>
          </a:p>
        </p:txBody>
      </p:sp>
      <p:sp>
        <p:nvSpPr>
          <p:cNvPr id="78" name="Shape 73"/>
          <p:cNvSpPr/>
          <p:nvPr/>
        </p:nvSpPr>
        <p:spPr>
          <a:xfrm>
            <a:off x="8037576" y="6748272"/>
            <a:ext cx="539496" cy="539496"/>
          </a:xfrm>
          <a:prstGeom prst="rect">
            <a:avLst/>
          </a:prstGeom>
          <a:solidFill>
            <a:srgbClr val="4F46E5">
              <a:alpha val="66000"/>
            </a:srgbClr>
          </a:solidFill>
          <a:ln w="12700">
            <a:solidFill>
              <a:srgbClr val="FFFFFF"/>
            </a:solidFill>
            <a:prstDash val="solid"/>
          </a:ln>
        </p:spPr>
        <p:txBody>
          <a:bodyPr/>
          <a:lstStyle/>
          <a:p>
            <a:endParaRPr lang="en-US"/>
          </a:p>
        </p:txBody>
      </p:sp>
      <p:sp>
        <p:nvSpPr>
          <p:cNvPr id="79" name="Text 74"/>
          <p:cNvSpPr/>
          <p:nvPr/>
        </p:nvSpPr>
        <p:spPr>
          <a:xfrm>
            <a:off x="8037576" y="6748272"/>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0.66</a:t>
            </a:r>
            <a:endParaRPr lang="en-US" sz="750" dirty="0"/>
          </a:p>
        </p:txBody>
      </p:sp>
      <p:sp>
        <p:nvSpPr>
          <p:cNvPr id="80" name="Shape 75"/>
          <p:cNvSpPr/>
          <p:nvPr/>
        </p:nvSpPr>
        <p:spPr>
          <a:xfrm>
            <a:off x="8604504" y="6748272"/>
            <a:ext cx="539496" cy="539496"/>
          </a:xfrm>
          <a:prstGeom prst="rect">
            <a:avLst/>
          </a:prstGeom>
          <a:solidFill>
            <a:srgbClr val="4F46E5">
              <a:alpha val="21000"/>
            </a:srgbClr>
          </a:solidFill>
          <a:ln w="12700">
            <a:solidFill>
              <a:srgbClr val="FFFFFF"/>
            </a:solidFill>
            <a:prstDash val="solid"/>
          </a:ln>
        </p:spPr>
        <p:txBody>
          <a:bodyPr/>
          <a:lstStyle/>
          <a:p>
            <a:endParaRPr lang="en-US"/>
          </a:p>
        </p:txBody>
      </p:sp>
      <p:sp>
        <p:nvSpPr>
          <p:cNvPr id="81" name="Text 76"/>
          <p:cNvSpPr/>
          <p:nvPr/>
        </p:nvSpPr>
        <p:spPr>
          <a:xfrm>
            <a:off x="8604504" y="6748272"/>
            <a:ext cx="539496" cy="539496"/>
          </a:xfrm>
          <a:prstGeom prst="rect">
            <a:avLst/>
          </a:prstGeom>
          <a:noFill/>
          <a:ln/>
        </p:spPr>
        <p:txBody>
          <a:bodyPr wrap="square" lIns="0" tIns="0" rIns="0" bIns="0" rtlCol="0" anchor="ctr"/>
          <a:lstStyle/>
          <a:p>
            <a:pPr marL="0" indent="0" algn="ctr">
              <a:buNone/>
            </a:pPr>
            <a:r>
              <a:rPr lang="en-US" sz="750" dirty="0">
                <a:solidFill>
                  <a:srgbClr val="0F172A"/>
                </a:solidFill>
                <a:latin typeface="Arial" pitchFamily="34" charset="0"/>
                <a:ea typeface="Arial" pitchFamily="34" charset="-122"/>
                <a:cs typeface="Arial" pitchFamily="34" charset="-120"/>
              </a:rPr>
              <a:t>0.21</a:t>
            </a:r>
            <a:endParaRPr lang="en-US" sz="750" dirty="0"/>
          </a:p>
        </p:txBody>
      </p:sp>
      <p:sp>
        <p:nvSpPr>
          <p:cNvPr id="82" name="Shape 77"/>
          <p:cNvSpPr/>
          <p:nvPr/>
        </p:nvSpPr>
        <p:spPr>
          <a:xfrm>
            <a:off x="9171432" y="6748272"/>
            <a:ext cx="539496" cy="539496"/>
          </a:xfrm>
          <a:prstGeom prst="rect">
            <a:avLst/>
          </a:prstGeom>
          <a:solidFill>
            <a:srgbClr val="4F46E5"/>
          </a:solidFill>
          <a:ln w="12700">
            <a:solidFill>
              <a:srgbClr val="FFFFFF"/>
            </a:solidFill>
            <a:prstDash val="solid"/>
          </a:ln>
        </p:spPr>
        <p:txBody>
          <a:bodyPr/>
          <a:lstStyle/>
          <a:p>
            <a:endParaRPr lang="en-US"/>
          </a:p>
        </p:txBody>
      </p:sp>
      <p:sp>
        <p:nvSpPr>
          <p:cNvPr id="83" name="Text 78"/>
          <p:cNvSpPr/>
          <p:nvPr/>
        </p:nvSpPr>
        <p:spPr>
          <a:xfrm>
            <a:off x="9171432" y="6748272"/>
            <a:ext cx="539496" cy="539496"/>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1.00</a:t>
            </a:r>
            <a:endParaRPr lang="en-US" sz="750" dirty="0"/>
          </a:p>
        </p:txBody>
      </p:sp>
      <p:sp>
        <p:nvSpPr>
          <p:cNvPr id="84" name="Text 79"/>
          <p:cNvSpPr/>
          <p:nvPr/>
        </p:nvSpPr>
        <p:spPr>
          <a:xfrm>
            <a:off x="6217920" y="5943600"/>
            <a:ext cx="4892040" cy="274320"/>
          </a:xfrm>
          <a:prstGeom prst="rect">
            <a:avLst/>
          </a:prstGeom>
          <a:noFill/>
          <a:ln/>
        </p:spPr>
        <p:txBody>
          <a:bodyPr wrap="square" lIns="0" tIns="0" rIns="0" bIns="0" rtlCol="0" anchor="ctr"/>
          <a:lstStyle/>
          <a:p>
            <a:pPr marL="0" indent="0">
              <a:buNone/>
            </a:pPr>
            <a:r>
              <a:rPr lang="en-US" sz="900" i="1" dirty="0">
                <a:solidFill>
                  <a:srgbClr val="64748B"/>
                </a:solidFill>
                <a:latin typeface="Arial" pitchFamily="34" charset="0"/>
                <a:ea typeface="Arial" pitchFamily="34" charset="-122"/>
                <a:cs typeface="Arial" pitchFamily="34" charset="-120"/>
              </a:rPr>
              <a:t>Attendance &amp; Previous Score</a:t>
            </a:r>
            <a:endParaRPr lang="en-US" sz="900" dirty="0"/>
          </a:p>
          <a:p>
            <a:pPr marL="0" indent="0">
              <a:buNone/>
            </a:pPr>
            <a:r>
              <a:rPr lang="en-US" sz="900" i="1" dirty="0">
                <a:solidFill>
                  <a:srgbClr val="64748B"/>
                </a:solidFill>
                <a:latin typeface="Arial" pitchFamily="34" charset="0"/>
                <a:ea typeface="Arial" pitchFamily="34" charset="-122"/>
                <a:cs typeface="Arial" pitchFamily="34" charset="-120"/>
              </a:rPr>
              <a:t>correlate strongly with Performance.</a:t>
            </a:r>
            <a:endParaRPr lang="en-US" sz="900" dirty="0"/>
          </a:p>
        </p:txBody>
      </p:sp>
      <p:sp>
        <p:nvSpPr>
          <p:cNvPr id="85" name="Text 80"/>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86" name="Text 81"/>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04  ·  MODELING</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Machine Learning Models Explored</a:t>
            </a:r>
            <a:endParaRPr lang="en-US" sz="3200" dirty="0"/>
          </a:p>
        </p:txBody>
      </p:sp>
      <p:sp>
        <p:nvSpPr>
          <p:cNvPr id="4" name="Shape 2"/>
          <p:cNvSpPr/>
          <p:nvPr/>
        </p:nvSpPr>
        <p:spPr>
          <a:xfrm>
            <a:off x="548640" y="1600200"/>
            <a:ext cx="3520440" cy="2148840"/>
          </a:xfrm>
          <a:prstGeom prst="roundRect">
            <a:avLst>
              <a:gd name="adj" fmla="val 595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Shape 3"/>
          <p:cNvSpPr/>
          <p:nvPr/>
        </p:nvSpPr>
        <p:spPr>
          <a:xfrm>
            <a:off x="845820" y="1851660"/>
            <a:ext cx="685800" cy="68580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TrendingUp.png"/>
          <p:cNvPicPr>
            <a:picLocks noChangeAspect="1"/>
          </p:cNvPicPr>
          <p:nvPr/>
        </p:nvPicPr>
        <p:blipFill>
          <a:blip r:embed="rId3"/>
          <a:stretch>
            <a:fillRect/>
          </a:stretch>
        </p:blipFill>
        <p:spPr>
          <a:xfrm>
            <a:off x="1017270" y="2023110"/>
            <a:ext cx="342900" cy="342900"/>
          </a:xfrm>
          <a:prstGeom prst="rect">
            <a:avLst/>
          </a:prstGeom>
        </p:spPr>
      </p:pic>
      <p:sp>
        <p:nvSpPr>
          <p:cNvPr id="7" name="Text 4"/>
          <p:cNvSpPr/>
          <p:nvPr/>
        </p:nvSpPr>
        <p:spPr>
          <a:xfrm>
            <a:off x="777240" y="2651760"/>
            <a:ext cx="3063240" cy="365760"/>
          </a:xfrm>
          <a:prstGeom prst="rect">
            <a:avLst/>
          </a:prstGeom>
          <a:noFill/>
          <a:ln/>
        </p:spPr>
        <p:txBody>
          <a:bodyPr wrap="square" lIns="0" tIns="0" rIns="0" bIns="0" rtlCol="0" anchor="ctr"/>
          <a:lstStyle/>
          <a:p>
            <a:pPr marL="0" indent="0">
              <a:buNone/>
            </a:pPr>
            <a:r>
              <a:rPr lang="en-US" sz="1400" b="1" dirty="0">
                <a:solidFill>
                  <a:srgbClr val="0F172A"/>
                </a:solidFill>
                <a:latin typeface="Arial" pitchFamily="34" charset="0"/>
                <a:ea typeface="Arial" pitchFamily="34" charset="-122"/>
                <a:cs typeface="Arial" pitchFamily="34" charset="-120"/>
              </a:rPr>
              <a:t>Logistic Regression</a:t>
            </a:r>
            <a:endParaRPr lang="en-US" sz="1400" dirty="0"/>
          </a:p>
        </p:txBody>
      </p:sp>
      <p:sp>
        <p:nvSpPr>
          <p:cNvPr id="8" name="Text 5"/>
          <p:cNvSpPr/>
          <p:nvPr/>
        </p:nvSpPr>
        <p:spPr>
          <a:xfrm>
            <a:off x="777240" y="3017520"/>
            <a:ext cx="3063240" cy="5943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Arial" pitchFamily="34" charset="0"/>
                <a:ea typeface="Arial" pitchFamily="34" charset="-122"/>
                <a:cs typeface="Arial" pitchFamily="34" charset="-120"/>
              </a:rPr>
              <a:t>Simple, interpretable linear baseline</a:t>
            </a:r>
            <a:endParaRPr lang="en-US" sz="1050" dirty="0"/>
          </a:p>
        </p:txBody>
      </p:sp>
      <p:sp>
        <p:nvSpPr>
          <p:cNvPr id="9" name="Shape 6"/>
          <p:cNvSpPr/>
          <p:nvPr/>
        </p:nvSpPr>
        <p:spPr>
          <a:xfrm>
            <a:off x="4251960" y="1600200"/>
            <a:ext cx="3520440" cy="2148840"/>
          </a:xfrm>
          <a:prstGeom prst="roundRect">
            <a:avLst>
              <a:gd name="adj" fmla="val 595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0" name="Shape 7"/>
          <p:cNvSpPr/>
          <p:nvPr/>
        </p:nvSpPr>
        <p:spPr>
          <a:xfrm>
            <a:off x="4549140" y="1851660"/>
            <a:ext cx="685800" cy="68580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11" name="Image 1" descr="/home/claude/assets/icons/FiGitBranch.png"/>
          <p:cNvPicPr>
            <a:picLocks noChangeAspect="1"/>
          </p:cNvPicPr>
          <p:nvPr/>
        </p:nvPicPr>
        <p:blipFill>
          <a:blip r:embed="rId4"/>
          <a:stretch>
            <a:fillRect/>
          </a:stretch>
        </p:blipFill>
        <p:spPr>
          <a:xfrm>
            <a:off x="4720590" y="2023110"/>
            <a:ext cx="342900" cy="342900"/>
          </a:xfrm>
          <a:prstGeom prst="rect">
            <a:avLst/>
          </a:prstGeom>
        </p:spPr>
      </p:pic>
      <p:sp>
        <p:nvSpPr>
          <p:cNvPr id="12" name="Text 8"/>
          <p:cNvSpPr/>
          <p:nvPr/>
        </p:nvSpPr>
        <p:spPr>
          <a:xfrm>
            <a:off x="4480560" y="2651760"/>
            <a:ext cx="3063240" cy="365760"/>
          </a:xfrm>
          <a:prstGeom prst="rect">
            <a:avLst/>
          </a:prstGeom>
          <a:noFill/>
          <a:ln/>
        </p:spPr>
        <p:txBody>
          <a:bodyPr wrap="square" lIns="0" tIns="0" rIns="0" bIns="0" rtlCol="0" anchor="ctr"/>
          <a:lstStyle/>
          <a:p>
            <a:pPr marL="0" indent="0">
              <a:buNone/>
            </a:pPr>
            <a:r>
              <a:rPr lang="en-US" sz="1400" b="1" dirty="0">
                <a:solidFill>
                  <a:srgbClr val="0F172A"/>
                </a:solidFill>
                <a:latin typeface="Arial" pitchFamily="34" charset="0"/>
                <a:ea typeface="Arial" pitchFamily="34" charset="-122"/>
                <a:cs typeface="Arial" pitchFamily="34" charset="-120"/>
              </a:rPr>
              <a:t>Decision Tree</a:t>
            </a:r>
            <a:endParaRPr lang="en-US" sz="1400" dirty="0"/>
          </a:p>
        </p:txBody>
      </p:sp>
      <p:sp>
        <p:nvSpPr>
          <p:cNvPr id="13" name="Text 9"/>
          <p:cNvSpPr/>
          <p:nvPr/>
        </p:nvSpPr>
        <p:spPr>
          <a:xfrm>
            <a:off x="4480560" y="3017520"/>
            <a:ext cx="3063240" cy="5943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Arial" pitchFamily="34" charset="0"/>
                <a:ea typeface="Arial" pitchFamily="34" charset="-122"/>
                <a:cs typeface="Arial" pitchFamily="34" charset="-120"/>
              </a:rPr>
              <a:t>Rule-based splits, easy to visualize</a:t>
            </a:r>
            <a:endParaRPr lang="en-US" sz="1050" dirty="0"/>
          </a:p>
        </p:txBody>
      </p:sp>
      <p:sp>
        <p:nvSpPr>
          <p:cNvPr id="14" name="Shape 10"/>
          <p:cNvSpPr/>
          <p:nvPr/>
        </p:nvSpPr>
        <p:spPr>
          <a:xfrm>
            <a:off x="7955280" y="1600200"/>
            <a:ext cx="3520440" cy="2148840"/>
          </a:xfrm>
          <a:prstGeom prst="roundRect">
            <a:avLst>
              <a:gd name="adj" fmla="val 5957"/>
            </a:avLst>
          </a:prstGeom>
          <a:solidFill>
            <a:srgbClr val="F0FDF4"/>
          </a:solidFill>
          <a:ln w="19050">
            <a:solidFill>
              <a:srgbClr val="22C55E"/>
            </a:solidFill>
            <a:prstDash val="solid"/>
          </a:ln>
          <a:effectLst>
            <a:outerShdw blurRad="76200" dist="25400" dir="5400000" algn="bl" rotWithShape="0">
              <a:srgbClr val="0F172A">
                <a:alpha val="12000"/>
              </a:srgbClr>
            </a:outerShdw>
          </a:effectLst>
        </p:spPr>
        <p:txBody>
          <a:bodyPr/>
          <a:lstStyle/>
          <a:p>
            <a:endParaRPr lang="en-US"/>
          </a:p>
        </p:txBody>
      </p:sp>
      <p:sp>
        <p:nvSpPr>
          <p:cNvPr id="15" name="Shape 11"/>
          <p:cNvSpPr/>
          <p:nvPr/>
        </p:nvSpPr>
        <p:spPr>
          <a:xfrm>
            <a:off x="8252460" y="1851660"/>
            <a:ext cx="685800" cy="685800"/>
          </a:xfrm>
          <a:prstGeom prst="ellipse">
            <a:avLst/>
          </a:prstGeom>
          <a:solidFill>
            <a:srgbClr val="22C55E"/>
          </a:solidFill>
          <a:ln/>
          <a:effectLst>
            <a:outerShdw blurRad="76200" dist="25400" dir="5400000" algn="bl" rotWithShape="0">
              <a:srgbClr val="0F172A">
                <a:alpha val="12000"/>
              </a:srgbClr>
            </a:outerShdw>
          </a:effectLst>
        </p:spPr>
        <p:txBody>
          <a:bodyPr/>
          <a:lstStyle/>
          <a:p>
            <a:endParaRPr lang="en-US"/>
          </a:p>
        </p:txBody>
      </p:sp>
      <p:pic>
        <p:nvPicPr>
          <p:cNvPr id="16" name="Image 2" descr="/home/claude/assets/icons/FiLayers.png"/>
          <p:cNvPicPr>
            <a:picLocks noChangeAspect="1"/>
          </p:cNvPicPr>
          <p:nvPr/>
        </p:nvPicPr>
        <p:blipFill>
          <a:blip r:embed="rId5"/>
          <a:stretch>
            <a:fillRect/>
          </a:stretch>
        </p:blipFill>
        <p:spPr>
          <a:xfrm>
            <a:off x="8423910" y="2023110"/>
            <a:ext cx="342900" cy="342900"/>
          </a:xfrm>
          <a:prstGeom prst="rect">
            <a:avLst/>
          </a:prstGeom>
        </p:spPr>
      </p:pic>
      <p:sp>
        <p:nvSpPr>
          <p:cNvPr id="17" name="Shape 12"/>
          <p:cNvSpPr/>
          <p:nvPr/>
        </p:nvSpPr>
        <p:spPr>
          <a:xfrm>
            <a:off x="10241280" y="1764792"/>
            <a:ext cx="1051560" cy="292608"/>
          </a:xfrm>
          <a:prstGeom prst="roundRect">
            <a:avLst>
              <a:gd name="adj" fmla="val 50000"/>
            </a:avLst>
          </a:prstGeom>
          <a:solidFill>
            <a:srgbClr val="22C55E"/>
          </a:solidFill>
          <a:ln/>
        </p:spPr>
        <p:txBody>
          <a:bodyPr/>
          <a:lstStyle/>
          <a:p>
            <a:endParaRPr lang="en-US"/>
          </a:p>
        </p:txBody>
      </p:sp>
      <p:sp>
        <p:nvSpPr>
          <p:cNvPr id="18" name="Text 13"/>
          <p:cNvSpPr/>
          <p:nvPr/>
        </p:nvSpPr>
        <p:spPr>
          <a:xfrm>
            <a:off x="10241280" y="1764792"/>
            <a:ext cx="1051560"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SELECTED</a:t>
            </a:r>
            <a:endParaRPr lang="en-US" sz="850" dirty="0"/>
          </a:p>
        </p:txBody>
      </p:sp>
      <p:sp>
        <p:nvSpPr>
          <p:cNvPr id="19" name="Text 14"/>
          <p:cNvSpPr/>
          <p:nvPr/>
        </p:nvSpPr>
        <p:spPr>
          <a:xfrm>
            <a:off x="8183880" y="2651760"/>
            <a:ext cx="3063240" cy="365760"/>
          </a:xfrm>
          <a:prstGeom prst="rect">
            <a:avLst/>
          </a:prstGeom>
          <a:noFill/>
          <a:ln/>
        </p:spPr>
        <p:txBody>
          <a:bodyPr wrap="square" lIns="0" tIns="0" rIns="0" bIns="0" rtlCol="0" anchor="ctr"/>
          <a:lstStyle/>
          <a:p>
            <a:pPr marL="0" indent="0">
              <a:buNone/>
            </a:pPr>
            <a:r>
              <a:rPr lang="en-US" sz="1400" b="1" dirty="0">
                <a:solidFill>
                  <a:srgbClr val="0F172A"/>
                </a:solidFill>
                <a:latin typeface="Arial" pitchFamily="34" charset="0"/>
                <a:ea typeface="Arial" pitchFamily="34" charset="-122"/>
                <a:cs typeface="Arial" pitchFamily="34" charset="-120"/>
              </a:rPr>
              <a:t>Random Forest</a:t>
            </a:r>
            <a:endParaRPr lang="en-US" sz="1400" dirty="0"/>
          </a:p>
        </p:txBody>
      </p:sp>
      <p:sp>
        <p:nvSpPr>
          <p:cNvPr id="20" name="Text 15"/>
          <p:cNvSpPr/>
          <p:nvPr/>
        </p:nvSpPr>
        <p:spPr>
          <a:xfrm>
            <a:off x="8183880" y="3017520"/>
            <a:ext cx="3063240" cy="5943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Arial" pitchFamily="34" charset="0"/>
                <a:ea typeface="Arial" pitchFamily="34" charset="-122"/>
                <a:cs typeface="Arial" pitchFamily="34" charset="-120"/>
              </a:rPr>
              <a:t>Ensemble of trees — high accuracy</a:t>
            </a:r>
            <a:endParaRPr lang="en-US" sz="1050" dirty="0"/>
          </a:p>
        </p:txBody>
      </p:sp>
      <p:sp>
        <p:nvSpPr>
          <p:cNvPr id="21" name="Shape 16"/>
          <p:cNvSpPr/>
          <p:nvPr/>
        </p:nvSpPr>
        <p:spPr>
          <a:xfrm>
            <a:off x="548640" y="3977640"/>
            <a:ext cx="3520440" cy="2148840"/>
          </a:xfrm>
          <a:prstGeom prst="roundRect">
            <a:avLst>
              <a:gd name="adj" fmla="val 595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2" name="Shape 17"/>
          <p:cNvSpPr/>
          <p:nvPr/>
        </p:nvSpPr>
        <p:spPr>
          <a:xfrm>
            <a:off x="845820" y="4229100"/>
            <a:ext cx="685800" cy="68580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23" name="Image 3" descr="/home/claude/assets/icons/FiGrid.png"/>
          <p:cNvPicPr>
            <a:picLocks noChangeAspect="1"/>
          </p:cNvPicPr>
          <p:nvPr/>
        </p:nvPicPr>
        <p:blipFill>
          <a:blip r:embed="rId6"/>
          <a:stretch>
            <a:fillRect/>
          </a:stretch>
        </p:blipFill>
        <p:spPr>
          <a:xfrm>
            <a:off x="1017270" y="4400550"/>
            <a:ext cx="342900" cy="342900"/>
          </a:xfrm>
          <a:prstGeom prst="rect">
            <a:avLst/>
          </a:prstGeom>
        </p:spPr>
      </p:pic>
      <p:sp>
        <p:nvSpPr>
          <p:cNvPr id="24" name="Text 18"/>
          <p:cNvSpPr/>
          <p:nvPr/>
        </p:nvSpPr>
        <p:spPr>
          <a:xfrm>
            <a:off x="777240" y="5029200"/>
            <a:ext cx="3063240" cy="365760"/>
          </a:xfrm>
          <a:prstGeom prst="rect">
            <a:avLst/>
          </a:prstGeom>
          <a:noFill/>
          <a:ln/>
        </p:spPr>
        <p:txBody>
          <a:bodyPr wrap="square" lIns="0" tIns="0" rIns="0" bIns="0" rtlCol="0" anchor="ctr"/>
          <a:lstStyle/>
          <a:p>
            <a:pPr marL="0" indent="0">
              <a:buNone/>
            </a:pPr>
            <a:r>
              <a:rPr lang="en-US" sz="1400" b="1" dirty="0">
                <a:solidFill>
                  <a:srgbClr val="0F172A"/>
                </a:solidFill>
                <a:latin typeface="Arial" pitchFamily="34" charset="0"/>
                <a:ea typeface="Arial" pitchFamily="34" charset="-122"/>
                <a:cs typeface="Arial" pitchFamily="34" charset="-120"/>
              </a:rPr>
              <a:t>Support Vector Machine</a:t>
            </a:r>
            <a:endParaRPr lang="en-US" sz="1400" dirty="0"/>
          </a:p>
        </p:txBody>
      </p:sp>
      <p:sp>
        <p:nvSpPr>
          <p:cNvPr id="25" name="Text 19"/>
          <p:cNvSpPr/>
          <p:nvPr/>
        </p:nvSpPr>
        <p:spPr>
          <a:xfrm>
            <a:off x="777240" y="5394960"/>
            <a:ext cx="3063240" cy="5943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Arial" pitchFamily="34" charset="0"/>
                <a:ea typeface="Arial" pitchFamily="34" charset="-122"/>
                <a:cs typeface="Arial" pitchFamily="34" charset="-120"/>
              </a:rPr>
              <a:t>Finds the optimal separating margin</a:t>
            </a:r>
            <a:endParaRPr lang="en-US" sz="1050" dirty="0"/>
          </a:p>
        </p:txBody>
      </p:sp>
      <p:sp>
        <p:nvSpPr>
          <p:cNvPr id="26" name="Shape 20"/>
          <p:cNvSpPr/>
          <p:nvPr/>
        </p:nvSpPr>
        <p:spPr>
          <a:xfrm>
            <a:off x="4251960" y="3977640"/>
            <a:ext cx="3520440" cy="2148840"/>
          </a:xfrm>
          <a:prstGeom prst="roundRect">
            <a:avLst>
              <a:gd name="adj" fmla="val 595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7" name="Shape 21"/>
          <p:cNvSpPr/>
          <p:nvPr/>
        </p:nvSpPr>
        <p:spPr>
          <a:xfrm>
            <a:off x="4549140" y="4229100"/>
            <a:ext cx="685800" cy="68580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8" name="Image 4" descr="/home/claude/assets/icons/FiUsers.png"/>
          <p:cNvPicPr>
            <a:picLocks noChangeAspect="1"/>
          </p:cNvPicPr>
          <p:nvPr/>
        </p:nvPicPr>
        <p:blipFill>
          <a:blip r:embed="rId7"/>
          <a:stretch>
            <a:fillRect/>
          </a:stretch>
        </p:blipFill>
        <p:spPr>
          <a:xfrm>
            <a:off x="4720590" y="4400550"/>
            <a:ext cx="342900" cy="342900"/>
          </a:xfrm>
          <a:prstGeom prst="rect">
            <a:avLst/>
          </a:prstGeom>
        </p:spPr>
      </p:pic>
      <p:sp>
        <p:nvSpPr>
          <p:cNvPr id="29" name="Text 22"/>
          <p:cNvSpPr/>
          <p:nvPr/>
        </p:nvSpPr>
        <p:spPr>
          <a:xfrm>
            <a:off x="4480560" y="5029200"/>
            <a:ext cx="3063240" cy="365760"/>
          </a:xfrm>
          <a:prstGeom prst="rect">
            <a:avLst/>
          </a:prstGeom>
          <a:noFill/>
          <a:ln/>
        </p:spPr>
        <p:txBody>
          <a:bodyPr wrap="square" lIns="0" tIns="0" rIns="0" bIns="0" rtlCol="0" anchor="ctr"/>
          <a:lstStyle/>
          <a:p>
            <a:pPr marL="0" indent="0">
              <a:buNone/>
            </a:pPr>
            <a:r>
              <a:rPr lang="en-US" sz="1400" b="1" dirty="0">
                <a:solidFill>
                  <a:srgbClr val="0F172A"/>
                </a:solidFill>
                <a:latin typeface="Arial" pitchFamily="34" charset="0"/>
                <a:ea typeface="Arial" pitchFamily="34" charset="-122"/>
                <a:cs typeface="Arial" pitchFamily="34" charset="-120"/>
              </a:rPr>
              <a:t>K-Nearest Neighbors</a:t>
            </a:r>
            <a:endParaRPr lang="en-US" sz="1400" dirty="0"/>
          </a:p>
        </p:txBody>
      </p:sp>
      <p:sp>
        <p:nvSpPr>
          <p:cNvPr id="30" name="Text 23"/>
          <p:cNvSpPr/>
          <p:nvPr/>
        </p:nvSpPr>
        <p:spPr>
          <a:xfrm>
            <a:off x="4480560" y="5394960"/>
            <a:ext cx="3063240" cy="5943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Arial" pitchFamily="34" charset="0"/>
                <a:ea typeface="Arial" pitchFamily="34" charset="-122"/>
                <a:cs typeface="Arial" pitchFamily="34" charset="-120"/>
              </a:rPr>
              <a:t>Classifies by nearest data points</a:t>
            </a:r>
            <a:endParaRPr lang="en-US" sz="1050" dirty="0"/>
          </a:p>
        </p:txBody>
      </p:sp>
      <p:sp>
        <p:nvSpPr>
          <p:cNvPr id="31" name="Shape 24"/>
          <p:cNvSpPr/>
          <p:nvPr/>
        </p:nvSpPr>
        <p:spPr>
          <a:xfrm>
            <a:off x="7955280" y="3977640"/>
            <a:ext cx="3520440" cy="2148840"/>
          </a:xfrm>
          <a:prstGeom prst="roundRect">
            <a:avLst>
              <a:gd name="adj" fmla="val 595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32" name="Shape 25"/>
          <p:cNvSpPr/>
          <p:nvPr/>
        </p:nvSpPr>
        <p:spPr>
          <a:xfrm>
            <a:off x="8252460" y="4229100"/>
            <a:ext cx="685800" cy="68580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33" name="Image 5" descr="/home/claude/assets/icons/FiPercent.png"/>
          <p:cNvPicPr>
            <a:picLocks noChangeAspect="1"/>
          </p:cNvPicPr>
          <p:nvPr/>
        </p:nvPicPr>
        <p:blipFill>
          <a:blip r:embed="rId8"/>
          <a:stretch>
            <a:fillRect/>
          </a:stretch>
        </p:blipFill>
        <p:spPr>
          <a:xfrm>
            <a:off x="8423910" y="4400550"/>
            <a:ext cx="342900" cy="342900"/>
          </a:xfrm>
          <a:prstGeom prst="rect">
            <a:avLst/>
          </a:prstGeom>
        </p:spPr>
      </p:pic>
      <p:sp>
        <p:nvSpPr>
          <p:cNvPr id="34" name="Text 26"/>
          <p:cNvSpPr/>
          <p:nvPr/>
        </p:nvSpPr>
        <p:spPr>
          <a:xfrm>
            <a:off x="8183880" y="5029200"/>
            <a:ext cx="3063240" cy="365760"/>
          </a:xfrm>
          <a:prstGeom prst="rect">
            <a:avLst/>
          </a:prstGeom>
          <a:noFill/>
          <a:ln/>
        </p:spPr>
        <p:txBody>
          <a:bodyPr wrap="square" lIns="0" tIns="0" rIns="0" bIns="0" rtlCol="0" anchor="ctr"/>
          <a:lstStyle/>
          <a:p>
            <a:pPr marL="0" indent="0">
              <a:buNone/>
            </a:pPr>
            <a:r>
              <a:rPr lang="en-US" sz="1400" b="1" dirty="0">
                <a:solidFill>
                  <a:srgbClr val="0F172A"/>
                </a:solidFill>
                <a:latin typeface="Arial" pitchFamily="34" charset="0"/>
                <a:ea typeface="Arial" pitchFamily="34" charset="-122"/>
                <a:cs typeface="Arial" pitchFamily="34" charset="-120"/>
              </a:rPr>
              <a:t>Naive Bayes</a:t>
            </a:r>
            <a:endParaRPr lang="en-US" sz="1400" dirty="0"/>
          </a:p>
        </p:txBody>
      </p:sp>
      <p:sp>
        <p:nvSpPr>
          <p:cNvPr id="35" name="Text 27"/>
          <p:cNvSpPr/>
          <p:nvPr/>
        </p:nvSpPr>
        <p:spPr>
          <a:xfrm>
            <a:off x="8183880" y="5394960"/>
            <a:ext cx="3063240" cy="5943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Arial" pitchFamily="34" charset="0"/>
                <a:ea typeface="Arial" pitchFamily="34" charset="-122"/>
                <a:cs typeface="Arial" pitchFamily="34" charset="-120"/>
              </a:rPr>
              <a:t>Fast, probability-based classifier</a:t>
            </a:r>
            <a:endParaRPr lang="en-US" sz="1050" dirty="0"/>
          </a:p>
        </p:txBody>
      </p:sp>
      <p:sp>
        <p:nvSpPr>
          <p:cNvPr id="36" name="Text 28"/>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37" name="Text 29"/>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04  ·  MODELING</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Model Training Pipeline</a:t>
            </a:r>
            <a:endParaRPr lang="en-US" sz="3200" dirty="0"/>
          </a:p>
        </p:txBody>
      </p:sp>
      <p:sp>
        <p:nvSpPr>
          <p:cNvPr id="4" name="Shape 2"/>
          <p:cNvSpPr/>
          <p:nvPr/>
        </p:nvSpPr>
        <p:spPr>
          <a:xfrm>
            <a:off x="1769364" y="2377440"/>
            <a:ext cx="8668512" cy="0"/>
          </a:xfrm>
          <a:prstGeom prst="line">
            <a:avLst/>
          </a:prstGeom>
          <a:noFill/>
          <a:ln w="25400">
            <a:solidFill>
              <a:srgbClr val="E2E8F0"/>
            </a:solidFill>
            <a:prstDash val="solid"/>
          </a:ln>
        </p:spPr>
        <p:txBody>
          <a:bodyPr/>
          <a:lstStyle/>
          <a:p>
            <a:endParaRPr lang="en-US"/>
          </a:p>
        </p:txBody>
      </p:sp>
      <p:sp>
        <p:nvSpPr>
          <p:cNvPr id="5" name="Shape 3"/>
          <p:cNvSpPr/>
          <p:nvPr/>
        </p:nvSpPr>
        <p:spPr>
          <a:xfrm>
            <a:off x="1357884" y="1965960"/>
            <a:ext cx="822960" cy="82296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Scissors.png"/>
          <p:cNvPicPr>
            <a:picLocks noChangeAspect="1"/>
          </p:cNvPicPr>
          <p:nvPr/>
        </p:nvPicPr>
        <p:blipFill>
          <a:blip r:embed="rId3"/>
          <a:stretch>
            <a:fillRect/>
          </a:stretch>
        </p:blipFill>
        <p:spPr>
          <a:xfrm>
            <a:off x="1571854" y="2179930"/>
            <a:ext cx="395021" cy="395021"/>
          </a:xfrm>
          <a:prstGeom prst="rect">
            <a:avLst/>
          </a:prstGeom>
        </p:spPr>
      </p:pic>
      <p:pic>
        <p:nvPicPr>
          <p:cNvPr id="7" name="Image 1" descr="/home/claude/assets/icons/FiArrowRight.png"/>
          <p:cNvPicPr>
            <a:picLocks noChangeAspect="1"/>
          </p:cNvPicPr>
          <p:nvPr/>
        </p:nvPicPr>
        <p:blipFill>
          <a:blip r:embed="rId4"/>
          <a:stretch>
            <a:fillRect/>
          </a:stretch>
        </p:blipFill>
        <p:spPr>
          <a:xfrm>
            <a:off x="2715768" y="2240280"/>
            <a:ext cx="274320" cy="274320"/>
          </a:xfrm>
          <a:prstGeom prst="rect">
            <a:avLst/>
          </a:prstGeom>
        </p:spPr>
      </p:pic>
      <p:sp>
        <p:nvSpPr>
          <p:cNvPr id="8" name="Shape 4"/>
          <p:cNvSpPr/>
          <p:nvPr/>
        </p:nvSpPr>
        <p:spPr>
          <a:xfrm>
            <a:off x="2697480" y="2221992"/>
            <a:ext cx="310896" cy="310896"/>
          </a:xfrm>
          <a:prstGeom prst="ellipse">
            <a:avLst/>
          </a:prstGeom>
          <a:solidFill>
            <a:srgbClr val="94A3B8"/>
          </a:solidFill>
          <a:ln/>
        </p:spPr>
        <p:txBody>
          <a:bodyPr/>
          <a:lstStyle/>
          <a:p>
            <a:endParaRPr lang="en-US"/>
          </a:p>
        </p:txBody>
      </p:sp>
      <p:pic>
        <p:nvPicPr>
          <p:cNvPr id="9" name="Image 2" descr="/home/claude/assets/icons/FiArrowRight.png"/>
          <p:cNvPicPr>
            <a:picLocks noChangeAspect="1"/>
          </p:cNvPicPr>
          <p:nvPr/>
        </p:nvPicPr>
        <p:blipFill>
          <a:blip r:embed="rId4"/>
          <a:stretch>
            <a:fillRect/>
          </a:stretch>
        </p:blipFill>
        <p:spPr>
          <a:xfrm>
            <a:off x="2761488" y="2286000"/>
            <a:ext cx="182880" cy="182880"/>
          </a:xfrm>
          <a:prstGeom prst="rect">
            <a:avLst/>
          </a:prstGeom>
        </p:spPr>
      </p:pic>
      <p:sp>
        <p:nvSpPr>
          <p:cNvPr id="10" name="Text 5"/>
          <p:cNvSpPr/>
          <p:nvPr/>
        </p:nvSpPr>
        <p:spPr>
          <a:xfrm>
            <a:off x="731520" y="2971800"/>
            <a:ext cx="2075688"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Train / Test Split</a:t>
            </a:r>
            <a:endParaRPr lang="en-US" sz="1150" dirty="0"/>
          </a:p>
        </p:txBody>
      </p:sp>
      <p:sp>
        <p:nvSpPr>
          <p:cNvPr id="11" name="Text 6"/>
          <p:cNvSpPr/>
          <p:nvPr/>
        </p:nvSpPr>
        <p:spPr>
          <a:xfrm>
            <a:off x="731520" y="3456432"/>
            <a:ext cx="2075688" cy="64008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Arial" pitchFamily="34" charset="0"/>
                <a:ea typeface="Arial" pitchFamily="34" charset="-122"/>
                <a:cs typeface="Arial" pitchFamily="34" charset="-120"/>
              </a:rPr>
              <a:t>80% train, 20% test hold-out</a:t>
            </a:r>
            <a:endParaRPr lang="en-US" sz="900" dirty="0"/>
          </a:p>
        </p:txBody>
      </p:sp>
      <p:sp>
        <p:nvSpPr>
          <p:cNvPr id="12" name="Shape 7"/>
          <p:cNvSpPr/>
          <p:nvPr/>
        </p:nvSpPr>
        <p:spPr>
          <a:xfrm>
            <a:off x="3525012" y="1965960"/>
            <a:ext cx="822960" cy="82296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3" name="Image 3" descr="/home/claude/assets/icons/FiRepeat.png"/>
          <p:cNvPicPr>
            <a:picLocks noChangeAspect="1"/>
          </p:cNvPicPr>
          <p:nvPr/>
        </p:nvPicPr>
        <p:blipFill>
          <a:blip r:embed="rId5"/>
          <a:stretch>
            <a:fillRect/>
          </a:stretch>
        </p:blipFill>
        <p:spPr>
          <a:xfrm>
            <a:off x="3738982" y="2179930"/>
            <a:ext cx="395021" cy="395021"/>
          </a:xfrm>
          <a:prstGeom prst="rect">
            <a:avLst/>
          </a:prstGeom>
        </p:spPr>
      </p:pic>
      <p:pic>
        <p:nvPicPr>
          <p:cNvPr id="14" name="Image 4" descr="/home/claude/assets/icons/FiArrowRight.png"/>
          <p:cNvPicPr>
            <a:picLocks noChangeAspect="1"/>
          </p:cNvPicPr>
          <p:nvPr/>
        </p:nvPicPr>
        <p:blipFill>
          <a:blip r:embed="rId4"/>
          <a:stretch>
            <a:fillRect/>
          </a:stretch>
        </p:blipFill>
        <p:spPr>
          <a:xfrm>
            <a:off x="4882896" y="2240280"/>
            <a:ext cx="274320" cy="274320"/>
          </a:xfrm>
          <a:prstGeom prst="rect">
            <a:avLst/>
          </a:prstGeom>
        </p:spPr>
      </p:pic>
      <p:sp>
        <p:nvSpPr>
          <p:cNvPr id="15" name="Shape 8"/>
          <p:cNvSpPr/>
          <p:nvPr/>
        </p:nvSpPr>
        <p:spPr>
          <a:xfrm>
            <a:off x="4864608" y="2221992"/>
            <a:ext cx="310896" cy="310896"/>
          </a:xfrm>
          <a:prstGeom prst="ellipse">
            <a:avLst/>
          </a:prstGeom>
          <a:solidFill>
            <a:srgbClr val="94A3B8"/>
          </a:solidFill>
          <a:ln/>
        </p:spPr>
        <p:txBody>
          <a:bodyPr/>
          <a:lstStyle/>
          <a:p>
            <a:endParaRPr lang="en-US"/>
          </a:p>
        </p:txBody>
      </p:sp>
      <p:pic>
        <p:nvPicPr>
          <p:cNvPr id="16" name="Image 5" descr="/home/claude/assets/icons/FiArrowRight.png"/>
          <p:cNvPicPr>
            <a:picLocks noChangeAspect="1"/>
          </p:cNvPicPr>
          <p:nvPr/>
        </p:nvPicPr>
        <p:blipFill>
          <a:blip r:embed="rId4"/>
          <a:stretch>
            <a:fillRect/>
          </a:stretch>
        </p:blipFill>
        <p:spPr>
          <a:xfrm>
            <a:off x="4928616" y="2286000"/>
            <a:ext cx="182880" cy="182880"/>
          </a:xfrm>
          <a:prstGeom prst="rect">
            <a:avLst/>
          </a:prstGeom>
        </p:spPr>
      </p:pic>
      <p:sp>
        <p:nvSpPr>
          <p:cNvPr id="17" name="Text 9"/>
          <p:cNvSpPr/>
          <p:nvPr/>
        </p:nvSpPr>
        <p:spPr>
          <a:xfrm>
            <a:off x="2898648" y="2971800"/>
            <a:ext cx="2075688"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Cross Validation</a:t>
            </a:r>
            <a:endParaRPr lang="en-US" sz="1150" dirty="0"/>
          </a:p>
        </p:txBody>
      </p:sp>
      <p:sp>
        <p:nvSpPr>
          <p:cNvPr id="18" name="Text 10"/>
          <p:cNvSpPr/>
          <p:nvPr/>
        </p:nvSpPr>
        <p:spPr>
          <a:xfrm>
            <a:off x="2898648" y="3456432"/>
            <a:ext cx="2075688" cy="64008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Arial" pitchFamily="34" charset="0"/>
                <a:ea typeface="Arial" pitchFamily="34" charset="-122"/>
                <a:cs typeface="Arial" pitchFamily="34" charset="-120"/>
              </a:rPr>
              <a:t>5-fold CV for stable estimates</a:t>
            </a:r>
            <a:endParaRPr lang="en-US" sz="900" dirty="0"/>
          </a:p>
        </p:txBody>
      </p:sp>
      <p:sp>
        <p:nvSpPr>
          <p:cNvPr id="19" name="Shape 11"/>
          <p:cNvSpPr/>
          <p:nvPr/>
        </p:nvSpPr>
        <p:spPr>
          <a:xfrm>
            <a:off x="5692140" y="1965960"/>
            <a:ext cx="822960" cy="82296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0" name="Image 6" descr="/home/claude/assets/icons/FiSliders.png"/>
          <p:cNvPicPr>
            <a:picLocks noChangeAspect="1"/>
          </p:cNvPicPr>
          <p:nvPr/>
        </p:nvPicPr>
        <p:blipFill>
          <a:blip r:embed="rId6"/>
          <a:stretch>
            <a:fillRect/>
          </a:stretch>
        </p:blipFill>
        <p:spPr>
          <a:xfrm>
            <a:off x="5906110" y="2179930"/>
            <a:ext cx="395021" cy="395021"/>
          </a:xfrm>
          <a:prstGeom prst="rect">
            <a:avLst/>
          </a:prstGeom>
        </p:spPr>
      </p:pic>
      <p:pic>
        <p:nvPicPr>
          <p:cNvPr id="21" name="Image 7" descr="/home/claude/assets/icons/FiArrowRight.png"/>
          <p:cNvPicPr>
            <a:picLocks noChangeAspect="1"/>
          </p:cNvPicPr>
          <p:nvPr/>
        </p:nvPicPr>
        <p:blipFill>
          <a:blip r:embed="rId4"/>
          <a:stretch>
            <a:fillRect/>
          </a:stretch>
        </p:blipFill>
        <p:spPr>
          <a:xfrm>
            <a:off x="7050024" y="2240280"/>
            <a:ext cx="274320" cy="274320"/>
          </a:xfrm>
          <a:prstGeom prst="rect">
            <a:avLst/>
          </a:prstGeom>
        </p:spPr>
      </p:pic>
      <p:sp>
        <p:nvSpPr>
          <p:cNvPr id="22" name="Shape 12"/>
          <p:cNvSpPr/>
          <p:nvPr/>
        </p:nvSpPr>
        <p:spPr>
          <a:xfrm>
            <a:off x="7031736" y="2221992"/>
            <a:ext cx="310896" cy="310896"/>
          </a:xfrm>
          <a:prstGeom prst="ellipse">
            <a:avLst/>
          </a:prstGeom>
          <a:solidFill>
            <a:srgbClr val="94A3B8"/>
          </a:solidFill>
          <a:ln/>
        </p:spPr>
        <p:txBody>
          <a:bodyPr/>
          <a:lstStyle/>
          <a:p>
            <a:endParaRPr lang="en-US"/>
          </a:p>
        </p:txBody>
      </p:sp>
      <p:pic>
        <p:nvPicPr>
          <p:cNvPr id="23" name="Image 8" descr="/home/claude/assets/icons/FiArrowRight.png"/>
          <p:cNvPicPr>
            <a:picLocks noChangeAspect="1"/>
          </p:cNvPicPr>
          <p:nvPr/>
        </p:nvPicPr>
        <p:blipFill>
          <a:blip r:embed="rId4"/>
          <a:stretch>
            <a:fillRect/>
          </a:stretch>
        </p:blipFill>
        <p:spPr>
          <a:xfrm>
            <a:off x="7095744" y="2286000"/>
            <a:ext cx="182880" cy="182880"/>
          </a:xfrm>
          <a:prstGeom prst="rect">
            <a:avLst/>
          </a:prstGeom>
        </p:spPr>
      </p:pic>
      <p:sp>
        <p:nvSpPr>
          <p:cNvPr id="24" name="Text 13"/>
          <p:cNvSpPr/>
          <p:nvPr/>
        </p:nvSpPr>
        <p:spPr>
          <a:xfrm>
            <a:off x="5065776" y="2971800"/>
            <a:ext cx="2075688"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Hyperparameter Tuning</a:t>
            </a:r>
            <a:endParaRPr lang="en-US" sz="1150" dirty="0"/>
          </a:p>
        </p:txBody>
      </p:sp>
      <p:sp>
        <p:nvSpPr>
          <p:cNvPr id="25" name="Text 14"/>
          <p:cNvSpPr/>
          <p:nvPr/>
        </p:nvSpPr>
        <p:spPr>
          <a:xfrm>
            <a:off x="5065776" y="3456432"/>
            <a:ext cx="2075688" cy="64008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Arial" pitchFamily="34" charset="0"/>
                <a:ea typeface="Arial" pitchFamily="34" charset="-122"/>
                <a:cs typeface="Arial" pitchFamily="34" charset="-120"/>
              </a:rPr>
              <a:t>GridSearchCV over key parameters</a:t>
            </a:r>
            <a:endParaRPr lang="en-US" sz="900" dirty="0"/>
          </a:p>
        </p:txBody>
      </p:sp>
      <p:sp>
        <p:nvSpPr>
          <p:cNvPr id="26" name="Shape 15"/>
          <p:cNvSpPr/>
          <p:nvPr/>
        </p:nvSpPr>
        <p:spPr>
          <a:xfrm>
            <a:off x="7859268" y="1965960"/>
            <a:ext cx="822960" cy="82296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7" name="Image 9" descr="/home/claude/assets/icons/FiCheckCircle.png"/>
          <p:cNvPicPr>
            <a:picLocks noChangeAspect="1"/>
          </p:cNvPicPr>
          <p:nvPr/>
        </p:nvPicPr>
        <p:blipFill>
          <a:blip r:embed="rId7"/>
          <a:stretch>
            <a:fillRect/>
          </a:stretch>
        </p:blipFill>
        <p:spPr>
          <a:xfrm>
            <a:off x="8073238" y="2179930"/>
            <a:ext cx="395021" cy="395021"/>
          </a:xfrm>
          <a:prstGeom prst="rect">
            <a:avLst/>
          </a:prstGeom>
        </p:spPr>
      </p:pic>
      <p:pic>
        <p:nvPicPr>
          <p:cNvPr id="28" name="Image 10" descr="/home/claude/assets/icons/FiArrowRight.png"/>
          <p:cNvPicPr>
            <a:picLocks noChangeAspect="1"/>
          </p:cNvPicPr>
          <p:nvPr/>
        </p:nvPicPr>
        <p:blipFill>
          <a:blip r:embed="rId4"/>
          <a:stretch>
            <a:fillRect/>
          </a:stretch>
        </p:blipFill>
        <p:spPr>
          <a:xfrm>
            <a:off x="9217152" y="2240280"/>
            <a:ext cx="274320" cy="274320"/>
          </a:xfrm>
          <a:prstGeom prst="rect">
            <a:avLst/>
          </a:prstGeom>
        </p:spPr>
      </p:pic>
      <p:sp>
        <p:nvSpPr>
          <p:cNvPr id="29" name="Shape 16"/>
          <p:cNvSpPr/>
          <p:nvPr/>
        </p:nvSpPr>
        <p:spPr>
          <a:xfrm>
            <a:off x="9198864" y="2221992"/>
            <a:ext cx="310896" cy="310896"/>
          </a:xfrm>
          <a:prstGeom prst="ellipse">
            <a:avLst/>
          </a:prstGeom>
          <a:solidFill>
            <a:srgbClr val="94A3B8"/>
          </a:solidFill>
          <a:ln/>
        </p:spPr>
        <p:txBody>
          <a:bodyPr/>
          <a:lstStyle/>
          <a:p>
            <a:endParaRPr lang="en-US"/>
          </a:p>
        </p:txBody>
      </p:sp>
      <p:pic>
        <p:nvPicPr>
          <p:cNvPr id="30" name="Image 11" descr="/home/claude/assets/icons/FiArrowRight.png"/>
          <p:cNvPicPr>
            <a:picLocks noChangeAspect="1"/>
          </p:cNvPicPr>
          <p:nvPr/>
        </p:nvPicPr>
        <p:blipFill>
          <a:blip r:embed="rId4"/>
          <a:stretch>
            <a:fillRect/>
          </a:stretch>
        </p:blipFill>
        <p:spPr>
          <a:xfrm>
            <a:off x="9262872" y="2286000"/>
            <a:ext cx="182880" cy="182880"/>
          </a:xfrm>
          <a:prstGeom prst="rect">
            <a:avLst/>
          </a:prstGeom>
        </p:spPr>
      </p:pic>
      <p:sp>
        <p:nvSpPr>
          <p:cNvPr id="31" name="Text 17"/>
          <p:cNvSpPr/>
          <p:nvPr/>
        </p:nvSpPr>
        <p:spPr>
          <a:xfrm>
            <a:off x="7232904" y="2971800"/>
            <a:ext cx="2075688"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Model Comparison</a:t>
            </a:r>
            <a:endParaRPr lang="en-US" sz="1150" dirty="0"/>
          </a:p>
        </p:txBody>
      </p:sp>
      <p:sp>
        <p:nvSpPr>
          <p:cNvPr id="32" name="Text 18"/>
          <p:cNvSpPr/>
          <p:nvPr/>
        </p:nvSpPr>
        <p:spPr>
          <a:xfrm>
            <a:off x="7232904" y="3456432"/>
            <a:ext cx="2075688" cy="64008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Arial" pitchFamily="34" charset="0"/>
                <a:ea typeface="Arial" pitchFamily="34" charset="-122"/>
                <a:cs typeface="Arial" pitchFamily="34" charset="-120"/>
              </a:rPr>
              <a:t>Evaluate all six algorithms</a:t>
            </a:r>
            <a:endParaRPr lang="en-US" sz="900" dirty="0"/>
          </a:p>
        </p:txBody>
      </p:sp>
      <p:sp>
        <p:nvSpPr>
          <p:cNvPr id="33" name="Shape 19"/>
          <p:cNvSpPr/>
          <p:nvPr/>
        </p:nvSpPr>
        <p:spPr>
          <a:xfrm>
            <a:off x="10026396" y="1965960"/>
            <a:ext cx="822960" cy="822960"/>
          </a:xfrm>
          <a:prstGeom prst="ellipse">
            <a:avLst/>
          </a:prstGeom>
          <a:solidFill>
            <a:srgbClr val="22C55E"/>
          </a:solidFill>
          <a:ln/>
          <a:effectLst>
            <a:outerShdw blurRad="76200" dist="25400" dir="5400000" algn="bl" rotWithShape="0">
              <a:srgbClr val="0F172A">
                <a:alpha val="12000"/>
              </a:srgbClr>
            </a:outerShdw>
          </a:effectLst>
        </p:spPr>
        <p:txBody>
          <a:bodyPr/>
          <a:lstStyle/>
          <a:p>
            <a:endParaRPr lang="en-US"/>
          </a:p>
        </p:txBody>
      </p:sp>
      <p:pic>
        <p:nvPicPr>
          <p:cNvPr id="34" name="Image 12" descr="/home/claude/assets/icons/FiAward.png"/>
          <p:cNvPicPr>
            <a:picLocks noChangeAspect="1"/>
          </p:cNvPicPr>
          <p:nvPr/>
        </p:nvPicPr>
        <p:blipFill>
          <a:blip r:embed="rId8"/>
          <a:stretch>
            <a:fillRect/>
          </a:stretch>
        </p:blipFill>
        <p:spPr>
          <a:xfrm>
            <a:off x="10240366" y="2179930"/>
            <a:ext cx="395021" cy="395021"/>
          </a:xfrm>
          <a:prstGeom prst="rect">
            <a:avLst/>
          </a:prstGeom>
        </p:spPr>
      </p:pic>
      <p:sp>
        <p:nvSpPr>
          <p:cNvPr id="35" name="Text 20"/>
          <p:cNvSpPr/>
          <p:nvPr/>
        </p:nvSpPr>
        <p:spPr>
          <a:xfrm>
            <a:off x="9400032" y="2971800"/>
            <a:ext cx="2075688" cy="50292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Best Model Selected</a:t>
            </a:r>
            <a:endParaRPr lang="en-US" sz="1150" dirty="0"/>
          </a:p>
        </p:txBody>
      </p:sp>
      <p:sp>
        <p:nvSpPr>
          <p:cNvPr id="36" name="Text 21"/>
          <p:cNvSpPr/>
          <p:nvPr/>
        </p:nvSpPr>
        <p:spPr>
          <a:xfrm>
            <a:off x="9400032" y="3456432"/>
            <a:ext cx="2075688" cy="64008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Arial" pitchFamily="34" charset="0"/>
                <a:ea typeface="Arial" pitchFamily="34" charset="-122"/>
                <a:cs typeface="Arial" pitchFamily="34" charset="-120"/>
              </a:rPr>
              <a:t>Random Forest — highest accuracy</a:t>
            </a:r>
            <a:endParaRPr lang="en-US" sz="900" dirty="0"/>
          </a:p>
        </p:txBody>
      </p:sp>
      <p:sp>
        <p:nvSpPr>
          <p:cNvPr id="37" name="Shape 22"/>
          <p:cNvSpPr/>
          <p:nvPr/>
        </p:nvSpPr>
        <p:spPr>
          <a:xfrm>
            <a:off x="548640" y="4709160"/>
            <a:ext cx="10881360" cy="1417320"/>
          </a:xfrm>
          <a:prstGeom prst="roundRect">
            <a:avLst>
              <a:gd name="adj" fmla="val 903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38" name="Text 23"/>
          <p:cNvSpPr/>
          <p:nvPr/>
        </p:nvSpPr>
        <p:spPr>
          <a:xfrm>
            <a:off x="868680" y="4892040"/>
            <a:ext cx="4572000" cy="274320"/>
          </a:xfrm>
          <a:prstGeom prst="rect">
            <a:avLst/>
          </a:prstGeom>
          <a:noFill/>
          <a:ln/>
        </p:spPr>
        <p:txBody>
          <a:bodyPr wrap="square" lIns="0" tIns="0" rIns="0" bIns="0" rtlCol="0" anchor="ctr"/>
          <a:lstStyle/>
          <a:p>
            <a:pPr marL="0" indent="0">
              <a:buNone/>
            </a:pPr>
            <a:r>
              <a:rPr lang="en-US" sz="1200" b="1" dirty="0">
                <a:solidFill>
                  <a:srgbClr val="4F46E5"/>
                </a:solidFill>
                <a:latin typeface="Arial" pitchFamily="34" charset="0"/>
                <a:ea typeface="Arial" pitchFamily="34" charset="-122"/>
                <a:cs typeface="Arial" pitchFamily="34" charset="-120"/>
              </a:rPr>
              <a:t>Cross-validation in brief</a:t>
            </a:r>
            <a:endParaRPr lang="en-US" sz="1200" dirty="0"/>
          </a:p>
        </p:txBody>
      </p:sp>
      <p:sp>
        <p:nvSpPr>
          <p:cNvPr id="39" name="Text 24"/>
          <p:cNvSpPr/>
          <p:nvPr/>
        </p:nvSpPr>
        <p:spPr>
          <a:xfrm>
            <a:off x="868680" y="5166360"/>
            <a:ext cx="10241280" cy="822960"/>
          </a:xfrm>
          <a:prstGeom prst="rect">
            <a:avLst/>
          </a:prstGeom>
          <a:noFill/>
          <a:ln/>
        </p:spPr>
        <p:txBody>
          <a:bodyPr wrap="square" lIns="0" tIns="0" rIns="0" bIns="0" rtlCol="0" anchor="ctr"/>
          <a:lstStyle/>
          <a:p>
            <a:pPr marL="0" indent="0">
              <a:lnSpc>
                <a:spcPct val="125000"/>
              </a:lnSpc>
              <a:buNone/>
            </a:pPr>
            <a:r>
              <a:rPr lang="en-US" sz="1150" dirty="0">
                <a:solidFill>
                  <a:srgbClr val="64748B"/>
                </a:solidFill>
                <a:latin typeface="Arial" pitchFamily="34" charset="0"/>
                <a:ea typeface="Arial" pitchFamily="34" charset="-122"/>
                <a:cs typeface="Arial" pitchFamily="34" charset="-120"/>
              </a:rPr>
              <a:t>The training set is split into 5 folds; the model trains on 4 and validates on the 5th, rotating each time. This gives a more reliable accuracy estimate than a single split and reduces the risk of overfitting to one particular test set.</a:t>
            </a:r>
            <a:endParaRPr lang="en-US" sz="1150" dirty="0"/>
          </a:p>
        </p:txBody>
      </p:sp>
      <p:sp>
        <p:nvSpPr>
          <p:cNvPr id="40" name="Text 25"/>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41" name="Text 26"/>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05  ·  EVALUATION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Evaluation Metrics</a:t>
            </a:r>
            <a:endParaRPr lang="en-US" sz="3200" dirty="0"/>
          </a:p>
        </p:txBody>
      </p:sp>
      <p:sp>
        <p:nvSpPr>
          <p:cNvPr id="4" name="Shape 2"/>
          <p:cNvSpPr/>
          <p:nvPr/>
        </p:nvSpPr>
        <p:spPr>
          <a:xfrm>
            <a:off x="548640" y="1508760"/>
            <a:ext cx="2048256" cy="1737360"/>
          </a:xfrm>
          <a:prstGeom prst="roundRect">
            <a:avLst>
              <a:gd name="adj" fmla="val 631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Shape 3"/>
          <p:cNvSpPr/>
          <p:nvPr/>
        </p:nvSpPr>
        <p:spPr>
          <a:xfrm>
            <a:off x="1289304" y="1682496"/>
            <a:ext cx="566928" cy="56692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Target.png"/>
          <p:cNvPicPr>
            <a:picLocks noChangeAspect="1"/>
          </p:cNvPicPr>
          <p:nvPr/>
        </p:nvPicPr>
        <p:blipFill>
          <a:blip r:embed="rId3"/>
          <a:stretch>
            <a:fillRect/>
          </a:stretch>
        </p:blipFill>
        <p:spPr>
          <a:xfrm>
            <a:off x="1431036" y="1824228"/>
            <a:ext cx="283464" cy="283464"/>
          </a:xfrm>
          <a:prstGeom prst="rect">
            <a:avLst/>
          </a:prstGeom>
        </p:spPr>
      </p:pic>
      <p:sp>
        <p:nvSpPr>
          <p:cNvPr id="7" name="Text 4"/>
          <p:cNvSpPr/>
          <p:nvPr/>
        </p:nvSpPr>
        <p:spPr>
          <a:xfrm>
            <a:off x="640080" y="2331720"/>
            <a:ext cx="1865376" cy="292608"/>
          </a:xfrm>
          <a:prstGeom prst="rect">
            <a:avLst/>
          </a:prstGeom>
          <a:noFill/>
          <a:ln/>
        </p:spPr>
        <p:txBody>
          <a:bodyPr wrap="square" lIns="0" tIns="0" rIns="0" bIns="0" rtlCol="0" anchor="ctr"/>
          <a:lstStyle/>
          <a:p>
            <a:pPr marL="0" indent="0" algn="ctr">
              <a:buNone/>
            </a:pPr>
            <a:r>
              <a:rPr lang="en-US" sz="1200" b="1" dirty="0">
                <a:solidFill>
                  <a:srgbClr val="0F172A"/>
                </a:solidFill>
                <a:latin typeface="Arial" pitchFamily="34" charset="0"/>
                <a:ea typeface="Arial" pitchFamily="34" charset="-122"/>
                <a:cs typeface="Arial" pitchFamily="34" charset="-120"/>
              </a:rPr>
              <a:t>Accuracy</a:t>
            </a:r>
            <a:endParaRPr lang="en-US" sz="1200" dirty="0"/>
          </a:p>
        </p:txBody>
      </p:sp>
      <p:sp>
        <p:nvSpPr>
          <p:cNvPr id="8" name="Text 5"/>
          <p:cNvSpPr/>
          <p:nvPr/>
        </p:nvSpPr>
        <p:spPr>
          <a:xfrm>
            <a:off x="658368" y="2642616"/>
            <a:ext cx="1828800" cy="548640"/>
          </a:xfrm>
          <a:prstGeom prst="rect">
            <a:avLst/>
          </a:prstGeom>
          <a:noFill/>
          <a:ln/>
        </p:spPr>
        <p:txBody>
          <a:bodyPr wrap="square" lIns="0" tIns="0" rIns="0" bIns="0" rtlCol="0" anchor="ctr"/>
          <a:lstStyle/>
          <a:p>
            <a:pPr marL="0" indent="0" algn="ctr">
              <a:lnSpc>
                <a:spcPct val="115000"/>
              </a:lnSpc>
              <a:buNone/>
            </a:pPr>
            <a:r>
              <a:rPr lang="en-US" sz="830" dirty="0">
                <a:solidFill>
                  <a:srgbClr val="64748B"/>
                </a:solidFill>
                <a:latin typeface="Arial" pitchFamily="34" charset="0"/>
                <a:ea typeface="Arial" pitchFamily="34" charset="-122"/>
                <a:cs typeface="Arial" pitchFamily="34" charset="-120"/>
              </a:rPr>
              <a:t>Correct predictions / Total predictions</a:t>
            </a:r>
            <a:endParaRPr lang="en-US" sz="830" dirty="0"/>
          </a:p>
        </p:txBody>
      </p:sp>
      <p:sp>
        <p:nvSpPr>
          <p:cNvPr id="9" name="Shape 6"/>
          <p:cNvSpPr/>
          <p:nvPr/>
        </p:nvSpPr>
        <p:spPr>
          <a:xfrm>
            <a:off x="2743200" y="1508760"/>
            <a:ext cx="2048256" cy="1737360"/>
          </a:xfrm>
          <a:prstGeom prst="roundRect">
            <a:avLst>
              <a:gd name="adj" fmla="val 631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0" name="Shape 7"/>
          <p:cNvSpPr/>
          <p:nvPr/>
        </p:nvSpPr>
        <p:spPr>
          <a:xfrm>
            <a:off x="3483864" y="1682496"/>
            <a:ext cx="566928" cy="56692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1" name="Image 1" descr="/home/claude/assets/icons/FiCrosshair.png"/>
          <p:cNvPicPr>
            <a:picLocks noChangeAspect="1"/>
          </p:cNvPicPr>
          <p:nvPr/>
        </p:nvPicPr>
        <p:blipFill>
          <a:blip r:embed="rId3"/>
          <a:stretch>
            <a:fillRect/>
          </a:stretch>
        </p:blipFill>
        <p:spPr>
          <a:xfrm>
            <a:off x="3625596" y="1824228"/>
            <a:ext cx="283464" cy="283464"/>
          </a:xfrm>
          <a:prstGeom prst="rect">
            <a:avLst/>
          </a:prstGeom>
        </p:spPr>
      </p:pic>
      <p:sp>
        <p:nvSpPr>
          <p:cNvPr id="12" name="Text 8"/>
          <p:cNvSpPr/>
          <p:nvPr/>
        </p:nvSpPr>
        <p:spPr>
          <a:xfrm>
            <a:off x="2834640" y="2331720"/>
            <a:ext cx="1865376" cy="292608"/>
          </a:xfrm>
          <a:prstGeom prst="rect">
            <a:avLst/>
          </a:prstGeom>
          <a:noFill/>
          <a:ln/>
        </p:spPr>
        <p:txBody>
          <a:bodyPr wrap="square" lIns="0" tIns="0" rIns="0" bIns="0" rtlCol="0" anchor="ctr"/>
          <a:lstStyle/>
          <a:p>
            <a:pPr marL="0" indent="0" algn="ctr">
              <a:buNone/>
            </a:pPr>
            <a:r>
              <a:rPr lang="en-US" sz="1200" b="1" dirty="0">
                <a:solidFill>
                  <a:srgbClr val="0F172A"/>
                </a:solidFill>
                <a:latin typeface="Arial" pitchFamily="34" charset="0"/>
                <a:ea typeface="Arial" pitchFamily="34" charset="-122"/>
                <a:cs typeface="Arial" pitchFamily="34" charset="-120"/>
              </a:rPr>
              <a:t>Precision</a:t>
            </a:r>
            <a:endParaRPr lang="en-US" sz="1200" dirty="0"/>
          </a:p>
        </p:txBody>
      </p:sp>
      <p:sp>
        <p:nvSpPr>
          <p:cNvPr id="13" name="Text 9"/>
          <p:cNvSpPr/>
          <p:nvPr/>
        </p:nvSpPr>
        <p:spPr>
          <a:xfrm>
            <a:off x="2852928" y="2642616"/>
            <a:ext cx="1828800" cy="548640"/>
          </a:xfrm>
          <a:prstGeom prst="rect">
            <a:avLst/>
          </a:prstGeom>
          <a:noFill/>
          <a:ln/>
        </p:spPr>
        <p:txBody>
          <a:bodyPr wrap="square" lIns="0" tIns="0" rIns="0" bIns="0" rtlCol="0" anchor="ctr"/>
          <a:lstStyle/>
          <a:p>
            <a:pPr marL="0" indent="0" algn="ctr">
              <a:lnSpc>
                <a:spcPct val="115000"/>
              </a:lnSpc>
              <a:buNone/>
            </a:pPr>
            <a:r>
              <a:rPr lang="en-US" sz="830" dirty="0">
                <a:solidFill>
                  <a:srgbClr val="64748B"/>
                </a:solidFill>
                <a:latin typeface="Arial" pitchFamily="34" charset="0"/>
                <a:ea typeface="Arial" pitchFamily="34" charset="-122"/>
                <a:cs typeface="Arial" pitchFamily="34" charset="-120"/>
              </a:rPr>
              <a:t>True Positives / (TP + False Positives)</a:t>
            </a:r>
            <a:endParaRPr lang="en-US" sz="830" dirty="0"/>
          </a:p>
        </p:txBody>
      </p:sp>
      <p:sp>
        <p:nvSpPr>
          <p:cNvPr id="14" name="Shape 10"/>
          <p:cNvSpPr/>
          <p:nvPr/>
        </p:nvSpPr>
        <p:spPr>
          <a:xfrm>
            <a:off x="4937760" y="1508760"/>
            <a:ext cx="2048256" cy="1737360"/>
          </a:xfrm>
          <a:prstGeom prst="roundRect">
            <a:avLst>
              <a:gd name="adj" fmla="val 631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5" name="Shape 11"/>
          <p:cNvSpPr/>
          <p:nvPr/>
        </p:nvSpPr>
        <p:spPr>
          <a:xfrm>
            <a:off x="5678424" y="1682496"/>
            <a:ext cx="566928" cy="56692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6" name="Image 2" descr="/home/claude/assets/icons/FiSearch.png"/>
          <p:cNvPicPr>
            <a:picLocks noChangeAspect="1"/>
          </p:cNvPicPr>
          <p:nvPr/>
        </p:nvPicPr>
        <p:blipFill>
          <a:blip r:embed="rId4"/>
          <a:stretch>
            <a:fillRect/>
          </a:stretch>
        </p:blipFill>
        <p:spPr>
          <a:xfrm>
            <a:off x="5820156" y="1824228"/>
            <a:ext cx="283464" cy="283464"/>
          </a:xfrm>
          <a:prstGeom prst="rect">
            <a:avLst/>
          </a:prstGeom>
        </p:spPr>
      </p:pic>
      <p:sp>
        <p:nvSpPr>
          <p:cNvPr id="17" name="Text 12"/>
          <p:cNvSpPr/>
          <p:nvPr/>
        </p:nvSpPr>
        <p:spPr>
          <a:xfrm>
            <a:off x="5029200" y="2331720"/>
            <a:ext cx="1865376" cy="292608"/>
          </a:xfrm>
          <a:prstGeom prst="rect">
            <a:avLst/>
          </a:prstGeom>
          <a:noFill/>
          <a:ln/>
        </p:spPr>
        <p:txBody>
          <a:bodyPr wrap="square" lIns="0" tIns="0" rIns="0" bIns="0" rtlCol="0" anchor="ctr"/>
          <a:lstStyle/>
          <a:p>
            <a:pPr marL="0" indent="0" algn="ctr">
              <a:buNone/>
            </a:pPr>
            <a:r>
              <a:rPr lang="en-US" sz="1200" b="1" dirty="0">
                <a:solidFill>
                  <a:srgbClr val="0F172A"/>
                </a:solidFill>
                <a:latin typeface="Arial" pitchFamily="34" charset="0"/>
                <a:ea typeface="Arial" pitchFamily="34" charset="-122"/>
                <a:cs typeface="Arial" pitchFamily="34" charset="-120"/>
              </a:rPr>
              <a:t>Recall</a:t>
            </a:r>
            <a:endParaRPr lang="en-US" sz="1200" dirty="0"/>
          </a:p>
        </p:txBody>
      </p:sp>
      <p:sp>
        <p:nvSpPr>
          <p:cNvPr id="18" name="Text 13"/>
          <p:cNvSpPr/>
          <p:nvPr/>
        </p:nvSpPr>
        <p:spPr>
          <a:xfrm>
            <a:off x="5047488" y="2642616"/>
            <a:ext cx="1828800" cy="548640"/>
          </a:xfrm>
          <a:prstGeom prst="rect">
            <a:avLst/>
          </a:prstGeom>
          <a:noFill/>
          <a:ln/>
        </p:spPr>
        <p:txBody>
          <a:bodyPr wrap="square" lIns="0" tIns="0" rIns="0" bIns="0" rtlCol="0" anchor="ctr"/>
          <a:lstStyle/>
          <a:p>
            <a:pPr marL="0" indent="0" algn="ctr">
              <a:lnSpc>
                <a:spcPct val="115000"/>
              </a:lnSpc>
              <a:buNone/>
            </a:pPr>
            <a:r>
              <a:rPr lang="en-US" sz="830" dirty="0">
                <a:solidFill>
                  <a:srgbClr val="64748B"/>
                </a:solidFill>
                <a:latin typeface="Arial" pitchFamily="34" charset="0"/>
                <a:ea typeface="Arial" pitchFamily="34" charset="-122"/>
                <a:cs typeface="Arial" pitchFamily="34" charset="-120"/>
              </a:rPr>
              <a:t>True Positives / (TP + False Negatives)</a:t>
            </a:r>
            <a:endParaRPr lang="en-US" sz="830" dirty="0"/>
          </a:p>
        </p:txBody>
      </p:sp>
      <p:sp>
        <p:nvSpPr>
          <p:cNvPr id="19" name="Shape 14"/>
          <p:cNvSpPr/>
          <p:nvPr/>
        </p:nvSpPr>
        <p:spPr>
          <a:xfrm>
            <a:off x="7132320" y="1508760"/>
            <a:ext cx="2048256" cy="1737360"/>
          </a:xfrm>
          <a:prstGeom prst="roundRect">
            <a:avLst>
              <a:gd name="adj" fmla="val 631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0" name="Shape 15"/>
          <p:cNvSpPr/>
          <p:nvPr/>
        </p:nvSpPr>
        <p:spPr>
          <a:xfrm>
            <a:off x="7872984" y="1682496"/>
            <a:ext cx="566928" cy="56692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1" name="Image 3" descr="/home/claude/assets/icons/FiAward.png"/>
          <p:cNvPicPr>
            <a:picLocks noChangeAspect="1"/>
          </p:cNvPicPr>
          <p:nvPr/>
        </p:nvPicPr>
        <p:blipFill>
          <a:blip r:embed="rId5"/>
          <a:stretch>
            <a:fillRect/>
          </a:stretch>
        </p:blipFill>
        <p:spPr>
          <a:xfrm>
            <a:off x="8014716" y="1824228"/>
            <a:ext cx="283464" cy="283464"/>
          </a:xfrm>
          <a:prstGeom prst="rect">
            <a:avLst/>
          </a:prstGeom>
        </p:spPr>
      </p:pic>
      <p:sp>
        <p:nvSpPr>
          <p:cNvPr id="22" name="Text 16"/>
          <p:cNvSpPr/>
          <p:nvPr/>
        </p:nvSpPr>
        <p:spPr>
          <a:xfrm>
            <a:off x="7223760" y="2331720"/>
            <a:ext cx="1865376" cy="292608"/>
          </a:xfrm>
          <a:prstGeom prst="rect">
            <a:avLst/>
          </a:prstGeom>
          <a:noFill/>
          <a:ln/>
        </p:spPr>
        <p:txBody>
          <a:bodyPr wrap="square" lIns="0" tIns="0" rIns="0" bIns="0" rtlCol="0" anchor="ctr"/>
          <a:lstStyle/>
          <a:p>
            <a:pPr marL="0" indent="0" algn="ctr">
              <a:buNone/>
            </a:pPr>
            <a:r>
              <a:rPr lang="en-US" sz="1200" b="1" dirty="0">
                <a:solidFill>
                  <a:srgbClr val="0F172A"/>
                </a:solidFill>
                <a:latin typeface="Arial" pitchFamily="34" charset="0"/>
                <a:ea typeface="Arial" pitchFamily="34" charset="-122"/>
                <a:cs typeface="Arial" pitchFamily="34" charset="-120"/>
              </a:rPr>
              <a:t>F1 Score</a:t>
            </a:r>
            <a:endParaRPr lang="en-US" sz="1200" dirty="0"/>
          </a:p>
        </p:txBody>
      </p:sp>
      <p:sp>
        <p:nvSpPr>
          <p:cNvPr id="23" name="Text 17"/>
          <p:cNvSpPr/>
          <p:nvPr/>
        </p:nvSpPr>
        <p:spPr>
          <a:xfrm>
            <a:off x="7242048" y="2642616"/>
            <a:ext cx="1828800" cy="548640"/>
          </a:xfrm>
          <a:prstGeom prst="rect">
            <a:avLst/>
          </a:prstGeom>
          <a:noFill/>
          <a:ln/>
        </p:spPr>
        <p:txBody>
          <a:bodyPr wrap="square" lIns="0" tIns="0" rIns="0" bIns="0" rtlCol="0" anchor="ctr"/>
          <a:lstStyle/>
          <a:p>
            <a:pPr marL="0" indent="0" algn="ctr">
              <a:lnSpc>
                <a:spcPct val="115000"/>
              </a:lnSpc>
              <a:buNone/>
            </a:pPr>
            <a:r>
              <a:rPr lang="en-US" sz="830" dirty="0">
                <a:solidFill>
                  <a:srgbClr val="64748B"/>
                </a:solidFill>
                <a:latin typeface="Arial" pitchFamily="34" charset="0"/>
                <a:ea typeface="Arial" pitchFamily="34" charset="-122"/>
                <a:cs typeface="Arial" pitchFamily="34" charset="-120"/>
              </a:rPr>
              <a:t>2 × (Precision × Recall) / (P + R)</a:t>
            </a:r>
            <a:endParaRPr lang="en-US" sz="830" dirty="0"/>
          </a:p>
        </p:txBody>
      </p:sp>
      <p:sp>
        <p:nvSpPr>
          <p:cNvPr id="24" name="Shape 18"/>
          <p:cNvSpPr/>
          <p:nvPr/>
        </p:nvSpPr>
        <p:spPr>
          <a:xfrm>
            <a:off x="9326880" y="1508760"/>
            <a:ext cx="2048256" cy="1737360"/>
          </a:xfrm>
          <a:prstGeom prst="roundRect">
            <a:avLst>
              <a:gd name="adj" fmla="val 6316"/>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5" name="Shape 19"/>
          <p:cNvSpPr/>
          <p:nvPr/>
        </p:nvSpPr>
        <p:spPr>
          <a:xfrm>
            <a:off x="10067544" y="1682496"/>
            <a:ext cx="566928" cy="566928"/>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6" name="Image 4" descr="/home/claude/assets/icons/FiTrendingUp.png"/>
          <p:cNvPicPr>
            <a:picLocks noChangeAspect="1"/>
          </p:cNvPicPr>
          <p:nvPr/>
        </p:nvPicPr>
        <p:blipFill>
          <a:blip r:embed="rId6"/>
          <a:stretch>
            <a:fillRect/>
          </a:stretch>
        </p:blipFill>
        <p:spPr>
          <a:xfrm>
            <a:off x="10209276" y="1824228"/>
            <a:ext cx="283464" cy="283464"/>
          </a:xfrm>
          <a:prstGeom prst="rect">
            <a:avLst/>
          </a:prstGeom>
        </p:spPr>
      </p:pic>
      <p:sp>
        <p:nvSpPr>
          <p:cNvPr id="27" name="Text 20"/>
          <p:cNvSpPr/>
          <p:nvPr/>
        </p:nvSpPr>
        <p:spPr>
          <a:xfrm>
            <a:off x="9418320" y="2331720"/>
            <a:ext cx="1865376" cy="292608"/>
          </a:xfrm>
          <a:prstGeom prst="rect">
            <a:avLst/>
          </a:prstGeom>
          <a:noFill/>
          <a:ln/>
        </p:spPr>
        <p:txBody>
          <a:bodyPr wrap="square" lIns="0" tIns="0" rIns="0" bIns="0" rtlCol="0" anchor="ctr"/>
          <a:lstStyle/>
          <a:p>
            <a:pPr marL="0" indent="0" algn="ctr">
              <a:buNone/>
            </a:pPr>
            <a:r>
              <a:rPr lang="en-US" sz="1200" b="1" dirty="0">
                <a:solidFill>
                  <a:srgbClr val="0F172A"/>
                </a:solidFill>
                <a:latin typeface="Arial" pitchFamily="34" charset="0"/>
                <a:ea typeface="Arial" pitchFamily="34" charset="-122"/>
                <a:cs typeface="Arial" pitchFamily="34" charset="-120"/>
              </a:rPr>
              <a:t>ROC-AUC</a:t>
            </a:r>
            <a:endParaRPr lang="en-US" sz="1200" dirty="0"/>
          </a:p>
        </p:txBody>
      </p:sp>
      <p:sp>
        <p:nvSpPr>
          <p:cNvPr id="28" name="Text 21"/>
          <p:cNvSpPr/>
          <p:nvPr/>
        </p:nvSpPr>
        <p:spPr>
          <a:xfrm>
            <a:off x="9436608" y="2642616"/>
            <a:ext cx="1828800" cy="548640"/>
          </a:xfrm>
          <a:prstGeom prst="rect">
            <a:avLst/>
          </a:prstGeom>
          <a:noFill/>
          <a:ln/>
        </p:spPr>
        <p:txBody>
          <a:bodyPr wrap="square" lIns="0" tIns="0" rIns="0" bIns="0" rtlCol="0" anchor="ctr"/>
          <a:lstStyle/>
          <a:p>
            <a:pPr marL="0" indent="0" algn="ctr">
              <a:lnSpc>
                <a:spcPct val="115000"/>
              </a:lnSpc>
              <a:buNone/>
            </a:pPr>
            <a:r>
              <a:rPr lang="en-US" sz="830" dirty="0">
                <a:solidFill>
                  <a:srgbClr val="64748B"/>
                </a:solidFill>
                <a:latin typeface="Arial" pitchFamily="34" charset="0"/>
                <a:ea typeface="Arial" pitchFamily="34" charset="-122"/>
                <a:cs typeface="Arial" pitchFamily="34" charset="-120"/>
              </a:rPr>
              <a:t>Area under the ROC curve</a:t>
            </a:r>
            <a:endParaRPr lang="en-US" sz="830" dirty="0"/>
          </a:p>
        </p:txBody>
      </p:sp>
      <p:sp>
        <p:nvSpPr>
          <p:cNvPr id="29" name="Text 22"/>
          <p:cNvSpPr/>
          <p:nvPr/>
        </p:nvSpPr>
        <p:spPr>
          <a:xfrm>
            <a:off x="548640" y="3566160"/>
            <a:ext cx="4572000" cy="292608"/>
          </a:xfrm>
          <a:prstGeom prst="rect">
            <a:avLst/>
          </a:prstGeom>
          <a:noFill/>
          <a:ln/>
        </p:spPr>
        <p:txBody>
          <a:bodyPr wrap="square" lIns="0" tIns="0" rIns="0" bIns="0" rtlCol="0" anchor="ctr"/>
          <a:lstStyle/>
          <a:p>
            <a:pPr marL="0" indent="0">
              <a:buNone/>
            </a:pPr>
            <a:r>
              <a:rPr lang="en-US" sz="1300" b="1" dirty="0">
                <a:solidFill>
                  <a:srgbClr val="0F172A"/>
                </a:solidFill>
                <a:latin typeface="Arial" pitchFamily="34" charset="0"/>
                <a:ea typeface="Arial" pitchFamily="34" charset="-122"/>
                <a:cs typeface="Arial" pitchFamily="34" charset="-120"/>
              </a:rPr>
              <a:t>Confusion Matrix (illustrative)</a:t>
            </a:r>
            <a:endParaRPr lang="en-US" sz="1300" dirty="0"/>
          </a:p>
        </p:txBody>
      </p:sp>
      <p:sp>
        <p:nvSpPr>
          <p:cNvPr id="30" name="Text 23"/>
          <p:cNvSpPr/>
          <p:nvPr/>
        </p:nvSpPr>
        <p:spPr>
          <a:xfrm>
            <a:off x="822960" y="4023360"/>
            <a:ext cx="914400" cy="914400"/>
          </a:xfrm>
          <a:prstGeom prst="rect">
            <a:avLst/>
          </a:prstGeom>
          <a:noFill/>
          <a:ln/>
        </p:spPr>
        <p:txBody>
          <a:bodyPr wrap="square" rtlCol="0" anchor="ctr"/>
          <a:lstStyle/>
          <a:p>
            <a:pPr marL="0" indent="0">
              <a:buNone/>
            </a:pPr>
            <a:endParaRPr lang="en-US" dirty="0"/>
          </a:p>
        </p:txBody>
      </p:sp>
      <p:sp>
        <p:nvSpPr>
          <p:cNvPr id="31" name="Text 24"/>
          <p:cNvSpPr/>
          <p:nvPr/>
        </p:nvSpPr>
        <p:spPr>
          <a:xfrm>
            <a:off x="2011680" y="3730752"/>
            <a:ext cx="960120" cy="274320"/>
          </a:xfrm>
          <a:prstGeom prst="rect">
            <a:avLst/>
          </a:prstGeom>
          <a:noFill/>
          <a:ln/>
        </p:spPr>
        <p:txBody>
          <a:bodyPr wrap="square" lIns="0" tIns="0" rIns="0" bIns="0" rtlCol="0" anchor="ctr"/>
          <a:lstStyle/>
          <a:p>
            <a:pPr marL="0" indent="0" algn="ctr">
              <a:buNone/>
            </a:pPr>
            <a:r>
              <a:rPr lang="en-US" sz="850" dirty="0">
                <a:solidFill>
                  <a:srgbClr val="64748B"/>
                </a:solidFill>
                <a:latin typeface="Arial" pitchFamily="34" charset="0"/>
                <a:ea typeface="Arial" pitchFamily="34" charset="-122"/>
                <a:cs typeface="Arial" pitchFamily="34" charset="-120"/>
              </a:rPr>
              <a:t>High-Risk</a:t>
            </a:r>
            <a:endParaRPr lang="en-US" sz="850" dirty="0"/>
          </a:p>
        </p:txBody>
      </p:sp>
      <p:sp>
        <p:nvSpPr>
          <p:cNvPr id="32" name="Text 25"/>
          <p:cNvSpPr/>
          <p:nvPr/>
        </p:nvSpPr>
        <p:spPr>
          <a:xfrm>
            <a:off x="2971800" y="3730752"/>
            <a:ext cx="960120" cy="274320"/>
          </a:xfrm>
          <a:prstGeom prst="rect">
            <a:avLst/>
          </a:prstGeom>
          <a:noFill/>
          <a:ln/>
        </p:spPr>
        <p:txBody>
          <a:bodyPr wrap="square" lIns="0" tIns="0" rIns="0" bIns="0" rtlCol="0" anchor="ctr"/>
          <a:lstStyle/>
          <a:p>
            <a:pPr marL="0" indent="0" algn="ctr">
              <a:buNone/>
            </a:pPr>
            <a:r>
              <a:rPr lang="en-US" sz="850" dirty="0">
                <a:solidFill>
                  <a:srgbClr val="64748B"/>
                </a:solidFill>
                <a:latin typeface="Arial" pitchFamily="34" charset="0"/>
                <a:ea typeface="Arial" pitchFamily="34" charset="-122"/>
                <a:cs typeface="Arial" pitchFamily="34" charset="-120"/>
              </a:rPr>
              <a:t>Low-Risk</a:t>
            </a:r>
            <a:endParaRPr lang="en-US" sz="850" dirty="0"/>
          </a:p>
        </p:txBody>
      </p:sp>
      <p:sp>
        <p:nvSpPr>
          <p:cNvPr id="33" name="Text 26"/>
          <p:cNvSpPr/>
          <p:nvPr/>
        </p:nvSpPr>
        <p:spPr>
          <a:xfrm>
            <a:off x="822960" y="4023360"/>
            <a:ext cx="1097280" cy="960120"/>
          </a:xfrm>
          <a:prstGeom prst="rect">
            <a:avLst/>
          </a:prstGeom>
          <a:noFill/>
          <a:ln/>
        </p:spPr>
        <p:txBody>
          <a:bodyPr wrap="square" lIns="0" tIns="0" rIns="0" bIns="0" rtlCol="0" anchor="ctr"/>
          <a:lstStyle/>
          <a:p>
            <a:pPr marL="0" indent="0" algn="r">
              <a:buNone/>
            </a:pPr>
            <a:r>
              <a:rPr lang="en-US" sz="850" dirty="0">
                <a:solidFill>
                  <a:srgbClr val="64748B"/>
                </a:solidFill>
                <a:latin typeface="Arial" pitchFamily="34" charset="0"/>
                <a:ea typeface="Arial" pitchFamily="34" charset="-122"/>
                <a:cs typeface="Arial" pitchFamily="34" charset="-120"/>
              </a:rPr>
              <a:t>High-Risk</a:t>
            </a:r>
            <a:endParaRPr lang="en-US" sz="850" dirty="0"/>
          </a:p>
        </p:txBody>
      </p:sp>
      <p:sp>
        <p:nvSpPr>
          <p:cNvPr id="34" name="Text 27"/>
          <p:cNvSpPr/>
          <p:nvPr/>
        </p:nvSpPr>
        <p:spPr>
          <a:xfrm>
            <a:off x="822960" y="4983480"/>
            <a:ext cx="1097280" cy="960120"/>
          </a:xfrm>
          <a:prstGeom prst="rect">
            <a:avLst/>
          </a:prstGeom>
          <a:noFill/>
          <a:ln/>
        </p:spPr>
        <p:txBody>
          <a:bodyPr wrap="square" lIns="0" tIns="0" rIns="0" bIns="0" rtlCol="0" anchor="ctr"/>
          <a:lstStyle/>
          <a:p>
            <a:pPr marL="0" indent="0" algn="r">
              <a:buNone/>
            </a:pPr>
            <a:r>
              <a:rPr lang="en-US" sz="850" dirty="0">
                <a:solidFill>
                  <a:srgbClr val="64748B"/>
                </a:solidFill>
                <a:latin typeface="Arial" pitchFamily="34" charset="0"/>
                <a:ea typeface="Arial" pitchFamily="34" charset="-122"/>
                <a:cs typeface="Arial" pitchFamily="34" charset="-120"/>
              </a:rPr>
              <a:t>Low-Risk</a:t>
            </a:r>
            <a:endParaRPr lang="en-US" sz="850" dirty="0"/>
          </a:p>
        </p:txBody>
      </p:sp>
      <p:sp>
        <p:nvSpPr>
          <p:cNvPr id="35" name="Shape 28"/>
          <p:cNvSpPr/>
          <p:nvPr/>
        </p:nvSpPr>
        <p:spPr>
          <a:xfrm>
            <a:off x="2011680" y="4023360"/>
            <a:ext cx="923544" cy="923544"/>
          </a:xfrm>
          <a:prstGeom prst="rect">
            <a:avLst/>
          </a:prstGeom>
          <a:solidFill>
            <a:srgbClr val="22C55E">
              <a:alpha val="75000"/>
            </a:srgbClr>
          </a:solidFill>
          <a:ln w="25400">
            <a:solidFill>
              <a:srgbClr val="FFFFFF"/>
            </a:solidFill>
            <a:prstDash val="solid"/>
          </a:ln>
        </p:spPr>
        <p:txBody>
          <a:bodyPr/>
          <a:lstStyle/>
          <a:p>
            <a:endParaRPr lang="en-US"/>
          </a:p>
        </p:txBody>
      </p:sp>
      <p:sp>
        <p:nvSpPr>
          <p:cNvPr id="36" name="Text 29"/>
          <p:cNvSpPr/>
          <p:nvPr/>
        </p:nvSpPr>
        <p:spPr>
          <a:xfrm>
            <a:off x="2011680" y="4023360"/>
            <a:ext cx="923544" cy="923544"/>
          </a:xfrm>
          <a:prstGeom prst="rect">
            <a:avLst/>
          </a:prstGeom>
          <a:noFill/>
          <a:ln/>
        </p:spPr>
        <p:txBody>
          <a:bodyPr wrap="square" lIns="0" tIns="0" rIns="0" bIns="0" rtlCol="0" anchor="ctr"/>
          <a:lstStyle/>
          <a:p>
            <a:pPr marL="0" indent="0" algn="ctr">
              <a:buNone/>
            </a:pPr>
            <a:r>
              <a:rPr lang="en-US" sz="1800" b="1" dirty="0">
                <a:solidFill>
                  <a:srgbClr val="14532D"/>
                </a:solidFill>
                <a:latin typeface="Arial" pitchFamily="34" charset="0"/>
                <a:ea typeface="Arial" pitchFamily="34" charset="-122"/>
                <a:cs typeface="Arial" pitchFamily="34" charset="-120"/>
              </a:rPr>
              <a:t>178</a:t>
            </a:r>
            <a:endParaRPr lang="en-US" sz="1800" dirty="0"/>
          </a:p>
        </p:txBody>
      </p:sp>
      <p:sp>
        <p:nvSpPr>
          <p:cNvPr id="37" name="Shape 30"/>
          <p:cNvSpPr/>
          <p:nvPr/>
        </p:nvSpPr>
        <p:spPr>
          <a:xfrm>
            <a:off x="2971800" y="4023360"/>
            <a:ext cx="923544" cy="923544"/>
          </a:xfrm>
          <a:prstGeom prst="rect">
            <a:avLst/>
          </a:prstGeom>
          <a:solidFill>
            <a:srgbClr val="EF4444">
              <a:alpha val="30000"/>
            </a:srgbClr>
          </a:solidFill>
          <a:ln w="25400">
            <a:solidFill>
              <a:srgbClr val="FFFFFF"/>
            </a:solidFill>
            <a:prstDash val="solid"/>
          </a:ln>
        </p:spPr>
        <p:txBody>
          <a:bodyPr/>
          <a:lstStyle/>
          <a:p>
            <a:endParaRPr lang="en-US"/>
          </a:p>
        </p:txBody>
      </p:sp>
      <p:sp>
        <p:nvSpPr>
          <p:cNvPr id="38" name="Text 31"/>
          <p:cNvSpPr/>
          <p:nvPr/>
        </p:nvSpPr>
        <p:spPr>
          <a:xfrm>
            <a:off x="2971800" y="4023360"/>
            <a:ext cx="923544" cy="923544"/>
          </a:xfrm>
          <a:prstGeom prst="rect">
            <a:avLst/>
          </a:prstGeom>
          <a:noFill/>
          <a:ln/>
        </p:spPr>
        <p:txBody>
          <a:bodyPr wrap="square" lIns="0" tIns="0" rIns="0" bIns="0" rtlCol="0" anchor="ctr"/>
          <a:lstStyle/>
          <a:p>
            <a:pPr marL="0" indent="0" algn="ctr">
              <a:buNone/>
            </a:pPr>
            <a:r>
              <a:rPr lang="en-US" sz="1800" b="1" dirty="0">
                <a:solidFill>
                  <a:srgbClr val="7F1D1D"/>
                </a:solidFill>
                <a:latin typeface="Arial" pitchFamily="34" charset="0"/>
                <a:ea typeface="Arial" pitchFamily="34" charset="-122"/>
                <a:cs typeface="Arial" pitchFamily="34" charset="-120"/>
              </a:rPr>
              <a:t>14</a:t>
            </a:r>
            <a:endParaRPr lang="en-US" sz="1800" dirty="0"/>
          </a:p>
        </p:txBody>
      </p:sp>
      <p:sp>
        <p:nvSpPr>
          <p:cNvPr id="39" name="Shape 32"/>
          <p:cNvSpPr/>
          <p:nvPr/>
        </p:nvSpPr>
        <p:spPr>
          <a:xfrm>
            <a:off x="2011680" y="4983480"/>
            <a:ext cx="923544" cy="923544"/>
          </a:xfrm>
          <a:prstGeom prst="rect">
            <a:avLst/>
          </a:prstGeom>
          <a:solidFill>
            <a:srgbClr val="EF4444">
              <a:alpha val="30000"/>
            </a:srgbClr>
          </a:solidFill>
          <a:ln w="25400">
            <a:solidFill>
              <a:srgbClr val="FFFFFF"/>
            </a:solidFill>
            <a:prstDash val="solid"/>
          </a:ln>
        </p:spPr>
        <p:txBody>
          <a:bodyPr/>
          <a:lstStyle/>
          <a:p>
            <a:endParaRPr lang="en-US"/>
          </a:p>
        </p:txBody>
      </p:sp>
      <p:sp>
        <p:nvSpPr>
          <p:cNvPr id="40" name="Text 33"/>
          <p:cNvSpPr/>
          <p:nvPr/>
        </p:nvSpPr>
        <p:spPr>
          <a:xfrm>
            <a:off x="2011680" y="4983480"/>
            <a:ext cx="923544" cy="923544"/>
          </a:xfrm>
          <a:prstGeom prst="rect">
            <a:avLst/>
          </a:prstGeom>
          <a:noFill/>
          <a:ln/>
        </p:spPr>
        <p:txBody>
          <a:bodyPr wrap="square" lIns="0" tIns="0" rIns="0" bIns="0" rtlCol="0" anchor="ctr"/>
          <a:lstStyle/>
          <a:p>
            <a:pPr marL="0" indent="0" algn="ctr">
              <a:buNone/>
            </a:pPr>
            <a:r>
              <a:rPr lang="en-US" sz="1800" b="1" dirty="0">
                <a:solidFill>
                  <a:srgbClr val="7F1D1D"/>
                </a:solidFill>
                <a:latin typeface="Arial" pitchFamily="34" charset="0"/>
                <a:ea typeface="Arial" pitchFamily="34" charset="-122"/>
                <a:cs typeface="Arial" pitchFamily="34" charset="-120"/>
              </a:rPr>
              <a:t>11</a:t>
            </a:r>
            <a:endParaRPr lang="en-US" sz="1800" dirty="0"/>
          </a:p>
        </p:txBody>
      </p:sp>
      <p:sp>
        <p:nvSpPr>
          <p:cNvPr id="41" name="Shape 34"/>
          <p:cNvSpPr/>
          <p:nvPr/>
        </p:nvSpPr>
        <p:spPr>
          <a:xfrm>
            <a:off x="2971800" y="4983480"/>
            <a:ext cx="923544" cy="923544"/>
          </a:xfrm>
          <a:prstGeom prst="rect">
            <a:avLst/>
          </a:prstGeom>
          <a:solidFill>
            <a:srgbClr val="22C55E">
              <a:alpha val="75000"/>
            </a:srgbClr>
          </a:solidFill>
          <a:ln w="25400">
            <a:solidFill>
              <a:srgbClr val="FFFFFF"/>
            </a:solidFill>
            <a:prstDash val="solid"/>
          </a:ln>
        </p:spPr>
        <p:txBody>
          <a:bodyPr/>
          <a:lstStyle/>
          <a:p>
            <a:endParaRPr lang="en-US"/>
          </a:p>
        </p:txBody>
      </p:sp>
      <p:sp>
        <p:nvSpPr>
          <p:cNvPr id="42" name="Text 35"/>
          <p:cNvSpPr/>
          <p:nvPr/>
        </p:nvSpPr>
        <p:spPr>
          <a:xfrm>
            <a:off x="2971800" y="4983480"/>
            <a:ext cx="923544" cy="923544"/>
          </a:xfrm>
          <a:prstGeom prst="rect">
            <a:avLst/>
          </a:prstGeom>
          <a:noFill/>
          <a:ln/>
        </p:spPr>
        <p:txBody>
          <a:bodyPr wrap="square" lIns="0" tIns="0" rIns="0" bIns="0" rtlCol="0" anchor="ctr"/>
          <a:lstStyle/>
          <a:p>
            <a:pPr marL="0" indent="0" algn="ctr">
              <a:buNone/>
            </a:pPr>
            <a:r>
              <a:rPr lang="en-US" sz="1800" b="1" dirty="0">
                <a:solidFill>
                  <a:srgbClr val="14532D"/>
                </a:solidFill>
                <a:latin typeface="Arial" pitchFamily="34" charset="0"/>
                <a:ea typeface="Arial" pitchFamily="34" charset="-122"/>
                <a:cs typeface="Arial" pitchFamily="34" charset="-120"/>
              </a:rPr>
              <a:t>197</a:t>
            </a:r>
            <a:endParaRPr lang="en-US" sz="1800" dirty="0"/>
          </a:p>
        </p:txBody>
      </p:sp>
      <p:sp>
        <p:nvSpPr>
          <p:cNvPr id="43" name="Shape 36"/>
          <p:cNvSpPr/>
          <p:nvPr/>
        </p:nvSpPr>
        <p:spPr>
          <a:xfrm>
            <a:off x="6126480" y="3566160"/>
            <a:ext cx="5303520" cy="2423160"/>
          </a:xfrm>
          <a:prstGeom prst="roundRect">
            <a:avLst>
              <a:gd name="adj" fmla="val 5283"/>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44" name="Text 37"/>
          <p:cNvSpPr/>
          <p:nvPr/>
        </p:nvSpPr>
        <p:spPr>
          <a:xfrm>
            <a:off x="6400800" y="3749040"/>
            <a:ext cx="4572000" cy="274320"/>
          </a:xfrm>
          <a:prstGeom prst="rect">
            <a:avLst/>
          </a:prstGeom>
          <a:noFill/>
          <a:ln/>
        </p:spPr>
        <p:txBody>
          <a:bodyPr wrap="square" lIns="0" tIns="0" rIns="0" bIns="0" rtlCol="0" anchor="ctr"/>
          <a:lstStyle/>
          <a:p>
            <a:pPr marL="0" indent="0">
              <a:buNone/>
            </a:pPr>
            <a:r>
              <a:rPr lang="en-US" sz="1200" b="1" dirty="0">
                <a:solidFill>
                  <a:srgbClr val="4F46E5"/>
                </a:solidFill>
                <a:latin typeface="Arial" pitchFamily="34" charset="0"/>
                <a:ea typeface="Arial" pitchFamily="34" charset="-122"/>
                <a:cs typeface="Arial" pitchFamily="34" charset="-120"/>
              </a:rPr>
              <a:t>Reading the matrix</a:t>
            </a:r>
            <a:endParaRPr lang="en-US" sz="1200" dirty="0"/>
          </a:p>
        </p:txBody>
      </p:sp>
      <p:sp>
        <p:nvSpPr>
          <p:cNvPr id="45" name="Text 38"/>
          <p:cNvSpPr/>
          <p:nvPr/>
        </p:nvSpPr>
        <p:spPr>
          <a:xfrm>
            <a:off x="6400800" y="4069080"/>
            <a:ext cx="4754880" cy="1737360"/>
          </a:xfrm>
          <a:prstGeom prst="rect">
            <a:avLst/>
          </a:prstGeom>
          <a:noFill/>
          <a:ln/>
        </p:spPr>
        <p:txBody>
          <a:bodyPr wrap="square" lIns="0" tIns="0" rIns="0" bIns="0" rtlCol="0" anchor="ctr"/>
          <a:lstStyle/>
          <a:p>
            <a:pPr marL="0" indent="0">
              <a:lnSpc>
                <a:spcPct val="130000"/>
              </a:lnSpc>
              <a:buNone/>
            </a:pPr>
            <a:r>
              <a:rPr lang="en-US" sz="1100" dirty="0">
                <a:solidFill>
                  <a:srgbClr val="64748B"/>
                </a:solidFill>
                <a:latin typeface="Arial" pitchFamily="34" charset="0"/>
                <a:ea typeface="Arial" pitchFamily="34" charset="-122"/>
                <a:cs typeface="Arial" pitchFamily="34" charset="-120"/>
              </a:rPr>
              <a:t>Diagonal cells (green) are correct predictions. Off-diagonal cells (red) are misclassifications — false positives and false negatives. Precision and recall are both derived directly from this matrix, giving a fuller picture than accuracy alone.</a:t>
            </a:r>
            <a:endParaRPr lang="en-US" sz="1100" dirty="0"/>
          </a:p>
        </p:txBody>
      </p:sp>
      <p:sp>
        <p:nvSpPr>
          <p:cNvPr id="46" name="Text 39"/>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47" name="Text 40"/>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05  ·  EVALUATION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Model Comparison — Results</a:t>
            </a:r>
            <a:endParaRPr lang="en-US" sz="3200" dirty="0"/>
          </a:p>
        </p:txBody>
      </p:sp>
      <p:sp>
        <p:nvSpPr>
          <p:cNvPr id="4" name="Text 2"/>
          <p:cNvSpPr/>
          <p:nvPr/>
        </p:nvSpPr>
        <p:spPr>
          <a:xfrm>
            <a:off x="548640" y="1234440"/>
            <a:ext cx="9601200" cy="320040"/>
          </a:xfrm>
          <a:prstGeom prst="rect">
            <a:avLst/>
          </a:prstGeom>
          <a:noFill/>
          <a:ln/>
        </p:spPr>
        <p:txBody>
          <a:bodyPr wrap="square" lIns="0" tIns="0" rIns="0" bIns="0" rtlCol="0" anchor="ctr"/>
          <a:lstStyle/>
          <a:p>
            <a:pPr marL="0" indent="0">
              <a:buNone/>
            </a:pPr>
            <a:r>
              <a:rPr lang="en-US" sz="1250" dirty="0">
                <a:solidFill>
                  <a:srgbClr val="64748B"/>
                </a:solidFill>
                <a:latin typeface="Arial" pitchFamily="34" charset="0"/>
                <a:ea typeface="Arial" pitchFamily="34" charset="-122"/>
                <a:cs typeface="Arial" pitchFamily="34" charset="-120"/>
              </a:rPr>
              <a:t>Random Forest achieved the highest accuracy and was selected as the final model</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0881360" cy="3712464"/>
        </p:xfrm>
        <a:graphic>
          <a:graphicData uri="http://schemas.openxmlformats.org/drawingml/2006/table">
            <a:tbl>
              <a:tblPr/>
              <a:tblGrid>
                <a:gridCol w="3200400">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gridCol w="1536192">
                  <a:extLst>
                    <a:ext uri="{9D8B030D-6E8A-4147-A177-3AD203B41FA5}">
                      <a16:colId xmlns:a16="http://schemas.microsoft.com/office/drawing/2014/main" val="20005"/>
                    </a:ext>
                  </a:extLst>
                </a:gridCol>
              </a:tblGrid>
              <a:tr h="530352">
                <a:tc>
                  <a:txBody>
                    <a:bodyPr/>
                    <a:lstStyle/>
                    <a:p>
                      <a:pPr marL="0" indent="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Accuracy</a:t>
                      </a:r>
                      <a:endParaRPr lang="en-US" sz="12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Precision</a:t>
                      </a:r>
                      <a:endParaRPr lang="en-US" sz="12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Recall</a:t>
                      </a:r>
                      <a:endParaRPr lang="en-US" sz="12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F1 Score</a:t>
                      </a:r>
                      <a:endParaRPr lang="en-US" sz="12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ROC-AUC</a:t>
                      </a:r>
                      <a:endParaRPr lang="en-US" sz="12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extLst>
                  <a:ext uri="{0D108BD9-81ED-4DB2-BD59-A6C34878D82A}">
                    <a16:rowId xmlns:a16="http://schemas.microsoft.com/office/drawing/2014/main" val="10000"/>
                  </a:ext>
                </a:extLst>
              </a:tr>
              <a:tr h="530352">
                <a:tc>
                  <a:txBody>
                    <a:bodyPr/>
                    <a:lstStyle/>
                    <a:p>
                      <a:pPr marL="0" indent="0" algn="l">
                        <a:buNone/>
                      </a:pPr>
                      <a:r>
                        <a:rPr lang="en-US" sz="1250" dirty="0">
                          <a:solidFill>
                            <a:srgbClr val="0F172A"/>
                          </a:solidFill>
                          <a:latin typeface="Arial" pitchFamily="34" charset="0"/>
                          <a:ea typeface="Arial" pitchFamily="34" charset="-122"/>
                          <a:cs typeface="Arial" pitchFamily="34" charset="-120"/>
                        </a:rPr>
                        <a:t>Logistic Regression</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82.3%</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81.0%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80.5%</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80.7%</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0.87</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250" dirty="0">
                          <a:solidFill>
                            <a:srgbClr val="0F172A"/>
                          </a:solidFill>
                          <a:latin typeface="Arial" pitchFamily="34" charset="0"/>
                          <a:ea typeface="Arial" pitchFamily="34" charset="-122"/>
                          <a:cs typeface="Arial" pitchFamily="34" charset="-120"/>
                        </a:rPr>
                        <a:t>Decision Tree</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85.1%</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84.3%</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83.9%</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84.1%</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0.88</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530352">
                <a:tc>
                  <a:txBody>
                    <a:bodyPr/>
                    <a:lstStyle/>
                    <a:p>
                      <a:pPr marL="0" indent="0" algn="l">
                        <a:buNone/>
                      </a:pPr>
                      <a:r>
                        <a:rPr lang="en-US" sz="1250" b="1" dirty="0">
                          <a:solidFill>
                            <a:srgbClr val="14532D"/>
                          </a:solidFill>
                          <a:latin typeface="Arial" pitchFamily="34" charset="0"/>
                          <a:ea typeface="Arial" pitchFamily="34" charset="-122"/>
                          <a:cs typeface="Arial" pitchFamily="34" charset="-120"/>
                        </a:rPr>
                        <a:t>Random Forest</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BBF7D0"/>
                    </a:solidFill>
                  </a:tcPr>
                </a:tc>
                <a:tc>
                  <a:txBody>
                    <a:bodyPr/>
                    <a:lstStyle/>
                    <a:p>
                      <a:pPr marL="0" indent="0" algn="ctr">
                        <a:buNone/>
                      </a:pPr>
                      <a:r>
                        <a:rPr lang="en-US" sz="1250" b="1" dirty="0">
                          <a:solidFill>
                            <a:srgbClr val="14532D"/>
                          </a:solidFill>
                          <a:latin typeface="Arial" pitchFamily="34" charset="0"/>
                          <a:ea typeface="Arial" pitchFamily="34" charset="-122"/>
                          <a:cs typeface="Arial" pitchFamily="34" charset="-120"/>
                        </a:rPr>
                        <a:t>91.4%</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BBF7D0"/>
                    </a:solidFill>
                  </a:tcPr>
                </a:tc>
                <a:tc>
                  <a:txBody>
                    <a:bodyPr/>
                    <a:lstStyle/>
                    <a:p>
                      <a:pPr marL="0" indent="0" algn="ctr">
                        <a:buNone/>
                      </a:pPr>
                      <a:r>
                        <a:rPr lang="en-US" sz="1250" b="1" dirty="0">
                          <a:solidFill>
                            <a:srgbClr val="14532D"/>
                          </a:solidFill>
                          <a:latin typeface="Arial" pitchFamily="34" charset="0"/>
                          <a:ea typeface="Arial" pitchFamily="34" charset="-122"/>
                          <a:cs typeface="Arial" pitchFamily="34" charset="-120"/>
                        </a:rPr>
                        <a:t>90.8%</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BBF7D0"/>
                    </a:solidFill>
                  </a:tcPr>
                </a:tc>
                <a:tc>
                  <a:txBody>
                    <a:bodyPr/>
                    <a:lstStyle/>
                    <a:p>
                      <a:pPr marL="0" indent="0" algn="ctr">
                        <a:buNone/>
                      </a:pPr>
                      <a:r>
                        <a:rPr lang="en-US" sz="1250" b="1" dirty="0">
                          <a:solidFill>
                            <a:srgbClr val="14532D"/>
                          </a:solidFill>
                          <a:latin typeface="Arial" pitchFamily="34" charset="0"/>
                          <a:ea typeface="Arial" pitchFamily="34" charset="-122"/>
                          <a:cs typeface="Arial" pitchFamily="34" charset="-120"/>
                        </a:rPr>
                        <a:t>91.2%</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BBF7D0"/>
                    </a:solidFill>
                  </a:tcPr>
                </a:tc>
                <a:tc>
                  <a:txBody>
                    <a:bodyPr/>
                    <a:lstStyle/>
                    <a:p>
                      <a:pPr marL="0" indent="0" algn="ctr">
                        <a:buNone/>
                      </a:pPr>
                      <a:r>
                        <a:rPr lang="en-US" sz="1250" b="1" dirty="0">
                          <a:solidFill>
                            <a:srgbClr val="14532D"/>
                          </a:solidFill>
                          <a:latin typeface="Arial" pitchFamily="34" charset="0"/>
                          <a:ea typeface="Arial" pitchFamily="34" charset="-122"/>
                          <a:cs typeface="Arial" pitchFamily="34" charset="-120"/>
                        </a:rPr>
                        <a:t>91.0%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BBF7D0"/>
                    </a:solidFill>
                  </a:tcPr>
                </a:tc>
                <a:tc>
                  <a:txBody>
                    <a:bodyPr/>
                    <a:lstStyle/>
                    <a:p>
                      <a:pPr marL="0" indent="0" algn="ctr">
                        <a:buNone/>
                      </a:pPr>
                      <a:r>
                        <a:rPr lang="en-US" sz="1250" b="1" dirty="0">
                          <a:solidFill>
                            <a:srgbClr val="14532D"/>
                          </a:solidFill>
                          <a:latin typeface="Arial" pitchFamily="34" charset="0"/>
                          <a:ea typeface="Arial" pitchFamily="34" charset="-122"/>
                          <a:cs typeface="Arial" pitchFamily="34" charset="-120"/>
                        </a:rPr>
                        <a:t>0.95</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BBF7D0"/>
                    </a:solidFill>
                  </a:tcPr>
                </a:tc>
                <a:extLst>
                  <a:ext uri="{0D108BD9-81ED-4DB2-BD59-A6C34878D82A}">
                    <a16:rowId xmlns:a16="http://schemas.microsoft.com/office/drawing/2014/main" val="10003"/>
                  </a:ext>
                </a:extLst>
              </a:tr>
              <a:tr h="530352">
                <a:tc>
                  <a:txBody>
                    <a:bodyPr/>
                    <a:lstStyle/>
                    <a:p>
                      <a:pPr marL="0" indent="0" algn="l">
                        <a:buNone/>
                      </a:pPr>
                      <a:r>
                        <a:rPr lang="en-US" sz="1250" dirty="0">
                          <a:solidFill>
                            <a:srgbClr val="0F172A"/>
                          </a:solidFill>
                          <a:latin typeface="Arial" pitchFamily="34" charset="0"/>
                          <a:ea typeface="Arial" pitchFamily="34" charset="-122"/>
                          <a:cs typeface="Arial" pitchFamily="34" charset="-120"/>
                        </a:rPr>
                        <a:t>Support Vector Machine</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87.6%</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86.9%</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87.1%</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87.0%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0.91</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530352">
                <a:tc>
                  <a:txBody>
                    <a:bodyPr/>
                    <a:lstStyle/>
                    <a:p>
                      <a:pPr marL="0" indent="0" algn="l">
                        <a:buNone/>
                      </a:pPr>
                      <a:r>
                        <a:rPr lang="en-US" sz="1250" dirty="0">
                          <a:solidFill>
                            <a:srgbClr val="0F172A"/>
                          </a:solidFill>
                          <a:latin typeface="Arial" pitchFamily="34" charset="0"/>
                          <a:ea typeface="Arial" pitchFamily="34" charset="-122"/>
                          <a:cs typeface="Arial" pitchFamily="34" charset="-120"/>
                        </a:rPr>
                        <a:t>K-Nearest Neighbors</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83.9%</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82.7%</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83.0%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82.8%</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0.86</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250" dirty="0">
                          <a:solidFill>
                            <a:srgbClr val="0F172A"/>
                          </a:solidFill>
                          <a:latin typeface="Arial" pitchFamily="34" charset="0"/>
                          <a:ea typeface="Arial" pitchFamily="34" charset="-122"/>
                          <a:cs typeface="Arial" pitchFamily="34" charset="-120"/>
                        </a:rPr>
                        <a:t>Naive Bayes</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79.8%</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78.5%</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78.0%</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78.2%</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50" dirty="0">
                          <a:solidFill>
                            <a:srgbClr val="0F172A"/>
                          </a:solidFill>
                          <a:latin typeface="Arial" pitchFamily="34" charset="0"/>
                          <a:ea typeface="Arial" pitchFamily="34" charset="-122"/>
                          <a:cs typeface="Arial" pitchFamily="34" charset="-120"/>
                        </a:rPr>
                        <a:t>0.83</a:t>
                      </a:r>
                      <a:endParaRPr lang="en-US" sz="12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sp>
        <p:nvSpPr>
          <p:cNvPr id="6" name="Shape 3"/>
          <p:cNvSpPr/>
          <p:nvPr/>
        </p:nvSpPr>
        <p:spPr>
          <a:xfrm>
            <a:off x="548640" y="5257800"/>
            <a:ext cx="10881360" cy="914400"/>
          </a:xfrm>
          <a:prstGeom prst="roundRect">
            <a:avLst>
              <a:gd name="adj" fmla="val 12000"/>
            </a:avLst>
          </a:prstGeom>
          <a:solidFill>
            <a:srgbClr val="22C55E"/>
          </a:solidFill>
          <a:ln/>
          <a:effectLst>
            <a:outerShdw blurRad="76200" dist="25400" dir="5400000" algn="bl" rotWithShape="0">
              <a:srgbClr val="0F172A">
                <a:alpha val="12000"/>
              </a:srgbClr>
            </a:outerShdw>
          </a:effectLst>
        </p:spPr>
        <p:txBody>
          <a:bodyPr/>
          <a:lstStyle/>
          <a:p>
            <a:endParaRPr lang="en-US"/>
          </a:p>
        </p:txBody>
      </p:sp>
      <p:sp>
        <p:nvSpPr>
          <p:cNvPr id="7" name="Shape 4"/>
          <p:cNvSpPr/>
          <p:nvPr/>
        </p:nvSpPr>
        <p:spPr>
          <a:xfrm>
            <a:off x="914400" y="5394960"/>
            <a:ext cx="640080" cy="640080"/>
          </a:xfrm>
          <a:prstGeom prst="ellipse">
            <a:avLst/>
          </a:prstGeom>
          <a:solidFill>
            <a:srgbClr val="FFFFFF"/>
          </a:solidFill>
          <a:ln/>
          <a:effectLst>
            <a:outerShdw blurRad="76200" dist="25400" dir="5400000" algn="bl" rotWithShape="0">
              <a:srgbClr val="0F172A">
                <a:alpha val="12000"/>
              </a:srgbClr>
            </a:outerShdw>
          </a:effectLst>
        </p:spPr>
        <p:txBody>
          <a:bodyPr/>
          <a:lstStyle/>
          <a:p>
            <a:endParaRPr lang="en-US"/>
          </a:p>
        </p:txBody>
      </p:sp>
      <p:pic>
        <p:nvPicPr>
          <p:cNvPr id="8" name="Image 0" descr="/home/claude/assets/icons/FiAward.png"/>
          <p:cNvPicPr>
            <a:picLocks noChangeAspect="1"/>
          </p:cNvPicPr>
          <p:nvPr/>
        </p:nvPicPr>
        <p:blipFill>
          <a:blip r:embed="rId3"/>
          <a:stretch>
            <a:fillRect/>
          </a:stretch>
        </p:blipFill>
        <p:spPr>
          <a:xfrm>
            <a:off x="1074420" y="5554980"/>
            <a:ext cx="320040" cy="320040"/>
          </a:xfrm>
          <a:prstGeom prst="rect">
            <a:avLst/>
          </a:prstGeom>
        </p:spPr>
      </p:pic>
      <p:sp>
        <p:nvSpPr>
          <p:cNvPr id="9" name="Text 5"/>
          <p:cNvSpPr/>
          <p:nvPr/>
        </p:nvSpPr>
        <p:spPr>
          <a:xfrm>
            <a:off x="1691640" y="5413248"/>
            <a:ext cx="5486400" cy="274320"/>
          </a:xfrm>
          <a:prstGeom prst="rect">
            <a:avLst/>
          </a:prstGeom>
          <a:noFill/>
          <a:ln/>
        </p:spPr>
        <p:txBody>
          <a:bodyPr wrap="square" lIns="0" tIns="0" rIns="0" bIns="0" rtlCol="0" anchor="ctr"/>
          <a:lstStyle/>
          <a:p>
            <a:pPr marL="0" indent="0">
              <a:buNone/>
            </a:pPr>
            <a:r>
              <a:rPr lang="en-US" sz="1100" b="1" kern="0" spc="100" dirty="0">
                <a:solidFill>
                  <a:srgbClr val="DCFCE7"/>
                </a:solidFill>
                <a:latin typeface="Arial" pitchFamily="34" charset="0"/>
                <a:ea typeface="Arial" pitchFamily="34" charset="-122"/>
                <a:cs typeface="Arial" pitchFamily="34" charset="-120"/>
              </a:rPr>
              <a:t>BEST MODEL: RANDOM FOREST</a:t>
            </a:r>
            <a:endParaRPr lang="en-US" sz="1100" dirty="0"/>
          </a:p>
        </p:txBody>
      </p:sp>
      <p:sp>
        <p:nvSpPr>
          <p:cNvPr id="10" name="Text 6"/>
          <p:cNvSpPr/>
          <p:nvPr/>
        </p:nvSpPr>
        <p:spPr>
          <a:xfrm>
            <a:off x="1691640" y="5669280"/>
            <a:ext cx="8686800" cy="36576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91.4% accuracy with the strongest balance of precision and recall across all classes.</a:t>
            </a:r>
            <a:endParaRPr lang="en-US" sz="1250" dirty="0"/>
          </a:p>
        </p:txBody>
      </p:sp>
      <p:sp>
        <p:nvSpPr>
          <p:cNvPr id="11" name="Text 7"/>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12" name="Text 8"/>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05  ·  EVALUATION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Feature Importance</a:t>
            </a:r>
            <a:endParaRPr lang="en-US" sz="3200" dirty="0"/>
          </a:p>
        </p:txBody>
      </p:sp>
      <p:sp>
        <p:nvSpPr>
          <p:cNvPr id="4" name="Text 2"/>
          <p:cNvSpPr/>
          <p:nvPr/>
        </p:nvSpPr>
        <p:spPr>
          <a:xfrm>
            <a:off x="548640" y="1234440"/>
            <a:ext cx="9144000" cy="320040"/>
          </a:xfrm>
          <a:prstGeom prst="rect">
            <a:avLst/>
          </a:prstGeom>
          <a:noFill/>
          <a:ln/>
        </p:spPr>
        <p:txBody>
          <a:bodyPr wrap="square" lIns="0" tIns="0" rIns="0" bIns="0" rtlCol="0" anchor="ctr"/>
          <a:lstStyle/>
          <a:p>
            <a:pPr marL="0" indent="0">
              <a:buNone/>
            </a:pPr>
            <a:r>
              <a:rPr lang="en-US" sz="1250" dirty="0">
                <a:solidFill>
                  <a:srgbClr val="64748B"/>
                </a:solidFill>
                <a:latin typeface="Arial" pitchFamily="34" charset="0"/>
                <a:ea typeface="Arial" pitchFamily="34" charset="-122"/>
                <a:cs typeface="Arial" pitchFamily="34" charset="-120"/>
              </a:rPr>
              <a:t>What the Random Forest model relies on most when predicting performance</a:t>
            </a:r>
            <a:endParaRPr lang="en-US" sz="1250" dirty="0"/>
          </a:p>
        </p:txBody>
      </p:sp>
      <p:graphicFrame>
        <p:nvGraphicFramePr>
          <p:cNvPr id="5" name="Chart 0"/>
          <p:cNvGraphicFramePr/>
          <p:nvPr/>
        </p:nvGraphicFramePr>
        <p:xfrm>
          <a:off x="548640" y="169164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26680" y="1691640"/>
            <a:ext cx="3703320" cy="1280160"/>
          </a:xfrm>
          <a:prstGeom prst="roundRect">
            <a:avLst>
              <a:gd name="adj" fmla="val 8571"/>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7" name="Shape 4"/>
          <p:cNvSpPr/>
          <p:nvPr/>
        </p:nvSpPr>
        <p:spPr>
          <a:xfrm>
            <a:off x="8023860" y="1851660"/>
            <a:ext cx="502920" cy="50292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8" name="Image 0" descr="/home/claude/assets/icons/FiCalendar.png"/>
          <p:cNvPicPr>
            <a:picLocks noChangeAspect="1"/>
          </p:cNvPicPr>
          <p:nvPr/>
        </p:nvPicPr>
        <p:blipFill>
          <a:blip r:embed="rId4"/>
          <a:stretch>
            <a:fillRect/>
          </a:stretch>
        </p:blipFill>
        <p:spPr>
          <a:xfrm>
            <a:off x="8149590" y="1977390"/>
            <a:ext cx="251460" cy="251460"/>
          </a:xfrm>
          <a:prstGeom prst="rect">
            <a:avLst/>
          </a:prstGeom>
        </p:spPr>
      </p:pic>
      <p:sp>
        <p:nvSpPr>
          <p:cNvPr id="9" name="Text 5"/>
          <p:cNvSpPr/>
          <p:nvPr/>
        </p:nvSpPr>
        <p:spPr>
          <a:xfrm>
            <a:off x="8686800" y="1828800"/>
            <a:ext cx="2606040" cy="274320"/>
          </a:xfrm>
          <a:prstGeom prst="rect">
            <a:avLst/>
          </a:prstGeom>
          <a:noFill/>
          <a:ln/>
        </p:spPr>
        <p:txBody>
          <a:bodyPr wrap="square" lIns="0" tIns="0" rIns="0" bIns="0" rtlCol="0" anchor="ctr"/>
          <a:lstStyle/>
          <a:p>
            <a:pPr marL="0" indent="0">
              <a:buNone/>
            </a:pPr>
            <a:r>
              <a:rPr lang="en-US" sz="1200" b="1" dirty="0">
                <a:solidFill>
                  <a:srgbClr val="0F172A"/>
                </a:solidFill>
                <a:latin typeface="Arial" pitchFamily="34" charset="0"/>
                <a:ea typeface="Arial" pitchFamily="34" charset="-122"/>
                <a:cs typeface="Arial" pitchFamily="34" charset="-120"/>
              </a:rPr>
              <a:t>Attendance</a:t>
            </a:r>
            <a:endParaRPr lang="en-US" sz="1200" dirty="0"/>
          </a:p>
        </p:txBody>
      </p:sp>
      <p:sp>
        <p:nvSpPr>
          <p:cNvPr id="10" name="Text 6"/>
          <p:cNvSpPr/>
          <p:nvPr/>
        </p:nvSpPr>
        <p:spPr>
          <a:xfrm>
            <a:off x="7909560" y="2377440"/>
            <a:ext cx="3337560" cy="548640"/>
          </a:xfrm>
          <a:prstGeom prst="rect">
            <a:avLst/>
          </a:prstGeom>
          <a:noFill/>
          <a:ln/>
        </p:spPr>
        <p:txBody>
          <a:bodyPr wrap="square" lIns="0" tIns="0" rIns="0" bIns="0" rtlCol="0" anchor="ctr"/>
          <a:lstStyle/>
          <a:p>
            <a:pPr marL="0" indent="0">
              <a:lnSpc>
                <a:spcPct val="120000"/>
              </a:lnSpc>
              <a:buNone/>
            </a:pPr>
            <a:r>
              <a:rPr lang="en-US" sz="950" dirty="0">
                <a:solidFill>
                  <a:srgbClr val="64748B"/>
                </a:solidFill>
                <a:latin typeface="Arial" pitchFamily="34" charset="0"/>
                <a:ea typeface="Arial" pitchFamily="34" charset="-122"/>
                <a:cs typeface="Arial" pitchFamily="34" charset="-120"/>
              </a:rPr>
              <a:t>Consistent class presence is the single strongest signal of academic success.</a:t>
            </a:r>
            <a:endParaRPr lang="en-US" sz="950" dirty="0"/>
          </a:p>
        </p:txBody>
      </p:sp>
      <p:sp>
        <p:nvSpPr>
          <p:cNvPr id="11" name="Shape 7"/>
          <p:cNvSpPr/>
          <p:nvPr/>
        </p:nvSpPr>
        <p:spPr>
          <a:xfrm>
            <a:off x="7726680" y="3200400"/>
            <a:ext cx="3703320" cy="1280160"/>
          </a:xfrm>
          <a:prstGeom prst="roundRect">
            <a:avLst>
              <a:gd name="adj" fmla="val 8571"/>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2" name="Shape 8"/>
          <p:cNvSpPr/>
          <p:nvPr/>
        </p:nvSpPr>
        <p:spPr>
          <a:xfrm>
            <a:off x="8023860" y="3360420"/>
            <a:ext cx="502920" cy="50292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3" name="Image 1" descr="/home/claude/assets/icons/FiAward.png"/>
          <p:cNvPicPr>
            <a:picLocks noChangeAspect="1"/>
          </p:cNvPicPr>
          <p:nvPr/>
        </p:nvPicPr>
        <p:blipFill>
          <a:blip r:embed="rId5"/>
          <a:stretch>
            <a:fillRect/>
          </a:stretch>
        </p:blipFill>
        <p:spPr>
          <a:xfrm>
            <a:off x="8149590" y="3486150"/>
            <a:ext cx="251460" cy="251460"/>
          </a:xfrm>
          <a:prstGeom prst="rect">
            <a:avLst/>
          </a:prstGeom>
        </p:spPr>
      </p:pic>
      <p:sp>
        <p:nvSpPr>
          <p:cNvPr id="14" name="Text 9"/>
          <p:cNvSpPr/>
          <p:nvPr/>
        </p:nvSpPr>
        <p:spPr>
          <a:xfrm>
            <a:off x="8686800" y="3337560"/>
            <a:ext cx="2606040" cy="274320"/>
          </a:xfrm>
          <a:prstGeom prst="rect">
            <a:avLst/>
          </a:prstGeom>
          <a:noFill/>
          <a:ln/>
        </p:spPr>
        <p:txBody>
          <a:bodyPr wrap="square" lIns="0" tIns="0" rIns="0" bIns="0" rtlCol="0" anchor="ctr"/>
          <a:lstStyle/>
          <a:p>
            <a:pPr marL="0" indent="0">
              <a:buNone/>
            </a:pPr>
            <a:r>
              <a:rPr lang="en-US" sz="1200" b="1" dirty="0">
                <a:solidFill>
                  <a:srgbClr val="0F172A"/>
                </a:solidFill>
                <a:latin typeface="Arial" pitchFamily="34" charset="0"/>
                <a:ea typeface="Arial" pitchFamily="34" charset="-122"/>
                <a:cs typeface="Arial" pitchFamily="34" charset="-120"/>
              </a:rPr>
              <a:t>Previous Score</a:t>
            </a:r>
            <a:endParaRPr lang="en-US" sz="1200" dirty="0"/>
          </a:p>
        </p:txBody>
      </p:sp>
      <p:sp>
        <p:nvSpPr>
          <p:cNvPr id="15" name="Text 10"/>
          <p:cNvSpPr/>
          <p:nvPr/>
        </p:nvSpPr>
        <p:spPr>
          <a:xfrm>
            <a:off x="7909560" y="3886200"/>
            <a:ext cx="3337560" cy="548640"/>
          </a:xfrm>
          <a:prstGeom prst="rect">
            <a:avLst/>
          </a:prstGeom>
          <a:noFill/>
          <a:ln/>
        </p:spPr>
        <p:txBody>
          <a:bodyPr wrap="square" lIns="0" tIns="0" rIns="0" bIns="0" rtlCol="0" anchor="ctr"/>
          <a:lstStyle/>
          <a:p>
            <a:pPr marL="0" indent="0">
              <a:lnSpc>
                <a:spcPct val="120000"/>
              </a:lnSpc>
              <a:buNone/>
            </a:pPr>
            <a:r>
              <a:rPr lang="en-US" sz="950" dirty="0">
                <a:solidFill>
                  <a:srgbClr val="64748B"/>
                </a:solidFill>
                <a:latin typeface="Arial" pitchFamily="34" charset="0"/>
                <a:ea typeface="Arial" pitchFamily="34" charset="-122"/>
                <a:cs typeface="Arial" pitchFamily="34" charset="-120"/>
              </a:rPr>
              <a:t>Prior performance strongly predicts future results.</a:t>
            </a:r>
            <a:endParaRPr lang="en-US" sz="950" dirty="0"/>
          </a:p>
        </p:txBody>
      </p:sp>
      <p:sp>
        <p:nvSpPr>
          <p:cNvPr id="16" name="Shape 11"/>
          <p:cNvSpPr/>
          <p:nvPr/>
        </p:nvSpPr>
        <p:spPr>
          <a:xfrm>
            <a:off x="7726680" y="4709160"/>
            <a:ext cx="3703320" cy="1280160"/>
          </a:xfrm>
          <a:prstGeom prst="roundRect">
            <a:avLst>
              <a:gd name="adj" fmla="val 8571"/>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7" name="Shape 12"/>
          <p:cNvSpPr/>
          <p:nvPr/>
        </p:nvSpPr>
        <p:spPr>
          <a:xfrm>
            <a:off x="8023860" y="4869180"/>
            <a:ext cx="502920" cy="50292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8" name="Image 2" descr="/home/claude/assets/icons/FiClock.png"/>
          <p:cNvPicPr>
            <a:picLocks noChangeAspect="1"/>
          </p:cNvPicPr>
          <p:nvPr/>
        </p:nvPicPr>
        <p:blipFill>
          <a:blip r:embed="rId6"/>
          <a:stretch>
            <a:fillRect/>
          </a:stretch>
        </p:blipFill>
        <p:spPr>
          <a:xfrm>
            <a:off x="8149590" y="4994910"/>
            <a:ext cx="251460" cy="251460"/>
          </a:xfrm>
          <a:prstGeom prst="rect">
            <a:avLst/>
          </a:prstGeom>
        </p:spPr>
      </p:pic>
      <p:sp>
        <p:nvSpPr>
          <p:cNvPr id="19" name="Text 13"/>
          <p:cNvSpPr/>
          <p:nvPr/>
        </p:nvSpPr>
        <p:spPr>
          <a:xfrm>
            <a:off x="8686800" y="4846320"/>
            <a:ext cx="2606040" cy="274320"/>
          </a:xfrm>
          <a:prstGeom prst="rect">
            <a:avLst/>
          </a:prstGeom>
          <a:noFill/>
          <a:ln/>
        </p:spPr>
        <p:txBody>
          <a:bodyPr wrap="square" lIns="0" tIns="0" rIns="0" bIns="0" rtlCol="0" anchor="ctr"/>
          <a:lstStyle/>
          <a:p>
            <a:pPr marL="0" indent="0">
              <a:buNone/>
            </a:pPr>
            <a:r>
              <a:rPr lang="en-US" sz="1200" b="1" dirty="0">
                <a:solidFill>
                  <a:srgbClr val="0F172A"/>
                </a:solidFill>
                <a:latin typeface="Arial" pitchFamily="34" charset="0"/>
                <a:ea typeface="Arial" pitchFamily="34" charset="-122"/>
                <a:cs typeface="Arial" pitchFamily="34" charset="-120"/>
              </a:rPr>
              <a:t>Hours Studied</a:t>
            </a:r>
            <a:endParaRPr lang="en-US" sz="1200" dirty="0"/>
          </a:p>
        </p:txBody>
      </p:sp>
      <p:sp>
        <p:nvSpPr>
          <p:cNvPr id="20" name="Text 14"/>
          <p:cNvSpPr/>
          <p:nvPr/>
        </p:nvSpPr>
        <p:spPr>
          <a:xfrm>
            <a:off x="7909560" y="5394960"/>
            <a:ext cx="3337560" cy="548640"/>
          </a:xfrm>
          <a:prstGeom prst="rect">
            <a:avLst/>
          </a:prstGeom>
          <a:noFill/>
          <a:ln/>
        </p:spPr>
        <p:txBody>
          <a:bodyPr wrap="square" lIns="0" tIns="0" rIns="0" bIns="0" rtlCol="0" anchor="ctr"/>
          <a:lstStyle/>
          <a:p>
            <a:pPr marL="0" indent="0">
              <a:lnSpc>
                <a:spcPct val="120000"/>
              </a:lnSpc>
              <a:buNone/>
            </a:pPr>
            <a:r>
              <a:rPr lang="en-US" sz="950" dirty="0">
                <a:solidFill>
                  <a:srgbClr val="64748B"/>
                </a:solidFill>
                <a:latin typeface="Arial" pitchFamily="34" charset="0"/>
                <a:ea typeface="Arial" pitchFamily="34" charset="-122"/>
                <a:cs typeface="Arial" pitchFamily="34" charset="-120"/>
              </a:rPr>
              <a:t>More consistent daily study time correlates with better outcomes.</a:t>
            </a:r>
            <a:endParaRPr lang="en-US" sz="950" dirty="0"/>
          </a:p>
        </p:txBody>
      </p:sp>
      <p:sp>
        <p:nvSpPr>
          <p:cNvPr id="21" name="Text 15"/>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22" name="Text 16"/>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06  ·  OUTCOME</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Prediction Demo</a:t>
            </a:r>
            <a:endParaRPr lang="en-US" sz="3200" dirty="0"/>
          </a:p>
        </p:txBody>
      </p:sp>
      <p:sp>
        <p:nvSpPr>
          <p:cNvPr id="4" name="Shape 2"/>
          <p:cNvSpPr/>
          <p:nvPr/>
        </p:nvSpPr>
        <p:spPr>
          <a:xfrm>
            <a:off x="548640" y="1691640"/>
            <a:ext cx="3200400" cy="1554480"/>
          </a:xfrm>
          <a:prstGeom prst="roundRect">
            <a:avLst>
              <a:gd name="adj" fmla="val 8235"/>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Shape 3"/>
          <p:cNvSpPr/>
          <p:nvPr/>
        </p:nvSpPr>
        <p:spPr>
          <a:xfrm>
            <a:off x="937260" y="2034540"/>
            <a:ext cx="868680" cy="86868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UploadCloud.png"/>
          <p:cNvPicPr>
            <a:picLocks noChangeAspect="1"/>
          </p:cNvPicPr>
          <p:nvPr/>
        </p:nvPicPr>
        <p:blipFill>
          <a:blip r:embed="rId3"/>
          <a:stretch>
            <a:fillRect/>
          </a:stretch>
        </p:blipFill>
        <p:spPr>
          <a:xfrm>
            <a:off x="1154430" y="2251710"/>
            <a:ext cx="434340" cy="434340"/>
          </a:xfrm>
          <a:prstGeom prst="rect">
            <a:avLst/>
          </a:prstGeom>
        </p:spPr>
      </p:pic>
      <p:sp>
        <p:nvSpPr>
          <p:cNvPr id="7" name="Text 4"/>
          <p:cNvSpPr/>
          <p:nvPr/>
        </p:nvSpPr>
        <p:spPr>
          <a:xfrm>
            <a:off x="2011680" y="2075688"/>
            <a:ext cx="1600200" cy="365760"/>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Student Input</a:t>
            </a:r>
            <a:endParaRPr lang="en-US" sz="1350" dirty="0"/>
          </a:p>
        </p:txBody>
      </p:sp>
      <p:sp>
        <p:nvSpPr>
          <p:cNvPr id="8" name="Text 5"/>
          <p:cNvSpPr/>
          <p:nvPr/>
        </p:nvSpPr>
        <p:spPr>
          <a:xfrm>
            <a:off x="2011680" y="2468880"/>
            <a:ext cx="1600200" cy="594360"/>
          </a:xfrm>
          <a:prstGeom prst="rect">
            <a:avLst/>
          </a:prstGeom>
          <a:noFill/>
          <a:ln/>
        </p:spPr>
        <p:txBody>
          <a:bodyPr wrap="square" lIns="0" tIns="0" rIns="0" bIns="0" rtlCol="0" anchor="ctr"/>
          <a:lstStyle/>
          <a:p>
            <a:pPr marL="0" indent="0">
              <a:lnSpc>
                <a:spcPct val="120000"/>
              </a:lnSpc>
              <a:buNone/>
            </a:pPr>
            <a:r>
              <a:rPr lang="en-US" sz="1000" dirty="0">
                <a:solidFill>
                  <a:srgbClr val="64748B"/>
                </a:solidFill>
                <a:latin typeface="Arial" pitchFamily="34" charset="0"/>
                <a:ea typeface="Arial" pitchFamily="34" charset="-122"/>
                <a:cs typeface="Arial" pitchFamily="34" charset="-120"/>
              </a:rPr>
              <a:t>New student's feature values</a:t>
            </a:r>
            <a:endParaRPr lang="en-US" sz="1000" dirty="0"/>
          </a:p>
        </p:txBody>
      </p:sp>
      <p:sp>
        <p:nvSpPr>
          <p:cNvPr id="9" name="Shape 6"/>
          <p:cNvSpPr/>
          <p:nvPr/>
        </p:nvSpPr>
        <p:spPr>
          <a:xfrm>
            <a:off x="3845052" y="2313432"/>
            <a:ext cx="310896" cy="310896"/>
          </a:xfrm>
          <a:prstGeom prst="ellipse">
            <a:avLst/>
          </a:prstGeom>
          <a:solidFill>
            <a:srgbClr val="94A3B8"/>
          </a:solidFill>
          <a:ln/>
        </p:spPr>
        <p:txBody>
          <a:bodyPr/>
          <a:lstStyle/>
          <a:p>
            <a:endParaRPr lang="en-US"/>
          </a:p>
        </p:txBody>
      </p:sp>
      <p:pic>
        <p:nvPicPr>
          <p:cNvPr id="10" name="Image 1" descr="/home/claude/assets/icons/FiArrowRight.png"/>
          <p:cNvPicPr>
            <a:picLocks noChangeAspect="1"/>
          </p:cNvPicPr>
          <p:nvPr/>
        </p:nvPicPr>
        <p:blipFill>
          <a:blip r:embed="rId4"/>
          <a:stretch>
            <a:fillRect/>
          </a:stretch>
        </p:blipFill>
        <p:spPr>
          <a:xfrm>
            <a:off x="3909060" y="2377440"/>
            <a:ext cx="182880" cy="182880"/>
          </a:xfrm>
          <a:prstGeom prst="rect">
            <a:avLst/>
          </a:prstGeom>
        </p:spPr>
      </p:pic>
      <p:sp>
        <p:nvSpPr>
          <p:cNvPr id="11" name="Shape 7"/>
          <p:cNvSpPr/>
          <p:nvPr/>
        </p:nvSpPr>
        <p:spPr>
          <a:xfrm>
            <a:off x="4251960" y="1691640"/>
            <a:ext cx="3200400" cy="1554480"/>
          </a:xfrm>
          <a:prstGeom prst="roundRect">
            <a:avLst>
              <a:gd name="adj" fmla="val 8235"/>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2" name="Shape 8"/>
          <p:cNvSpPr/>
          <p:nvPr/>
        </p:nvSpPr>
        <p:spPr>
          <a:xfrm>
            <a:off x="4640580" y="2034540"/>
            <a:ext cx="868680" cy="86868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13" name="Image 2" descr="/home/claude/assets/icons/FiCpu.png"/>
          <p:cNvPicPr>
            <a:picLocks noChangeAspect="1"/>
          </p:cNvPicPr>
          <p:nvPr/>
        </p:nvPicPr>
        <p:blipFill>
          <a:blip r:embed="rId5"/>
          <a:stretch>
            <a:fillRect/>
          </a:stretch>
        </p:blipFill>
        <p:spPr>
          <a:xfrm>
            <a:off x="4857750" y="2251710"/>
            <a:ext cx="434340" cy="434340"/>
          </a:xfrm>
          <a:prstGeom prst="rect">
            <a:avLst/>
          </a:prstGeom>
        </p:spPr>
      </p:pic>
      <p:sp>
        <p:nvSpPr>
          <p:cNvPr id="14" name="Text 9"/>
          <p:cNvSpPr/>
          <p:nvPr/>
        </p:nvSpPr>
        <p:spPr>
          <a:xfrm>
            <a:off x="5715000" y="2075688"/>
            <a:ext cx="1600200" cy="365760"/>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Random Forest Model</a:t>
            </a:r>
            <a:endParaRPr lang="en-US" sz="1350" dirty="0"/>
          </a:p>
        </p:txBody>
      </p:sp>
      <p:sp>
        <p:nvSpPr>
          <p:cNvPr id="15" name="Text 10"/>
          <p:cNvSpPr/>
          <p:nvPr/>
        </p:nvSpPr>
        <p:spPr>
          <a:xfrm>
            <a:off x="5715000" y="2468880"/>
            <a:ext cx="1600200" cy="594360"/>
          </a:xfrm>
          <a:prstGeom prst="rect">
            <a:avLst/>
          </a:prstGeom>
          <a:noFill/>
          <a:ln/>
        </p:spPr>
        <p:txBody>
          <a:bodyPr wrap="square" lIns="0" tIns="0" rIns="0" bIns="0" rtlCol="0" anchor="ctr"/>
          <a:lstStyle/>
          <a:p>
            <a:pPr marL="0" indent="0">
              <a:lnSpc>
                <a:spcPct val="120000"/>
              </a:lnSpc>
              <a:buNone/>
            </a:pPr>
            <a:r>
              <a:rPr lang="en-US" sz="1000" dirty="0">
                <a:solidFill>
                  <a:srgbClr val="64748B"/>
                </a:solidFill>
                <a:latin typeface="Arial" pitchFamily="34" charset="0"/>
                <a:ea typeface="Arial" pitchFamily="34" charset="-122"/>
                <a:cs typeface="Arial" pitchFamily="34" charset="-120"/>
              </a:rPr>
              <a:t>Trained model processes input</a:t>
            </a:r>
            <a:endParaRPr lang="en-US" sz="1000" dirty="0"/>
          </a:p>
        </p:txBody>
      </p:sp>
      <p:sp>
        <p:nvSpPr>
          <p:cNvPr id="16" name="Shape 11"/>
          <p:cNvSpPr/>
          <p:nvPr/>
        </p:nvSpPr>
        <p:spPr>
          <a:xfrm>
            <a:off x="7548372" y="2313432"/>
            <a:ext cx="310896" cy="310896"/>
          </a:xfrm>
          <a:prstGeom prst="ellipse">
            <a:avLst/>
          </a:prstGeom>
          <a:solidFill>
            <a:srgbClr val="94A3B8"/>
          </a:solidFill>
          <a:ln/>
        </p:spPr>
        <p:txBody>
          <a:bodyPr/>
          <a:lstStyle/>
          <a:p>
            <a:endParaRPr lang="en-US"/>
          </a:p>
        </p:txBody>
      </p:sp>
      <p:pic>
        <p:nvPicPr>
          <p:cNvPr id="17" name="Image 3" descr="/home/claude/assets/icons/FiArrowRight.png"/>
          <p:cNvPicPr>
            <a:picLocks noChangeAspect="1"/>
          </p:cNvPicPr>
          <p:nvPr/>
        </p:nvPicPr>
        <p:blipFill>
          <a:blip r:embed="rId4"/>
          <a:stretch>
            <a:fillRect/>
          </a:stretch>
        </p:blipFill>
        <p:spPr>
          <a:xfrm>
            <a:off x="7612380" y="2377440"/>
            <a:ext cx="182880" cy="182880"/>
          </a:xfrm>
          <a:prstGeom prst="rect">
            <a:avLst/>
          </a:prstGeom>
        </p:spPr>
      </p:pic>
      <p:sp>
        <p:nvSpPr>
          <p:cNvPr id="18" name="Shape 12"/>
          <p:cNvSpPr/>
          <p:nvPr/>
        </p:nvSpPr>
        <p:spPr>
          <a:xfrm>
            <a:off x="7955280" y="1691640"/>
            <a:ext cx="3200400" cy="1554480"/>
          </a:xfrm>
          <a:prstGeom prst="roundRect">
            <a:avLst>
              <a:gd name="adj" fmla="val 8235"/>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9" name="Shape 13"/>
          <p:cNvSpPr/>
          <p:nvPr/>
        </p:nvSpPr>
        <p:spPr>
          <a:xfrm>
            <a:off x="8343900" y="2034540"/>
            <a:ext cx="868680" cy="86868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0" name="Image 4" descr="/home/claude/assets/icons/FiBarChart2.png"/>
          <p:cNvPicPr>
            <a:picLocks noChangeAspect="1"/>
          </p:cNvPicPr>
          <p:nvPr/>
        </p:nvPicPr>
        <p:blipFill>
          <a:blip r:embed="rId6"/>
          <a:stretch>
            <a:fillRect/>
          </a:stretch>
        </p:blipFill>
        <p:spPr>
          <a:xfrm>
            <a:off x="8561070" y="2251710"/>
            <a:ext cx="434340" cy="434340"/>
          </a:xfrm>
          <a:prstGeom prst="rect">
            <a:avLst/>
          </a:prstGeom>
        </p:spPr>
      </p:pic>
      <p:sp>
        <p:nvSpPr>
          <p:cNvPr id="21" name="Text 14"/>
          <p:cNvSpPr/>
          <p:nvPr/>
        </p:nvSpPr>
        <p:spPr>
          <a:xfrm>
            <a:off x="9418320" y="2075688"/>
            <a:ext cx="1600200" cy="365760"/>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Prediction Engine</a:t>
            </a:r>
            <a:endParaRPr lang="en-US" sz="1350" dirty="0"/>
          </a:p>
        </p:txBody>
      </p:sp>
      <p:sp>
        <p:nvSpPr>
          <p:cNvPr id="22" name="Text 15"/>
          <p:cNvSpPr/>
          <p:nvPr/>
        </p:nvSpPr>
        <p:spPr>
          <a:xfrm>
            <a:off x="9418320" y="2468880"/>
            <a:ext cx="1600200" cy="594360"/>
          </a:xfrm>
          <a:prstGeom prst="rect">
            <a:avLst/>
          </a:prstGeom>
          <a:noFill/>
          <a:ln/>
        </p:spPr>
        <p:txBody>
          <a:bodyPr wrap="square" lIns="0" tIns="0" rIns="0" bIns="0" rtlCol="0" anchor="ctr"/>
          <a:lstStyle/>
          <a:p>
            <a:pPr marL="0" indent="0">
              <a:lnSpc>
                <a:spcPct val="120000"/>
              </a:lnSpc>
              <a:buNone/>
            </a:pPr>
            <a:r>
              <a:rPr lang="en-US" sz="1000" dirty="0">
                <a:solidFill>
                  <a:srgbClr val="64748B"/>
                </a:solidFill>
                <a:latin typeface="Arial" pitchFamily="34" charset="0"/>
                <a:ea typeface="Arial" pitchFamily="34" charset="-122"/>
                <a:cs typeface="Arial" pitchFamily="34" charset="-120"/>
              </a:rPr>
              <a:t>Computes class probabilities</a:t>
            </a:r>
            <a:endParaRPr lang="en-US" sz="1000" dirty="0"/>
          </a:p>
        </p:txBody>
      </p:sp>
      <p:sp>
        <p:nvSpPr>
          <p:cNvPr id="23" name="Shape 16"/>
          <p:cNvSpPr/>
          <p:nvPr/>
        </p:nvSpPr>
        <p:spPr>
          <a:xfrm>
            <a:off x="548640" y="3611880"/>
            <a:ext cx="5120640" cy="2331720"/>
          </a:xfrm>
          <a:prstGeom prst="roundRect">
            <a:avLst>
              <a:gd name="adj" fmla="val 5490"/>
            </a:avLst>
          </a:prstGeom>
          <a:solidFill>
            <a:srgbClr val="F0FDF4"/>
          </a:solidFill>
          <a:ln w="19050">
            <a:solidFill>
              <a:srgbClr val="22C55E"/>
            </a:solidFill>
            <a:prstDash val="solid"/>
          </a:ln>
          <a:effectLst>
            <a:outerShdw blurRad="76200" dist="25400" dir="5400000" algn="bl" rotWithShape="0">
              <a:srgbClr val="0F172A">
                <a:alpha val="12000"/>
              </a:srgbClr>
            </a:outerShdw>
          </a:effectLst>
        </p:spPr>
        <p:txBody>
          <a:bodyPr/>
          <a:lstStyle/>
          <a:p>
            <a:endParaRPr lang="en-US"/>
          </a:p>
        </p:txBody>
      </p:sp>
      <p:sp>
        <p:nvSpPr>
          <p:cNvPr id="24" name="Shape 17"/>
          <p:cNvSpPr/>
          <p:nvPr/>
        </p:nvSpPr>
        <p:spPr>
          <a:xfrm>
            <a:off x="914400" y="3931920"/>
            <a:ext cx="914400" cy="914400"/>
          </a:xfrm>
          <a:prstGeom prst="ellipse">
            <a:avLst/>
          </a:prstGeom>
          <a:solidFill>
            <a:srgbClr val="22C55E"/>
          </a:solidFill>
          <a:ln/>
          <a:effectLst>
            <a:outerShdw blurRad="76200" dist="25400" dir="5400000" algn="bl" rotWithShape="0">
              <a:srgbClr val="0F172A">
                <a:alpha val="12000"/>
              </a:srgbClr>
            </a:outerShdw>
          </a:effectLst>
        </p:spPr>
        <p:txBody>
          <a:bodyPr/>
          <a:lstStyle/>
          <a:p>
            <a:endParaRPr lang="en-US"/>
          </a:p>
        </p:txBody>
      </p:sp>
      <p:pic>
        <p:nvPicPr>
          <p:cNvPr id="25" name="Image 5" descr="/home/claude/assets/icons/FiCheckCircle.png"/>
          <p:cNvPicPr>
            <a:picLocks noChangeAspect="1"/>
          </p:cNvPicPr>
          <p:nvPr/>
        </p:nvPicPr>
        <p:blipFill>
          <a:blip r:embed="rId7"/>
          <a:stretch>
            <a:fillRect/>
          </a:stretch>
        </p:blipFill>
        <p:spPr>
          <a:xfrm>
            <a:off x="1143000" y="4160520"/>
            <a:ext cx="457200" cy="457200"/>
          </a:xfrm>
          <a:prstGeom prst="rect">
            <a:avLst/>
          </a:prstGeom>
        </p:spPr>
      </p:pic>
      <p:sp>
        <p:nvSpPr>
          <p:cNvPr id="26" name="Text 18"/>
          <p:cNvSpPr/>
          <p:nvPr/>
        </p:nvSpPr>
        <p:spPr>
          <a:xfrm>
            <a:off x="2057400" y="3995928"/>
            <a:ext cx="3383280" cy="274320"/>
          </a:xfrm>
          <a:prstGeom prst="rect">
            <a:avLst/>
          </a:prstGeom>
          <a:noFill/>
          <a:ln/>
        </p:spPr>
        <p:txBody>
          <a:bodyPr wrap="square" lIns="0" tIns="0" rIns="0" bIns="0" rtlCol="0" anchor="ctr"/>
          <a:lstStyle/>
          <a:p>
            <a:pPr marL="0" indent="0">
              <a:buNone/>
            </a:pPr>
            <a:r>
              <a:rPr lang="en-US" sz="1000" b="1" kern="0" spc="100" dirty="0">
                <a:solidFill>
                  <a:srgbClr val="166534"/>
                </a:solidFill>
                <a:latin typeface="Arial" pitchFamily="34" charset="0"/>
                <a:ea typeface="Arial" pitchFamily="34" charset="-122"/>
                <a:cs typeface="Arial" pitchFamily="34" charset="-120"/>
              </a:rPr>
              <a:t>PREDICTED OUTCOME</a:t>
            </a:r>
            <a:endParaRPr lang="en-US" sz="1000" dirty="0"/>
          </a:p>
        </p:txBody>
      </p:sp>
      <p:sp>
        <p:nvSpPr>
          <p:cNvPr id="27" name="Text 19"/>
          <p:cNvSpPr/>
          <p:nvPr/>
        </p:nvSpPr>
        <p:spPr>
          <a:xfrm>
            <a:off x="2057400" y="4251960"/>
            <a:ext cx="3474720" cy="502920"/>
          </a:xfrm>
          <a:prstGeom prst="rect">
            <a:avLst/>
          </a:prstGeom>
          <a:noFill/>
          <a:ln/>
        </p:spPr>
        <p:txBody>
          <a:bodyPr wrap="square" lIns="0" tIns="0" rIns="0" bIns="0" rtlCol="0" anchor="ctr"/>
          <a:lstStyle/>
          <a:p>
            <a:pPr marL="0" indent="0">
              <a:buNone/>
            </a:pPr>
            <a:r>
              <a:rPr lang="en-US" sz="2200" b="1" dirty="0">
                <a:solidFill>
                  <a:srgbClr val="14532D"/>
                </a:solidFill>
                <a:latin typeface="Arial" pitchFamily="34" charset="0"/>
                <a:ea typeface="Arial" pitchFamily="34" charset="-122"/>
                <a:cs typeface="Arial" pitchFamily="34" charset="-120"/>
              </a:rPr>
              <a:t>High Performance</a:t>
            </a:r>
            <a:endParaRPr lang="en-US" sz="2200" dirty="0"/>
          </a:p>
        </p:txBody>
      </p:sp>
      <p:sp>
        <p:nvSpPr>
          <p:cNvPr id="28" name="Text 20"/>
          <p:cNvSpPr/>
          <p:nvPr/>
        </p:nvSpPr>
        <p:spPr>
          <a:xfrm>
            <a:off x="914400" y="5120640"/>
            <a:ext cx="4389120" cy="731520"/>
          </a:xfrm>
          <a:prstGeom prst="rect">
            <a:avLst/>
          </a:prstGeom>
          <a:noFill/>
          <a:ln/>
        </p:spPr>
        <p:txBody>
          <a:bodyPr wrap="square" lIns="0" tIns="0" rIns="0" bIns="0" rtlCol="0" anchor="ctr"/>
          <a:lstStyle/>
          <a:p>
            <a:pPr marL="0" indent="0">
              <a:lnSpc>
                <a:spcPct val="125000"/>
              </a:lnSpc>
              <a:buNone/>
            </a:pPr>
            <a:r>
              <a:rPr lang="en-US" sz="1050" dirty="0">
                <a:solidFill>
                  <a:srgbClr val="166534"/>
                </a:solidFill>
                <a:latin typeface="Arial" pitchFamily="34" charset="0"/>
                <a:ea typeface="Arial" pitchFamily="34" charset="-122"/>
                <a:cs typeface="Arial" pitchFamily="34" charset="-120"/>
              </a:rPr>
              <a:t>Based on strong attendance (92%) and previous score (78), the model predicts this student is likely to perform well.</a:t>
            </a:r>
            <a:endParaRPr lang="en-US" sz="1050" dirty="0"/>
          </a:p>
        </p:txBody>
      </p:sp>
      <p:sp>
        <p:nvSpPr>
          <p:cNvPr id="29" name="Shape 21"/>
          <p:cNvSpPr/>
          <p:nvPr/>
        </p:nvSpPr>
        <p:spPr>
          <a:xfrm>
            <a:off x="5897880" y="3611880"/>
            <a:ext cx="5349240" cy="2331720"/>
          </a:xfrm>
          <a:prstGeom prst="roundRect">
            <a:avLst>
              <a:gd name="adj" fmla="val 5490"/>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30" name="Text 22"/>
          <p:cNvSpPr/>
          <p:nvPr/>
        </p:nvSpPr>
        <p:spPr>
          <a:xfrm>
            <a:off x="6217920" y="3813048"/>
            <a:ext cx="3657600" cy="274320"/>
          </a:xfrm>
          <a:prstGeom prst="rect">
            <a:avLst/>
          </a:prstGeom>
          <a:noFill/>
          <a:ln/>
        </p:spPr>
        <p:txBody>
          <a:bodyPr wrap="square" lIns="0" tIns="0" rIns="0" bIns="0" rtlCol="0" anchor="ctr"/>
          <a:lstStyle/>
          <a:p>
            <a:pPr marL="0" indent="0">
              <a:buNone/>
            </a:pPr>
            <a:r>
              <a:rPr lang="en-US" sz="1000" b="1" kern="0" spc="100" dirty="0">
                <a:solidFill>
                  <a:srgbClr val="64748B"/>
                </a:solidFill>
                <a:latin typeface="Arial" pitchFamily="34" charset="0"/>
                <a:ea typeface="Arial" pitchFamily="34" charset="-122"/>
                <a:cs typeface="Arial" pitchFamily="34" charset="-120"/>
              </a:rPr>
              <a:t>MODEL CONFIDENCE</a:t>
            </a:r>
            <a:endParaRPr lang="en-US" sz="1000" dirty="0"/>
          </a:p>
        </p:txBody>
      </p:sp>
      <p:graphicFrame>
        <p:nvGraphicFramePr>
          <p:cNvPr id="31" name="Chart 0"/>
          <p:cNvGraphicFramePr/>
          <p:nvPr/>
        </p:nvGraphicFramePr>
        <p:xfrm>
          <a:off x="6080760" y="4023360"/>
          <a:ext cx="2103120" cy="1828800"/>
        </p:xfrm>
        <a:graphic>
          <a:graphicData uri="http://schemas.openxmlformats.org/drawingml/2006/chart">
            <c:chart xmlns:c="http://schemas.openxmlformats.org/drawingml/2006/chart" xmlns:r="http://schemas.openxmlformats.org/officeDocument/2006/relationships" r:id="rId8"/>
          </a:graphicData>
        </a:graphic>
      </p:graphicFrame>
      <p:sp>
        <p:nvSpPr>
          <p:cNvPr id="32" name="Text 23"/>
          <p:cNvSpPr/>
          <p:nvPr/>
        </p:nvSpPr>
        <p:spPr>
          <a:xfrm>
            <a:off x="6080760" y="4663440"/>
            <a:ext cx="2103120" cy="457200"/>
          </a:xfrm>
          <a:prstGeom prst="rect">
            <a:avLst/>
          </a:prstGeom>
          <a:noFill/>
          <a:ln/>
        </p:spPr>
        <p:txBody>
          <a:bodyPr wrap="square" lIns="0" tIns="0" rIns="0" bIns="0" rtlCol="0" anchor="ctr"/>
          <a:lstStyle/>
          <a:p>
            <a:pPr marL="0" indent="0" algn="ctr">
              <a:buNone/>
            </a:pPr>
            <a:r>
              <a:rPr lang="en-US" sz="2400" b="1" dirty="0">
                <a:solidFill>
                  <a:srgbClr val="22C55E"/>
                </a:solidFill>
                <a:latin typeface="Arial" pitchFamily="34" charset="0"/>
                <a:ea typeface="Arial" pitchFamily="34" charset="-122"/>
                <a:cs typeface="Arial" pitchFamily="34" charset="-120"/>
              </a:rPr>
              <a:t>87%</a:t>
            </a:r>
            <a:endParaRPr lang="en-US" sz="2400" dirty="0"/>
          </a:p>
        </p:txBody>
      </p:sp>
      <p:sp>
        <p:nvSpPr>
          <p:cNvPr id="33" name="Text 24"/>
          <p:cNvSpPr/>
          <p:nvPr/>
        </p:nvSpPr>
        <p:spPr>
          <a:xfrm>
            <a:off x="8321040" y="4114800"/>
            <a:ext cx="1005840" cy="256032"/>
          </a:xfrm>
          <a:prstGeom prst="rect">
            <a:avLst/>
          </a:prstGeom>
          <a:noFill/>
          <a:ln/>
        </p:spPr>
        <p:txBody>
          <a:bodyPr wrap="square" lIns="0" tIns="0" rIns="0" bIns="0" rtlCol="0" anchor="ctr"/>
          <a:lstStyle/>
          <a:p>
            <a:pPr marL="0" indent="0">
              <a:buNone/>
            </a:pPr>
            <a:r>
              <a:rPr lang="en-US" sz="1000" dirty="0">
                <a:solidFill>
                  <a:srgbClr val="0F172A"/>
                </a:solidFill>
                <a:latin typeface="Arial" pitchFamily="34" charset="0"/>
                <a:ea typeface="Arial" pitchFamily="34" charset="-122"/>
                <a:cs typeface="Arial" pitchFamily="34" charset="-120"/>
              </a:rPr>
              <a:t>High</a:t>
            </a:r>
            <a:endParaRPr lang="en-US" sz="1000" dirty="0"/>
          </a:p>
        </p:txBody>
      </p:sp>
      <p:sp>
        <p:nvSpPr>
          <p:cNvPr id="34" name="Shape 25"/>
          <p:cNvSpPr/>
          <p:nvPr/>
        </p:nvSpPr>
        <p:spPr>
          <a:xfrm>
            <a:off x="8321040" y="4389120"/>
            <a:ext cx="2651760" cy="146304"/>
          </a:xfrm>
          <a:prstGeom prst="roundRect">
            <a:avLst>
              <a:gd name="adj" fmla="val 50000"/>
            </a:avLst>
          </a:prstGeom>
          <a:solidFill>
            <a:srgbClr val="E2E8F0"/>
          </a:solidFill>
          <a:ln/>
        </p:spPr>
        <p:txBody>
          <a:bodyPr/>
          <a:lstStyle/>
          <a:p>
            <a:endParaRPr lang="en-US"/>
          </a:p>
        </p:txBody>
      </p:sp>
      <p:sp>
        <p:nvSpPr>
          <p:cNvPr id="35" name="Shape 26"/>
          <p:cNvSpPr/>
          <p:nvPr/>
        </p:nvSpPr>
        <p:spPr>
          <a:xfrm>
            <a:off x="8321040" y="4389120"/>
            <a:ext cx="2307031" cy="146304"/>
          </a:xfrm>
          <a:prstGeom prst="roundRect">
            <a:avLst>
              <a:gd name="adj" fmla="val 50000"/>
            </a:avLst>
          </a:prstGeom>
          <a:solidFill>
            <a:srgbClr val="22C55E"/>
          </a:solidFill>
          <a:ln/>
        </p:spPr>
        <p:txBody>
          <a:bodyPr/>
          <a:lstStyle/>
          <a:p>
            <a:endParaRPr lang="en-US"/>
          </a:p>
        </p:txBody>
      </p:sp>
      <p:sp>
        <p:nvSpPr>
          <p:cNvPr id="36" name="Text 27"/>
          <p:cNvSpPr/>
          <p:nvPr/>
        </p:nvSpPr>
        <p:spPr>
          <a:xfrm>
            <a:off x="10991088" y="4114800"/>
            <a:ext cx="365760" cy="256032"/>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87%</a:t>
            </a:r>
            <a:endParaRPr lang="en-US" sz="950" dirty="0"/>
          </a:p>
        </p:txBody>
      </p:sp>
      <p:sp>
        <p:nvSpPr>
          <p:cNvPr id="37" name="Text 28"/>
          <p:cNvSpPr/>
          <p:nvPr/>
        </p:nvSpPr>
        <p:spPr>
          <a:xfrm>
            <a:off x="8321040" y="4681728"/>
            <a:ext cx="1005840" cy="256032"/>
          </a:xfrm>
          <a:prstGeom prst="rect">
            <a:avLst/>
          </a:prstGeom>
          <a:noFill/>
          <a:ln/>
        </p:spPr>
        <p:txBody>
          <a:bodyPr wrap="square" lIns="0" tIns="0" rIns="0" bIns="0" rtlCol="0" anchor="ctr"/>
          <a:lstStyle/>
          <a:p>
            <a:pPr marL="0" indent="0">
              <a:buNone/>
            </a:pPr>
            <a:r>
              <a:rPr lang="en-US" sz="1000" dirty="0">
                <a:solidFill>
                  <a:srgbClr val="0F172A"/>
                </a:solidFill>
                <a:latin typeface="Arial" pitchFamily="34" charset="0"/>
                <a:ea typeface="Arial" pitchFamily="34" charset="-122"/>
                <a:cs typeface="Arial" pitchFamily="34" charset="-120"/>
              </a:rPr>
              <a:t>Medium</a:t>
            </a:r>
            <a:endParaRPr lang="en-US" sz="1000" dirty="0"/>
          </a:p>
        </p:txBody>
      </p:sp>
      <p:sp>
        <p:nvSpPr>
          <p:cNvPr id="38" name="Shape 29"/>
          <p:cNvSpPr/>
          <p:nvPr/>
        </p:nvSpPr>
        <p:spPr>
          <a:xfrm>
            <a:off x="8321040" y="4956048"/>
            <a:ext cx="2651760" cy="146304"/>
          </a:xfrm>
          <a:prstGeom prst="roundRect">
            <a:avLst>
              <a:gd name="adj" fmla="val 50000"/>
            </a:avLst>
          </a:prstGeom>
          <a:solidFill>
            <a:srgbClr val="E2E8F0"/>
          </a:solidFill>
          <a:ln/>
        </p:spPr>
        <p:txBody>
          <a:bodyPr/>
          <a:lstStyle/>
          <a:p>
            <a:endParaRPr lang="en-US"/>
          </a:p>
        </p:txBody>
      </p:sp>
      <p:sp>
        <p:nvSpPr>
          <p:cNvPr id="39" name="Shape 30"/>
          <p:cNvSpPr/>
          <p:nvPr/>
        </p:nvSpPr>
        <p:spPr>
          <a:xfrm>
            <a:off x="8321040" y="4956048"/>
            <a:ext cx="265176" cy="146304"/>
          </a:xfrm>
          <a:prstGeom prst="roundRect">
            <a:avLst>
              <a:gd name="adj" fmla="val 50000"/>
            </a:avLst>
          </a:prstGeom>
          <a:solidFill>
            <a:srgbClr val="6366F1"/>
          </a:solidFill>
          <a:ln/>
        </p:spPr>
        <p:txBody>
          <a:bodyPr/>
          <a:lstStyle/>
          <a:p>
            <a:endParaRPr lang="en-US"/>
          </a:p>
        </p:txBody>
      </p:sp>
      <p:sp>
        <p:nvSpPr>
          <p:cNvPr id="40" name="Text 31"/>
          <p:cNvSpPr/>
          <p:nvPr/>
        </p:nvSpPr>
        <p:spPr>
          <a:xfrm>
            <a:off x="10991088" y="4681728"/>
            <a:ext cx="365760" cy="256032"/>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10%</a:t>
            </a:r>
            <a:endParaRPr lang="en-US" sz="950" dirty="0"/>
          </a:p>
        </p:txBody>
      </p:sp>
      <p:sp>
        <p:nvSpPr>
          <p:cNvPr id="41" name="Text 32"/>
          <p:cNvSpPr/>
          <p:nvPr/>
        </p:nvSpPr>
        <p:spPr>
          <a:xfrm>
            <a:off x="8321040" y="5248656"/>
            <a:ext cx="1005840" cy="256032"/>
          </a:xfrm>
          <a:prstGeom prst="rect">
            <a:avLst/>
          </a:prstGeom>
          <a:noFill/>
          <a:ln/>
        </p:spPr>
        <p:txBody>
          <a:bodyPr wrap="square" lIns="0" tIns="0" rIns="0" bIns="0" rtlCol="0" anchor="ctr"/>
          <a:lstStyle/>
          <a:p>
            <a:pPr marL="0" indent="0">
              <a:buNone/>
            </a:pPr>
            <a:r>
              <a:rPr lang="en-US" sz="1000" dirty="0">
                <a:solidFill>
                  <a:srgbClr val="0F172A"/>
                </a:solidFill>
                <a:latin typeface="Arial" pitchFamily="34" charset="0"/>
                <a:ea typeface="Arial" pitchFamily="34" charset="-122"/>
                <a:cs typeface="Arial" pitchFamily="34" charset="-120"/>
              </a:rPr>
              <a:t>Low</a:t>
            </a:r>
            <a:endParaRPr lang="en-US" sz="1000" dirty="0"/>
          </a:p>
        </p:txBody>
      </p:sp>
      <p:sp>
        <p:nvSpPr>
          <p:cNvPr id="42" name="Shape 33"/>
          <p:cNvSpPr/>
          <p:nvPr/>
        </p:nvSpPr>
        <p:spPr>
          <a:xfrm>
            <a:off x="8321040" y="5522976"/>
            <a:ext cx="2651760" cy="146304"/>
          </a:xfrm>
          <a:prstGeom prst="roundRect">
            <a:avLst>
              <a:gd name="adj" fmla="val 50000"/>
            </a:avLst>
          </a:prstGeom>
          <a:solidFill>
            <a:srgbClr val="E2E8F0"/>
          </a:solidFill>
          <a:ln/>
        </p:spPr>
        <p:txBody>
          <a:bodyPr/>
          <a:lstStyle/>
          <a:p>
            <a:endParaRPr lang="en-US"/>
          </a:p>
        </p:txBody>
      </p:sp>
      <p:sp>
        <p:nvSpPr>
          <p:cNvPr id="43" name="Shape 34"/>
          <p:cNvSpPr/>
          <p:nvPr/>
        </p:nvSpPr>
        <p:spPr>
          <a:xfrm>
            <a:off x="8321040" y="5522976"/>
            <a:ext cx="146304" cy="146304"/>
          </a:xfrm>
          <a:prstGeom prst="roundRect">
            <a:avLst>
              <a:gd name="adj" fmla="val 50000"/>
            </a:avLst>
          </a:prstGeom>
          <a:solidFill>
            <a:srgbClr val="EF4444"/>
          </a:solidFill>
          <a:ln/>
        </p:spPr>
        <p:txBody>
          <a:bodyPr/>
          <a:lstStyle/>
          <a:p>
            <a:endParaRPr lang="en-US"/>
          </a:p>
        </p:txBody>
      </p:sp>
      <p:sp>
        <p:nvSpPr>
          <p:cNvPr id="44" name="Text 35"/>
          <p:cNvSpPr/>
          <p:nvPr/>
        </p:nvSpPr>
        <p:spPr>
          <a:xfrm>
            <a:off x="10991088" y="5248656"/>
            <a:ext cx="365760" cy="256032"/>
          </a:xfrm>
          <a:prstGeom prst="rect">
            <a:avLst/>
          </a:prstGeom>
          <a:noFill/>
          <a:ln/>
        </p:spPr>
        <p:txBody>
          <a:bodyPr wrap="square" lIns="0" tIns="0" rIns="0" bIns="0" rtlCol="0" anchor="ctr"/>
          <a:lstStyle/>
          <a:p>
            <a:pPr marL="0" indent="0">
              <a:buNone/>
            </a:pPr>
            <a:r>
              <a:rPr lang="en-US" sz="950" dirty="0">
                <a:solidFill>
                  <a:srgbClr val="64748B"/>
                </a:solidFill>
                <a:latin typeface="Arial" pitchFamily="34" charset="0"/>
                <a:ea typeface="Arial" pitchFamily="34" charset="-122"/>
                <a:cs typeface="Arial" pitchFamily="34" charset="-120"/>
              </a:rPr>
              <a:t>3%</a:t>
            </a:r>
            <a:endParaRPr lang="en-US" sz="950" dirty="0"/>
          </a:p>
        </p:txBody>
      </p:sp>
      <p:sp>
        <p:nvSpPr>
          <p:cNvPr id="45" name="Text 36"/>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46" name="Text 37"/>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06  ·  OUTCOME</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Conclusion</a:t>
            </a:r>
            <a:endParaRPr lang="en-US" sz="3200" dirty="0"/>
          </a:p>
        </p:txBody>
      </p:sp>
      <p:sp>
        <p:nvSpPr>
          <p:cNvPr id="4" name="Shape 2"/>
          <p:cNvSpPr/>
          <p:nvPr/>
        </p:nvSpPr>
        <p:spPr>
          <a:xfrm>
            <a:off x="548640" y="1554480"/>
            <a:ext cx="5257800" cy="1965960"/>
          </a:xfrm>
          <a:prstGeom prst="roundRect">
            <a:avLst>
              <a:gd name="adj" fmla="val 651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Shape 3"/>
          <p:cNvSpPr/>
          <p:nvPr/>
        </p:nvSpPr>
        <p:spPr>
          <a:xfrm>
            <a:off x="937260" y="214884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CheckCircle.png"/>
          <p:cNvPicPr>
            <a:picLocks noChangeAspect="1"/>
          </p:cNvPicPr>
          <p:nvPr/>
        </p:nvPicPr>
        <p:blipFill>
          <a:blip r:embed="rId3"/>
          <a:stretch>
            <a:fillRect/>
          </a:stretch>
        </p:blipFill>
        <p:spPr>
          <a:xfrm>
            <a:off x="1131570" y="2343150"/>
            <a:ext cx="388620" cy="388620"/>
          </a:xfrm>
          <a:prstGeom prst="rect">
            <a:avLst/>
          </a:prstGeom>
        </p:spPr>
      </p:pic>
      <p:sp>
        <p:nvSpPr>
          <p:cNvPr id="7" name="Text 4"/>
          <p:cNvSpPr/>
          <p:nvPr/>
        </p:nvSpPr>
        <p:spPr>
          <a:xfrm>
            <a:off x="1920240" y="1874520"/>
            <a:ext cx="3657600" cy="45720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Objectives Achieved</a:t>
            </a:r>
            <a:endParaRPr lang="en-US" sz="1450" dirty="0"/>
          </a:p>
        </p:txBody>
      </p:sp>
      <p:sp>
        <p:nvSpPr>
          <p:cNvPr id="8" name="Text 5"/>
          <p:cNvSpPr/>
          <p:nvPr/>
        </p:nvSpPr>
        <p:spPr>
          <a:xfrm>
            <a:off x="1920240" y="2331720"/>
            <a:ext cx="3657600" cy="1005840"/>
          </a:xfrm>
          <a:prstGeom prst="rect">
            <a:avLst/>
          </a:prstGeom>
          <a:noFill/>
          <a:ln/>
        </p:spPr>
        <p:txBody>
          <a:bodyPr wrap="square" lIns="0" tIns="0" rIns="0" bIns="0" rtlCol="0" anchor="ctr"/>
          <a:lstStyle/>
          <a:p>
            <a:pPr marL="0" indent="0">
              <a:lnSpc>
                <a:spcPct val="130000"/>
              </a:lnSpc>
              <a:buNone/>
            </a:pPr>
            <a:r>
              <a:rPr lang="en-US" sz="1100" dirty="0">
                <a:solidFill>
                  <a:srgbClr val="64748B"/>
                </a:solidFill>
                <a:latin typeface="Arial" pitchFamily="34" charset="0"/>
                <a:ea typeface="Arial" pitchFamily="34" charset="-122"/>
                <a:cs typeface="Arial" pitchFamily="34" charset="-120"/>
              </a:rPr>
              <a:t>Built an end-to-end pipeline that predicts student performance from academic and lifestyle data.</a:t>
            </a:r>
            <a:endParaRPr lang="en-US" sz="1100" dirty="0"/>
          </a:p>
        </p:txBody>
      </p:sp>
      <p:sp>
        <p:nvSpPr>
          <p:cNvPr id="9" name="Shape 6"/>
          <p:cNvSpPr/>
          <p:nvPr/>
        </p:nvSpPr>
        <p:spPr>
          <a:xfrm>
            <a:off x="6172200" y="1554480"/>
            <a:ext cx="5257800" cy="1965960"/>
          </a:xfrm>
          <a:prstGeom prst="roundRect">
            <a:avLst>
              <a:gd name="adj" fmla="val 651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0" name="Shape 7"/>
          <p:cNvSpPr/>
          <p:nvPr/>
        </p:nvSpPr>
        <p:spPr>
          <a:xfrm>
            <a:off x="6560820" y="214884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11" name="Image 1" descr="/home/claude/assets/icons/FiAward.png"/>
          <p:cNvPicPr>
            <a:picLocks noChangeAspect="1"/>
          </p:cNvPicPr>
          <p:nvPr/>
        </p:nvPicPr>
        <p:blipFill>
          <a:blip r:embed="rId4"/>
          <a:stretch>
            <a:fillRect/>
          </a:stretch>
        </p:blipFill>
        <p:spPr>
          <a:xfrm>
            <a:off x="6755130" y="2343150"/>
            <a:ext cx="388620" cy="388620"/>
          </a:xfrm>
          <a:prstGeom prst="rect">
            <a:avLst/>
          </a:prstGeom>
        </p:spPr>
      </p:pic>
      <p:sp>
        <p:nvSpPr>
          <p:cNvPr id="12" name="Text 8"/>
          <p:cNvSpPr/>
          <p:nvPr/>
        </p:nvSpPr>
        <p:spPr>
          <a:xfrm>
            <a:off x="7543800" y="1874520"/>
            <a:ext cx="3657600" cy="45720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Best Model: Random Forest</a:t>
            </a:r>
            <a:endParaRPr lang="en-US" sz="1450" dirty="0"/>
          </a:p>
        </p:txBody>
      </p:sp>
      <p:sp>
        <p:nvSpPr>
          <p:cNvPr id="13" name="Text 9"/>
          <p:cNvSpPr/>
          <p:nvPr/>
        </p:nvSpPr>
        <p:spPr>
          <a:xfrm>
            <a:off x="7543800" y="2331720"/>
            <a:ext cx="3657600" cy="1005840"/>
          </a:xfrm>
          <a:prstGeom prst="rect">
            <a:avLst/>
          </a:prstGeom>
          <a:noFill/>
          <a:ln/>
        </p:spPr>
        <p:txBody>
          <a:bodyPr wrap="square" lIns="0" tIns="0" rIns="0" bIns="0" rtlCol="0" anchor="ctr"/>
          <a:lstStyle/>
          <a:p>
            <a:pPr marL="0" indent="0">
              <a:lnSpc>
                <a:spcPct val="130000"/>
              </a:lnSpc>
              <a:buNone/>
            </a:pPr>
            <a:r>
              <a:rPr lang="en-US" sz="1100" dirty="0">
                <a:solidFill>
                  <a:srgbClr val="64748B"/>
                </a:solidFill>
                <a:latin typeface="Arial" pitchFamily="34" charset="0"/>
                <a:ea typeface="Arial" pitchFamily="34" charset="-122"/>
                <a:cs typeface="Arial" pitchFamily="34" charset="-120"/>
              </a:rPr>
              <a:t>Delivered 91.4% accuracy — the strongest and most balanced performer of the six models tested.</a:t>
            </a:r>
            <a:endParaRPr lang="en-US" sz="1100" dirty="0"/>
          </a:p>
        </p:txBody>
      </p:sp>
      <p:sp>
        <p:nvSpPr>
          <p:cNvPr id="14" name="Shape 10"/>
          <p:cNvSpPr/>
          <p:nvPr/>
        </p:nvSpPr>
        <p:spPr>
          <a:xfrm>
            <a:off x="548640" y="3794760"/>
            <a:ext cx="5257800" cy="1965960"/>
          </a:xfrm>
          <a:prstGeom prst="roundRect">
            <a:avLst>
              <a:gd name="adj" fmla="val 651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5" name="Shape 11"/>
          <p:cNvSpPr/>
          <p:nvPr/>
        </p:nvSpPr>
        <p:spPr>
          <a:xfrm>
            <a:off x="937260" y="4389120"/>
            <a:ext cx="777240" cy="7772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6" name="Image 2" descr="/home/claude/assets/icons/FiUsers.png"/>
          <p:cNvPicPr>
            <a:picLocks noChangeAspect="1"/>
          </p:cNvPicPr>
          <p:nvPr/>
        </p:nvPicPr>
        <p:blipFill>
          <a:blip r:embed="rId5"/>
          <a:stretch>
            <a:fillRect/>
          </a:stretch>
        </p:blipFill>
        <p:spPr>
          <a:xfrm>
            <a:off x="1131570" y="4583430"/>
            <a:ext cx="388620" cy="388620"/>
          </a:xfrm>
          <a:prstGeom prst="rect">
            <a:avLst/>
          </a:prstGeom>
        </p:spPr>
      </p:pic>
      <p:sp>
        <p:nvSpPr>
          <p:cNvPr id="17" name="Text 12"/>
          <p:cNvSpPr/>
          <p:nvPr/>
        </p:nvSpPr>
        <p:spPr>
          <a:xfrm>
            <a:off x="1920240" y="4114800"/>
            <a:ext cx="3657600" cy="45720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Educational Benefit</a:t>
            </a:r>
            <a:endParaRPr lang="en-US" sz="1450" dirty="0"/>
          </a:p>
        </p:txBody>
      </p:sp>
      <p:sp>
        <p:nvSpPr>
          <p:cNvPr id="18" name="Text 13"/>
          <p:cNvSpPr/>
          <p:nvPr/>
        </p:nvSpPr>
        <p:spPr>
          <a:xfrm>
            <a:off x="1920240" y="4572000"/>
            <a:ext cx="3657600" cy="1005840"/>
          </a:xfrm>
          <a:prstGeom prst="rect">
            <a:avLst/>
          </a:prstGeom>
          <a:noFill/>
          <a:ln/>
        </p:spPr>
        <p:txBody>
          <a:bodyPr wrap="square" lIns="0" tIns="0" rIns="0" bIns="0" rtlCol="0" anchor="ctr"/>
          <a:lstStyle/>
          <a:p>
            <a:pPr marL="0" indent="0">
              <a:lnSpc>
                <a:spcPct val="130000"/>
              </a:lnSpc>
              <a:buNone/>
            </a:pPr>
            <a:r>
              <a:rPr lang="en-US" sz="1100" dirty="0">
                <a:solidFill>
                  <a:srgbClr val="64748B"/>
                </a:solidFill>
                <a:latin typeface="Arial" pitchFamily="34" charset="0"/>
                <a:ea typeface="Arial" pitchFamily="34" charset="-122"/>
                <a:cs typeface="Arial" pitchFamily="34" charset="-120"/>
              </a:rPr>
              <a:t>Enables teachers and institutions to identify at-risk students early and act before it is too late.</a:t>
            </a:r>
            <a:endParaRPr lang="en-US" sz="1100" dirty="0"/>
          </a:p>
        </p:txBody>
      </p:sp>
      <p:sp>
        <p:nvSpPr>
          <p:cNvPr id="19" name="Shape 14"/>
          <p:cNvSpPr/>
          <p:nvPr/>
        </p:nvSpPr>
        <p:spPr>
          <a:xfrm>
            <a:off x="6172200" y="3794760"/>
            <a:ext cx="5257800" cy="1965960"/>
          </a:xfrm>
          <a:prstGeom prst="roundRect">
            <a:avLst>
              <a:gd name="adj" fmla="val 6512"/>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0" name="Shape 15"/>
          <p:cNvSpPr/>
          <p:nvPr/>
        </p:nvSpPr>
        <p:spPr>
          <a:xfrm>
            <a:off x="6560820" y="4389120"/>
            <a:ext cx="777240" cy="77724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21" name="Image 3" descr="/home/claude/assets/icons/FiTrendingUp.png"/>
          <p:cNvPicPr>
            <a:picLocks noChangeAspect="1"/>
          </p:cNvPicPr>
          <p:nvPr/>
        </p:nvPicPr>
        <p:blipFill>
          <a:blip r:embed="rId6"/>
          <a:stretch>
            <a:fillRect/>
          </a:stretch>
        </p:blipFill>
        <p:spPr>
          <a:xfrm>
            <a:off x="6755130" y="4583430"/>
            <a:ext cx="388620" cy="388620"/>
          </a:xfrm>
          <a:prstGeom prst="rect">
            <a:avLst/>
          </a:prstGeom>
        </p:spPr>
      </p:pic>
      <p:sp>
        <p:nvSpPr>
          <p:cNvPr id="22" name="Text 16"/>
          <p:cNvSpPr/>
          <p:nvPr/>
        </p:nvSpPr>
        <p:spPr>
          <a:xfrm>
            <a:off x="7543800" y="4114800"/>
            <a:ext cx="3657600" cy="45720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Key Finding</a:t>
            </a:r>
            <a:endParaRPr lang="en-US" sz="1450" dirty="0"/>
          </a:p>
        </p:txBody>
      </p:sp>
      <p:sp>
        <p:nvSpPr>
          <p:cNvPr id="23" name="Text 17"/>
          <p:cNvSpPr/>
          <p:nvPr/>
        </p:nvSpPr>
        <p:spPr>
          <a:xfrm>
            <a:off x="7543800" y="4572000"/>
            <a:ext cx="3657600" cy="1005840"/>
          </a:xfrm>
          <a:prstGeom prst="rect">
            <a:avLst/>
          </a:prstGeom>
          <a:noFill/>
          <a:ln/>
        </p:spPr>
        <p:txBody>
          <a:bodyPr wrap="square" lIns="0" tIns="0" rIns="0" bIns="0" rtlCol="0" anchor="ctr"/>
          <a:lstStyle/>
          <a:p>
            <a:pPr marL="0" indent="0">
              <a:lnSpc>
                <a:spcPct val="130000"/>
              </a:lnSpc>
              <a:buNone/>
            </a:pPr>
            <a:r>
              <a:rPr lang="en-US" sz="1100" dirty="0">
                <a:solidFill>
                  <a:srgbClr val="64748B"/>
                </a:solidFill>
                <a:latin typeface="Arial" pitchFamily="34" charset="0"/>
                <a:ea typeface="Arial" pitchFamily="34" charset="-122"/>
                <a:cs typeface="Arial" pitchFamily="34" charset="-120"/>
              </a:rPr>
              <a:t>Attendance and previous scores are the strongest predictors — simple metrics with high signal.</a:t>
            </a:r>
            <a:endParaRPr lang="en-US" sz="1100" dirty="0"/>
          </a:p>
        </p:txBody>
      </p:sp>
      <p:sp>
        <p:nvSpPr>
          <p:cNvPr id="24" name="Text 18"/>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25" name="Text 19"/>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buNone/>
            </a:pPr>
            <a:r>
              <a:rPr lang="en-US" sz="1200" b="1" kern="0" spc="200" dirty="0">
                <a:solidFill>
                  <a:srgbClr val="4F46E5"/>
                </a:solidFill>
                <a:latin typeface="Arial" pitchFamily="34" charset="0"/>
                <a:ea typeface="Arial" pitchFamily="34" charset="-122"/>
                <a:cs typeface="Arial" pitchFamily="34" charset="-120"/>
              </a:rPr>
              <a:t>06  ·  OUTCOME</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3200" b="1" dirty="0">
                <a:solidFill>
                  <a:srgbClr val="0F172A"/>
                </a:solidFill>
                <a:latin typeface="Arial" pitchFamily="34" charset="0"/>
                <a:ea typeface="Arial" pitchFamily="34" charset="-122"/>
                <a:cs typeface="Arial" pitchFamily="34" charset="-120"/>
              </a:rPr>
              <a:t>Future Scope</a:t>
            </a:r>
            <a:endParaRPr lang="en-US" sz="3200" dirty="0"/>
          </a:p>
        </p:txBody>
      </p:sp>
      <p:sp>
        <p:nvSpPr>
          <p:cNvPr id="4" name="Shape 2"/>
          <p:cNvSpPr/>
          <p:nvPr/>
        </p:nvSpPr>
        <p:spPr>
          <a:xfrm>
            <a:off x="548640" y="1691640"/>
            <a:ext cx="2587752" cy="1783080"/>
          </a:xfrm>
          <a:prstGeom prst="roundRect">
            <a:avLst>
              <a:gd name="adj" fmla="val 666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5" name="Shape 3"/>
          <p:cNvSpPr/>
          <p:nvPr/>
        </p:nvSpPr>
        <p:spPr>
          <a:xfrm>
            <a:off x="1499616" y="1897380"/>
            <a:ext cx="685800" cy="68580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6" name="Image 0" descr="/home/claude/assets/icons/FiCpu.png"/>
          <p:cNvPicPr>
            <a:picLocks noChangeAspect="1"/>
          </p:cNvPicPr>
          <p:nvPr/>
        </p:nvPicPr>
        <p:blipFill>
          <a:blip r:embed="rId3"/>
          <a:stretch>
            <a:fillRect/>
          </a:stretch>
        </p:blipFill>
        <p:spPr>
          <a:xfrm>
            <a:off x="1671066" y="2068830"/>
            <a:ext cx="342900" cy="342900"/>
          </a:xfrm>
          <a:prstGeom prst="rect">
            <a:avLst/>
          </a:prstGeom>
        </p:spPr>
      </p:pic>
      <p:sp>
        <p:nvSpPr>
          <p:cNvPr id="7" name="Text 4"/>
          <p:cNvSpPr/>
          <p:nvPr/>
        </p:nvSpPr>
        <p:spPr>
          <a:xfrm>
            <a:off x="685800" y="2697480"/>
            <a:ext cx="2313432"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Deep Learning</a:t>
            </a:r>
            <a:endParaRPr lang="en-US" sz="1150" dirty="0"/>
          </a:p>
        </p:txBody>
      </p:sp>
      <p:sp>
        <p:nvSpPr>
          <p:cNvPr id="8" name="Text 5"/>
          <p:cNvSpPr/>
          <p:nvPr/>
        </p:nvSpPr>
        <p:spPr>
          <a:xfrm>
            <a:off x="704088" y="3063240"/>
            <a:ext cx="2276856" cy="384048"/>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Neural networks for richer patterns</a:t>
            </a:r>
            <a:endParaRPr lang="en-US" sz="880" dirty="0"/>
          </a:p>
        </p:txBody>
      </p:sp>
      <p:sp>
        <p:nvSpPr>
          <p:cNvPr id="9" name="Shape 6"/>
          <p:cNvSpPr/>
          <p:nvPr/>
        </p:nvSpPr>
        <p:spPr>
          <a:xfrm>
            <a:off x="3282696" y="1691640"/>
            <a:ext cx="2587752" cy="1783080"/>
          </a:xfrm>
          <a:prstGeom prst="roundRect">
            <a:avLst>
              <a:gd name="adj" fmla="val 666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0" name="Shape 7"/>
          <p:cNvSpPr/>
          <p:nvPr/>
        </p:nvSpPr>
        <p:spPr>
          <a:xfrm>
            <a:off x="4233672" y="1897380"/>
            <a:ext cx="685800" cy="68580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1" name="Image 1" descr="/home/claude/assets/icons/FiGlobe.png"/>
          <p:cNvPicPr>
            <a:picLocks noChangeAspect="1"/>
          </p:cNvPicPr>
          <p:nvPr/>
        </p:nvPicPr>
        <p:blipFill>
          <a:blip r:embed="rId4"/>
          <a:stretch>
            <a:fillRect/>
          </a:stretch>
        </p:blipFill>
        <p:spPr>
          <a:xfrm>
            <a:off x="4405122" y="2068830"/>
            <a:ext cx="342900" cy="342900"/>
          </a:xfrm>
          <a:prstGeom prst="rect">
            <a:avLst/>
          </a:prstGeom>
        </p:spPr>
      </p:pic>
      <p:sp>
        <p:nvSpPr>
          <p:cNvPr id="12" name="Text 8"/>
          <p:cNvSpPr/>
          <p:nvPr/>
        </p:nvSpPr>
        <p:spPr>
          <a:xfrm>
            <a:off x="3419856" y="2697480"/>
            <a:ext cx="2313432"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Web Deployment</a:t>
            </a:r>
            <a:endParaRPr lang="en-US" sz="1150" dirty="0"/>
          </a:p>
        </p:txBody>
      </p:sp>
      <p:sp>
        <p:nvSpPr>
          <p:cNvPr id="13" name="Text 9"/>
          <p:cNvSpPr/>
          <p:nvPr/>
        </p:nvSpPr>
        <p:spPr>
          <a:xfrm>
            <a:off x="3438144" y="3063240"/>
            <a:ext cx="2276856" cy="384048"/>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Ship as a live web application</a:t>
            </a:r>
            <a:endParaRPr lang="en-US" sz="880" dirty="0"/>
          </a:p>
        </p:txBody>
      </p:sp>
      <p:sp>
        <p:nvSpPr>
          <p:cNvPr id="14" name="Shape 10"/>
          <p:cNvSpPr/>
          <p:nvPr/>
        </p:nvSpPr>
        <p:spPr>
          <a:xfrm>
            <a:off x="6016752" y="1691640"/>
            <a:ext cx="2587752" cy="1783080"/>
          </a:xfrm>
          <a:prstGeom prst="roundRect">
            <a:avLst>
              <a:gd name="adj" fmla="val 666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15" name="Shape 11"/>
          <p:cNvSpPr/>
          <p:nvPr/>
        </p:nvSpPr>
        <p:spPr>
          <a:xfrm>
            <a:off x="6967728" y="1897380"/>
            <a:ext cx="685800" cy="68580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16" name="Image 2" descr="/home/claude/assets/icons/FiZap.png"/>
          <p:cNvPicPr>
            <a:picLocks noChangeAspect="1"/>
          </p:cNvPicPr>
          <p:nvPr/>
        </p:nvPicPr>
        <p:blipFill>
          <a:blip r:embed="rId5"/>
          <a:stretch>
            <a:fillRect/>
          </a:stretch>
        </p:blipFill>
        <p:spPr>
          <a:xfrm>
            <a:off x="7139178" y="2068830"/>
            <a:ext cx="342900" cy="342900"/>
          </a:xfrm>
          <a:prstGeom prst="rect">
            <a:avLst/>
          </a:prstGeom>
        </p:spPr>
      </p:pic>
      <p:sp>
        <p:nvSpPr>
          <p:cNvPr id="17" name="Text 12"/>
          <p:cNvSpPr/>
          <p:nvPr/>
        </p:nvSpPr>
        <p:spPr>
          <a:xfrm>
            <a:off x="6153912" y="2697480"/>
            <a:ext cx="2313432"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Real-Time Prediction</a:t>
            </a:r>
            <a:endParaRPr lang="en-US" sz="1150" dirty="0"/>
          </a:p>
        </p:txBody>
      </p:sp>
      <p:sp>
        <p:nvSpPr>
          <p:cNvPr id="18" name="Text 13"/>
          <p:cNvSpPr/>
          <p:nvPr/>
        </p:nvSpPr>
        <p:spPr>
          <a:xfrm>
            <a:off x="6172200" y="3063240"/>
            <a:ext cx="2276856" cy="384048"/>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Instant scoring as data updates</a:t>
            </a:r>
            <a:endParaRPr lang="en-US" sz="880" dirty="0"/>
          </a:p>
        </p:txBody>
      </p:sp>
      <p:sp>
        <p:nvSpPr>
          <p:cNvPr id="19" name="Shape 14"/>
          <p:cNvSpPr/>
          <p:nvPr/>
        </p:nvSpPr>
        <p:spPr>
          <a:xfrm>
            <a:off x="8750808" y="1691640"/>
            <a:ext cx="2587752" cy="1783080"/>
          </a:xfrm>
          <a:prstGeom prst="roundRect">
            <a:avLst>
              <a:gd name="adj" fmla="val 666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0" name="Shape 15"/>
          <p:cNvSpPr/>
          <p:nvPr/>
        </p:nvSpPr>
        <p:spPr>
          <a:xfrm>
            <a:off x="9701784" y="1897380"/>
            <a:ext cx="685800" cy="68580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21" name="Image 3" descr="/home/claude/assets/icons/FiUser.png"/>
          <p:cNvPicPr>
            <a:picLocks noChangeAspect="1"/>
          </p:cNvPicPr>
          <p:nvPr/>
        </p:nvPicPr>
        <p:blipFill>
          <a:blip r:embed="rId6"/>
          <a:stretch>
            <a:fillRect/>
          </a:stretch>
        </p:blipFill>
        <p:spPr>
          <a:xfrm>
            <a:off x="9873234" y="2068830"/>
            <a:ext cx="342900" cy="342900"/>
          </a:xfrm>
          <a:prstGeom prst="rect">
            <a:avLst/>
          </a:prstGeom>
        </p:spPr>
      </p:pic>
      <p:sp>
        <p:nvSpPr>
          <p:cNvPr id="22" name="Text 16"/>
          <p:cNvSpPr/>
          <p:nvPr/>
        </p:nvSpPr>
        <p:spPr>
          <a:xfrm>
            <a:off x="8887968" y="2697480"/>
            <a:ext cx="2313432"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Student Dashboard</a:t>
            </a:r>
            <a:endParaRPr lang="en-US" sz="1150" dirty="0"/>
          </a:p>
        </p:txBody>
      </p:sp>
      <p:sp>
        <p:nvSpPr>
          <p:cNvPr id="23" name="Text 17"/>
          <p:cNvSpPr/>
          <p:nvPr/>
        </p:nvSpPr>
        <p:spPr>
          <a:xfrm>
            <a:off x="8906256" y="3063240"/>
            <a:ext cx="2276856" cy="384048"/>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Personalized progress insights</a:t>
            </a:r>
            <a:endParaRPr lang="en-US" sz="880" dirty="0"/>
          </a:p>
        </p:txBody>
      </p:sp>
      <p:sp>
        <p:nvSpPr>
          <p:cNvPr id="24" name="Shape 18"/>
          <p:cNvSpPr/>
          <p:nvPr/>
        </p:nvSpPr>
        <p:spPr>
          <a:xfrm>
            <a:off x="548640" y="3794760"/>
            <a:ext cx="2587752" cy="1783080"/>
          </a:xfrm>
          <a:prstGeom prst="roundRect">
            <a:avLst>
              <a:gd name="adj" fmla="val 666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25" name="Shape 19"/>
          <p:cNvSpPr/>
          <p:nvPr/>
        </p:nvSpPr>
        <p:spPr>
          <a:xfrm>
            <a:off x="1499616" y="4000500"/>
            <a:ext cx="685800" cy="68580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26" name="Image 4" descr="/home/claude/assets/icons/FiUsers.png"/>
          <p:cNvPicPr>
            <a:picLocks noChangeAspect="1"/>
          </p:cNvPicPr>
          <p:nvPr/>
        </p:nvPicPr>
        <p:blipFill>
          <a:blip r:embed="rId7"/>
          <a:stretch>
            <a:fillRect/>
          </a:stretch>
        </p:blipFill>
        <p:spPr>
          <a:xfrm>
            <a:off x="1671066" y="4171950"/>
            <a:ext cx="342900" cy="342900"/>
          </a:xfrm>
          <a:prstGeom prst="rect">
            <a:avLst/>
          </a:prstGeom>
        </p:spPr>
      </p:pic>
      <p:sp>
        <p:nvSpPr>
          <p:cNvPr id="27" name="Text 20"/>
          <p:cNvSpPr/>
          <p:nvPr/>
        </p:nvSpPr>
        <p:spPr>
          <a:xfrm>
            <a:off x="685800" y="4800600"/>
            <a:ext cx="2313432"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Teacher Dashboard</a:t>
            </a:r>
            <a:endParaRPr lang="en-US" sz="1150" dirty="0"/>
          </a:p>
        </p:txBody>
      </p:sp>
      <p:sp>
        <p:nvSpPr>
          <p:cNvPr id="28" name="Text 21"/>
          <p:cNvSpPr/>
          <p:nvPr/>
        </p:nvSpPr>
        <p:spPr>
          <a:xfrm>
            <a:off x="704088" y="5166360"/>
            <a:ext cx="2276856" cy="384048"/>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Class-wide risk monitoring</a:t>
            </a:r>
            <a:endParaRPr lang="en-US" sz="880" dirty="0"/>
          </a:p>
        </p:txBody>
      </p:sp>
      <p:sp>
        <p:nvSpPr>
          <p:cNvPr id="29" name="Shape 22"/>
          <p:cNvSpPr/>
          <p:nvPr/>
        </p:nvSpPr>
        <p:spPr>
          <a:xfrm>
            <a:off x="3282696" y="3794760"/>
            <a:ext cx="2587752" cy="1783080"/>
          </a:xfrm>
          <a:prstGeom prst="roundRect">
            <a:avLst>
              <a:gd name="adj" fmla="val 666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30" name="Shape 23"/>
          <p:cNvSpPr/>
          <p:nvPr/>
        </p:nvSpPr>
        <p:spPr>
          <a:xfrm>
            <a:off x="4233672" y="4000500"/>
            <a:ext cx="685800" cy="68580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31" name="Image 5" descr="/home/claude/assets/icons/FiSmartphone.png"/>
          <p:cNvPicPr>
            <a:picLocks noChangeAspect="1"/>
          </p:cNvPicPr>
          <p:nvPr/>
        </p:nvPicPr>
        <p:blipFill>
          <a:blip r:embed="rId8"/>
          <a:stretch>
            <a:fillRect/>
          </a:stretch>
        </p:blipFill>
        <p:spPr>
          <a:xfrm>
            <a:off x="4405122" y="4171950"/>
            <a:ext cx="342900" cy="342900"/>
          </a:xfrm>
          <a:prstGeom prst="rect">
            <a:avLst/>
          </a:prstGeom>
        </p:spPr>
      </p:pic>
      <p:sp>
        <p:nvSpPr>
          <p:cNvPr id="32" name="Text 24"/>
          <p:cNvSpPr/>
          <p:nvPr/>
        </p:nvSpPr>
        <p:spPr>
          <a:xfrm>
            <a:off x="3419856" y="4800600"/>
            <a:ext cx="2313432"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Mobile App</a:t>
            </a:r>
            <a:endParaRPr lang="en-US" sz="1150" dirty="0"/>
          </a:p>
        </p:txBody>
      </p:sp>
      <p:sp>
        <p:nvSpPr>
          <p:cNvPr id="33" name="Text 25"/>
          <p:cNvSpPr/>
          <p:nvPr/>
        </p:nvSpPr>
        <p:spPr>
          <a:xfrm>
            <a:off x="3438144" y="5166360"/>
            <a:ext cx="2276856" cy="384048"/>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On-the-go access for staff</a:t>
            </a:r>
            <a:endParaRPr lang="en-US" sz="880" dirty="0"/>
          </a:p>
        </p:txBody>
      </p:sp>
      <p:sp>
        <p:nvSpPr>
          <p:cNvPr id="34" name="Shape 26"/>
          <p:cNvSpPr/>
          <p:nvPr/>
        </p:nvSpPr>
        <p:spPr>
          <a:xfrm>
            <a:off x="6016752" y="3794760"/>
            <a:ext cx="2587752" cy="1783080"/>
          </a:xfrm>
          <a:prstGeom prst="roundRect">
            <a:avLst>
              <a:gd name="adj" fmla="val 666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35" name="Shape 27"/>
          <p:cNvSpPr/>
          <p:nvPr/>
        </p:nvSpPr>
        <p:spPr>
          <a:xfrm>
            <a:off x="6967728" y="4000500"/>
            <a:ext cx="685800" cy="68580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36" name="Image 6" descr="/home/claude/assets/icons/FiCloud.png"/>
          <p:cNvPicPr>
            <a:picLocks noChangeAspect="1"/>
          </p:cNvPicPr>
          <p:nvPr/>
        </p:nvPicPr>
        <p:blipFill>
          <a:blip r:embed="rId9"/>
          <a:stretch>
            <a:fillRect/>
          </a:stretch>
        </p:blipFill>
        <p:spPr>
          <a:xfrm>
            <a:off x="7139178" y="4171950"/>
            <a:ext cx="342900" cy="342900"/>
          </a:xfrm>
          <a:prstGeom prst="rect">
            <a:avLst/>
          </a:prstGeom>
        </p:spPr>
      </p:pic>
      <p:sp>
        <p:nvSpPr>
          <p:cNvPr id="37" name="Text 28"/>
          <p:cNvSpPr/>
          <p:nvPr/>
        </p:nvSpPr>
        <p:spPr>
          <a:xfrm>
            <a:off x="6153912" y="4800600"/>
            <a:ext cx="2313432"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Cloud Deployment</a:t>
            </a:r>
            <a:endParaRPr lang="en-US" sz="1150" dirty="0"/>
          </a:p>
        </p:txBody>
      </p:sp>
      <p:sp>
        <p:nvSpPr>
          <p:cNvPr id="38" name="Text 29"/>
          <p:cNvSpPr/>
          <p:nvPr/>
        </p:nvSpPr>
        <p:spPr>
          <a:xfrm>
            <a:off x="6172200" y="5166360"/>
            <a:ext cx="2276856" cy="384048"/>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Scalable hosting &amp; data pipeline</a:t>
            </a:r>
            <a:endParaRPr lang="en-US" sz="880" dirty="0"/>
          </a:p>
        </p:txBody>
      </p:sp>
      <p:sp>
        <p:nvSpPr>
          <p:cNvPr id="39" name="Shape 30"/>
          <p:cNvSpPr/>
          <p:nvPr/>
        </p:nvSpPr>
        <p:spPr>
          <a:xfrm>
            <a:off x="8750808" y="3794760"/>
            <a:ext cx="2587752" cy="1783080"/>
          </a:xfrm>
          <a:prstGeom prst="roundRect">
            <a:avLst>
              <a:gd name="adj" fmla="val 6667"/>
            </a:avLst>
          </a:prstGeom>
          <a:solidFill>
            <a:srgbClr val="F8FAFC"/>
          </a:solidFill>
          <a:ln w="12700">
            <a:solidFill>
              <a:srgbClr val="E2E8F0"/>
            </a:solidFill>
            <a:prstDash val="solid"/>
          </a:ln>
          <a:effectLst>
            <a:outerShdw blurRad="76200" dist="25400" dir="5400000" algn="bl" rotWithShape="0">
              <a:srgbClr val="0F172A">
                <a:alpha val="12000"/>
              </a:srgbClr>
            </a:outerShdw>
          </a:effectLst>
        </p:spPr>
        <p:txBody>
          <a:bodyPr/>
          <a:lstStyle/>
          <a:p>
            <a:endParaRPr lang="en-US"/>
          </a:p>
        </p:txBody>
      </p:sp>
      <p:sp>
        <p:nvSpPr>
          <p:cNvPr id="40" name="Shape 31"/>
          <p:cNvSpPr/>
          <p:nvPr/>
        </p:nvSpPr>
        <p:spPr>
          <a:xfrm>
            <a:off x="9701784" y="4000500"/>
            <a:ext cx="685800" cy="685800"/>
          </a:xfrm>
          <a:prstGeom prst="ellipse">
            <a:avLst/>
          </a:prstGeom>
          <a:solidFill>
            <a:srgbClr val="8B5CF6"/>
          </a:solidFill>
          <a:ln/>
          <a:effectLst>
            <a:outerShdw blurRad="76200" dist="25400" dir="5400000" algn="bl" rotWithShape="0">
              <a:srgbClr val="0F172A">
                <a:alpha val="12000"/>
              </a:srgbClr>
            </a:outerShdw>
          </a:effectLst>
        </p:spPr>
        <p:txBody>
          <a:bodyPr/>
          <a:lstStyle/>
          <a:p>
            <a:endParaRPr lang="en-US"/>
          </a:p>
        </p:txBody>
      </p:sp>
      <p:pic>
        <p:nvPicPr>
          <p:cNvPr id="41" name="Image 7" descr="/home/claude/assets/icons/FiThumbsUp.png"/>
          <p:cNvPicPr>
            <a:picLocks noChangeAspect="1"/>
          </p:cNvPicPr>
          <p:nvPr/>
        </p:nvPicPr>
        <p:blipFill>
          <a:blip r:embed="rId10"/>
          <a:stretch>
            <a:fillRect/>
          </a:stretch>
        </p:blipFill>
        <p:spPr>
          <a:xfrm>
            <a:off x="9873234" y="4171950"/>
            <a:ext cx="342900" cy="342900"/>
          </a:xfrm>
          <a:prstGeom prst="rect">
            <a:avLst/>
          </a:prstGeom>
        </p:spPr>
      </p:pic>
      <p:sp>
        <p:nvSpPr>
          <p:cNvPr id="42" name="Text 32"/>
          <p:cNvSpPr/>
          <p:nvPr/>
        </p:nvSpPr>
        <p:spPr>
          <a:xfrm>
            <a:off x="8887968" y="4800600"/>
            <a:ext cx="2313432" cy="411480"/>
          </a:xfrm>
          <a:prstGeom prst="rect">
            <a:avLst/>
          </a:prstGeom>
          <a:noFill/>
          <a:ln/>
        </p:spPr>
        <p:txBody>
          <a:bodyPr wrap="square" lIns="0" tIns="0" rIns="0" bIns="0" rtlCol="0" anchor="ctr"/>
          <a:lstStyle/>
          <a:p>
            <a:pPr marL="0" indent="0" algn="ctr">
              <a:lnSpc>
                <a:spcPct val="105000"/>
              </a:lnSpc>
              <a:buNone/>
            </a:pPr>
            <a:r>
              <a:rPr lang="en-US" sz="1150" b="1" dirty="0">
                <a:solidFill>
                  <a:srgbClr val="0F172A"/>
                </a:solidFill>
                <a:latin typeface="Arial" pitchFamily="34" charset="0"/>
                <a:ea typeface="Arial" pitchFamily="34" charset="-122"/>
                <a:cs typeface="Arial" pitchFamily="34" charset="-120"/>
              </a:rPr>
              <a:t>Recommendations</a:t>
            </a:r>
            <a:endParaRPr lang="en-US" sz="1150" dirty="0"/>
          </a:p>
        </p:txBody>
      </p:sp>
      <p:sp>
        <p:nvSpPr>
          <p:cNvPr id="43" name="Text 33"/>
          <p:cNvSpPr/>
          <p:nvPr/>
        </p:nvSpPr>
        <p:spPr>
          <a:xfrm>
            <a:off x="8906256" y="5166360"/>
            <a:ext cx="2276856" cy="384048"/>
          </a:xfrm>
          <a:prstGeom prst="rect">
            <a:avLst/>
          </a:prstGeom>
          <a:noFill/>
          <a:ln/>
        </p:spPr>
        <p:txBody>
          <a:bodyPr wrap="square" lIns="0" tIns="0" rIns="0" bIns="0" rtlCol="0" anchor="ctr"/>
          <a:lstStyle/>
          <a:p>
            <a:pPr marL="0" indent="0" algn="ctr">
              <a:lnSpc>
                <a:spcPct val="110000"/>
              </a:lnSpc>
              <a:buNone/>
            </a:pPr>
            <a:r>
              <a:rPr lang="en-US" sz="880" dirty="0">
                <a:solidFill>
                  <a:srgbClr val="64748B"/>
                </a:solidFill>
                <a:latin typeface="Arial" pitchFamily="34" charset="0"/>
                <a:ea typeface="Arial" pitchFamily="34" charset="-122"/>
                <a:cs typeface="Arial" pitchFamily="34" charset="-120"/>
              </a:rPr>
              <a:t>Personalized study suggestions</a:t>
            </a:r>
            <a:endParaRPr lang="en-US" sz="880" dirty="0"/>
          </a:p>
        </p:txBody>
      </p:sp>
      <p:sp>
        <p:nvSpPr>
          <p:cNvPr id="44" name="Shape 34"/>
          <p:cNvSpPr/>
          <p:nvPr/>
        </p:nvSpPr>
        <p:spPr>
          <a:xfrm>
            <a:off x="1842516" y="3474720"/>
            <a:ext cx="0" cy="320040"/>
          </a:xfrm>
          <a:prstGeom prst="line">
            <a:avLst/>
          </a:prstGeom>
          <a:noFill/>
          <a:ln w="12700">
            <a:solidFill>
              <a:srgbClr val="FFFFFF"/>
            </a:solidFill>
            <a:prstDash val="solid"/>
          </a:ln>
        </p:spPr>
        <p:txBody>
          <a:bodyPr/>
          <a:lstStyle/>
          <a:p>
            <a:endParaRPr lang="en-US"/>
          </a:p>
        </p:txBody>
      </p:sp>
      <p:sp>
        <p:nvSpPr>
          <p:cNvPr id="45" name="Text 35"/>
          <p:cNvSpPr/>
          <p:nvPr/>
        </p:nvSpPr>
        <p:spPr>
          <a:xfrm>
            <a:off x="457200" y="6510528"/>
            <a:ext cx="7315200" cy="256032"/>
          </a:xfrm>
          <a:prstGeom prst="rect">
            <a:avLst/>
          </a:prstGeom>
          <a:noFill/>
          <a:ln/>
        </p:spPr>
        <p:txBody>
          <a:bodyPr wrap="square" lIns="0" tIns="0" rIns="0" bIns="0" rtlCol="0" anchor="ctr"/>
          <a:lstStyle/>
          <a:p>
            <a:pPr marL="0" indent="0">
              <a:buNone/>
            </a:pPr>
            <a:r>
              <a:rPr lang="en-US" sz="900" dirty="0">
                <a:solidFill>
                  <a:srgbClr val="94A3B8"/>
                </a:solidFill>
                <a:latin typeface="Arial" pitchFamily="34" charset="0"/>
                <a:ea typeface="Arial" pitchFamily="34" charset="-122"/>
                <a:cs typeface="Arial" pitchFamily="34" charset="-120"/>
              </a:rPr>
              <a:t>Student Performance Prediction  |  ML Microproject</a:t>
            </a:r>
            <a:endParaRPr lang="en-US" sz="900" dirty="0"/>
          </a:p>
        </p:txBody>
      </p:sp>
      <p:sp>
        <p:nvSpPr>
          <p:cNvPr id="46" name="Text 36"/>
          <p:cNvSpPr/>
          <p:nvPr/>
        </p:nvSpPr>
        <p:spPr>
          <a:xfrm>
            <a:off x="11457432" y="6510528"/>
            <a:ext cx="36576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943600" cy="5943600"/>
          </a:xfrm>
          <a:prstGeom prst="ellipse">
            <a:avLst/>
          </a:prstGeom>
          <a:solidFill>
            <a:srgbClr val="4F46E5">
              <a:alpha val="22000"/>
            </a:srgbClr>
          </a:solidFill>
          <a:ln/>
        </p:spPr>
        <p:txBody>
          <a:bodyPr/>
          <a:lstStyle/>
          <a:p>
            <a:endParaRPr lang="en-US"/>
          </a:p>
        </p:txBody>
      </p:sp>
      <p:sp>
        <p:nvSpPr>
          <p:cNvPr id="3" name="Shape 1"/>
          <p:cNvSpPr/>
          <p:nvPr/>
        </p:nvSpPr>
        <p:spPr>
          <a:xfrm>
            <a:off x="8686800" y="3200400"/>
            <a:ext cx="5486400" cy="5486400"/>
          </a:xfrm>
          <a:prstGeom prst="ellipse">
            <a:avLst/>
          </a:prstGeom>
          <a:solidFill>
            <a:srgbClr val="8B5CF6">
              <a:alpha val="20000"/>
            </a:srgbClr>
          </a:solidFill>
          <a:ln/>
        </p:spPr>
        <p:txBody>
          <a:bodyPr/>
          <a:lstStyle/>
          <a:p>
            <a:endParaRPr lang="en-US"/>
          </a:p>
        </p:txBody>
      </p:sp>
      <p:sp>
        <p:nvSpPr>
          <p:cNvPr id="4" name="Shape 2"/>
          <p:cNvSpPr/>
          <p:nvPr/>
        </p:nvSpPr>
        <p:spPr>
          <a:xfrm>
            <a:off x="5596128" y="1234440"/>
            <a:ext cx="1005840" cy="1005840"/>
          </a:xfrm>
          <a:prstGeom prst="ellipse">
            <a:avLst/>
          </a:prstGeom>
          <a:solidFill>
            <a:srgbClr val="4F46E5"/>
          </a:solidFill>
          <a:ln/>
          <a:effectLst>
            <a:outerShdw blurRad="76200" dist="25400" dir="5400000" algn="bl" rotWithShape="0">
              <a:srgbClr val="0F172A">
                <a:alpha val="12000"/>
              </a:srgbClr>
            </a:outerShdw>
          </a:effectLst>
        </p:spPr>
        <p:txBody>
          <a:bodyPr/>
          <a:lstStyle/>
          <a:p>
            <a:endParaRPr lang="en-US"/>
          </a:p>
        </p:txBody>
      </p:sp>
      <p:pic>
        <p:nvPicPr>
          <p:cNvPr id="5" name="Image 0" descr="/home/claude/assets/icons/FiCpu.png"/>
          <p:cNvPicPr>
            <a:picLocks noChangeAspect="1"/>
          </p:cNvPicPr>
          <p:nvPr/>
        </p:nvPicPr>
        <p:blipFill>
          <a:blip r:embed="rId3"/>
          <a:stretch>
            <a:fillRect/>
          </a:stretch>
        </p:blipFill>
        <p:spPr>
          <a:xfrm>
            <a:off x="5847588" y="1485900"/>
            <a:ext cx="502920" cy="502920"/>
          </a:xfrm>
          <a:prstGeom prst="rect">
            <a:avLst/>
          </a:prstGeom>
        </p:spPr>
      </p:pic>
      <p:sp>
        <p:nvSpPr>
          <p:cNvPr id="6" name="Text 3"/>
          <p:cNvSpPr/>
          <p:nvPr/>
        </p:nvSpPr>
        <p:spPr>
          <a:xfrm>
            <a:off x="914400" y="2331720"/>
            <a:ext cx="10332720" cy="914400"/>
          </a:xfrm>
          <a:prstGeom prst="rect">
            <a:avLst/>
          </a:prstGeom>
          <a:noFill/>
          <a:ln/>
        </p:spPr>
        <p:txBody>
          <a:bodyPr wrap="square" lIns="0" tIns="0" rIns="0" bIns="0"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7" name="Text 4"/>
          <p:cNvSpPr/>
          <p:nvPr/>
        </p:nvSpPr>
        <p:spPr>
          <a:xfrm>
            <a:off x="914400" y="3246120"/>
            <a:ext cx="10332720" cy="457200"/>
          </a:xfrm>
          <a:prstGeom prst="rect">
            <a:avLst/>
          </a:prstGeom>
          <a:noFill/>
          <a:ln/>
        </p:spPr>
        <p:txBody>
          <a:bodyPr wrap="square" lIns="0" tIns="0" rIns="0" bIns="0" rtlCol="0" anchor="ctr"/>
          <a:lstStyle/>
          <a:p>
            <a:pPr marL="0" indent="0" algn="ctr">
              <a:buNone/>
            </a:pPr>
            <a:r>
              <a:rPr lang="en-US" sz="1600" i="1" dirty="0">
                <a:solidFill>
                  <a:srgbClr val="6366F1"/>
                </a:solidFill>
                <a:latin typeface="Arial" pitchFamily="34" charset="0"/>
                <a:ea typeface="Arial" pitchFamily="34" charset="-122"/>
                <a:cs typeface="Arial" pitchFamily="34" charset="-120"/>
              </a:rPr>
              <a:t>Questions &amp; Discussion</a:t>
            </a:r>
            <a:endParaRPr lang="en-US" sz="1600" dirty="0"/>
          </a:p>
        </p:txBody>
      </p:sp>
      <p:sp>
        <p:nvSpPr>
          <p:cNvPr id="11" name="Text 7"/>
          <p:cNvSpPr/>
          <p:nvPr/>
        </p:nvSpPr>
        <p:spPr>
          <a:xfrm>
            <a:off x="1889608" y="4206240"/>
            <a:ext cx="2103120" cy="1051560"/>
          </a:xfrm>
          <a:prstGeom prst="rect">
            <a:avLst/>
          </a:prstGeom>
          <a:noFill/>
          <a:ln/>
        </p:spPr>
        <p:txBody>
          <a:bodyPr wrap="square" lIns="0" tIns="0" rIns="0" bIns="0" rtlCol="0" anchor="ctr"/>
          <a:lstStyle/>
          <a:p>
            <a:pPr marL="0" indent="0">
              <a:buNone/>
            </a:pPr>
            <a:endParaRPr lang="en-US" sz="1100" dirty="0"/>
          </a:p>
        </p:txBody>
      </p:sp>
      <p:sp>
        <p:nvSpPr>
          <p:cNvPr id="12" name="Shape 8"/>
          <p:cNvSpPr/>
          <p:nvPr/>
        </p:nvSpPr>
        <p:spPr>
          <a:xfrm>
            <a:off x="1216241" y="4206240"/>
            <a:ext cx="6571247" cy="1051560"/>
          </a:xfrm>
          <a:prstGeom prst="roundRect">
            <a:avLst>
              <a:gd name="adj" fmla="val 10435"/>
            </a:avLst>
          </a:prstGeom>
          <a:solidFill>
            <a:srgbClr val="1E293B"/>
          </a:solidFill>
          <a:ln w="12700">
            <a:solidFill>
              <a:srgbClr val="334155"/>
            </a:solidFill>
            <a:prstDash val="solid"/>
          </a:ln>
        </p:spPr>
        <p:txBody>
          <a:bodyPr/>
          <a:lstStyle/>
          <a:p>
            <a:endParaRPr lang="en-US"/>
          </a:p>
        </p:txBody>
      </p:sp>
      <p:sp>
        <p:nvSpPr>
          <p:cNvPr id="13" name="Shape 9"/>
          <p:cNvSpPr/>
          <p:nvPr/>
        </p:nvSpPr>
        <p:spPr>
          <a:xfrm>
            <a:off x="1424860" y="4427516"/>
            <a:ext cx="548640" cy="548640"/>
          </a:xfrm>
          <a:prstGeom prst="ellipse">
            <a:avLst/>
          </a:prstGeom>
          <a:solidFill>
            <a:srgbClr val="6366F1"/>
          </a:solidFill>
          <a:ln/>
          <a:effectLst>
            <a:outerShdw blurRad="76200" dist="25400" dir="5400000" algn="bl" rotWithShape="0">
              <a:srgbClr val="0F172A">
                <a:alpha val="12000"/>
              </a:srgbClr>
            </a:outerShdw>
          </a:effectLst>
        </p:spPr>
        <p:txBody>
          <a:bodyPr/>
          <a:lstStyle/>
          <a:p>
            <a:endParaRPr lang="en-US"/>
          </a:p>
        </p:txBody>
      </p:sp>
      <p:pic>
        <p:nvPicPr>
          <p:cNvPr id="14" name="Image 2" descr="/home/claude/assets/icons/FiGithub.png"/>
          <p:cNvPicPr>
            <a:picLocks noChangeAspect="1"/>
          </p:cNvPicPr>
          <p:nvPr/>
        </p:nvPicPr>
        <p:blipFill>
          <a:blip r:embed="rId4"/>
          <a:stretch>
            <a:fillRect/>
          </a:stretch>
        </p:blipFill>
        <p:spPr>
          <a:xfrm>
            <a:off x="1523848" y="4594860"/>
            <a:ext cx="274320" cy="274320"/>
          </a:xfrm>
          <a:prstGeom prst="rect">
            <a:avLst/>
          </a:prstGeom>
        </p:spPr>
      </p:pic>
      <p:sp>
        <p:nvSpPr>
          <p:cNvPr id="15" name="Text 10"/>
          <p:cNvSpPr/>
          <p:nvPr/>
        </p:nvSpPr>
        <p:spPr>
          <a:xfrm>
            <a:off x="2182119" y="4206240"/>
            <a:ext cx="5704357" cy="1051560"/>
          </a:xfrm>
          <a:prstGeom prst="rect">
            <a:avLst/>
          </a:prstGeom>
          <a:noFill/>
          <a:ln/>
        </p:spPr>
        <p:txBody>
          <a:bodyPr wrap="square" lIns="0" tIns="0" rIns="0" bIns="0" rtlCol="0" anchor="ctr"/>
          <a:lstStyle/>
          <a:p>
            <a:r>
              <a:rPr lang="en-US" sz="1400" dirty="0">
                <a:solidFill>
                  <a:srgbClr val="F1F5F9"/>
                </a:solidFill>
                <a:latin typeface="Arial" pitchFamily="34" charset="0"/>
                <a:ea typeface="Arial" pitchFamily="34" charset="-122"/>
                <a:cs typeface="Arial" pitchFamily="34" charset="-120"/>
              </a:rPr>
              <a:t>https://github.com/Subhash107k/student-performance-prediction-ml.git</a:t>
            </a:r>
            <a:endParaRPr lang="en-US" sz="1400" dirty="0"/>
          </a:p>
        </p:txBody>
      </p:sp>
      <p:sp>
        <p:nvSpPr>
          <p:cNvPr id="19" name="Text 13"/>
          <p:cNvSpPr/>
          <p:nvPr/>
        </p:nvSpPr>
        <p:spPr>
          <a:xfrm>
            <a:off x="9204808" y="4206240"/>
            <a:ext cx="2103120" cy="1051560"/>
          </a:xfrm>
          <a:prstGeom prst="rect">
            <a:avLst/>
          </a:prstGeom>
          <a:noFill/>
          <a:ln/>
        </p:spPr>
        <p:txBody>
          <a:bodyPr wrap="square" lIns="0" tIns="0" rIns="0" bIns="0" rtlCol="0" anchor="ctr"/>
          <a:lstStyle/>
          <a:p>
            <a:pPr marL="0" indent="0">
              <a:buNone/>
            </a:pPr>
            <a:endParaRPr lang="en-US" sz="1100" dirty="0"/>
          </a:p>
        </p:txBody>
      </p:sp>
      <p:sp>
        <p:nvSpPr>
          <p:cNvPr id="20" name="Text 14"/>
          <p:cNvSpPr/>
          <p:nvPr/>
        </p:nvSpPr>
        <p:spPr>
          <a:xfrm>
            <a:off x="548640" y="6446520"/>
            <a:ext cx="11064240" cy="27432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Student Performance Prediction Using Machine Learning  ·  [Subhash Kumar Thakur] [230334]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2722</Words>
  <Application>Microsoft Office PowerPoint</Application>
  <PresentationFormat>Widescreen</PresentationFormat>
  <Paragraphs>452</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Prediction Using Machine Learning</dc:title>
  <dc:subject>PptxGenJS Presentation</dc:subject>
  <dc:creator>ML Microproject</dc:creator>
  <cp:lastModifiedBy>Subhash Thakur</cp:lastModifiedBy>
  <cp:revision>2</cp:revision>
  <dcterms:created xsi:type="dcterms:W3CDTF">2026-07-29T01:31:40Z</dcterms:created>
  <dcterms:modified xsi:type="dcterms:W3CDTF">2026-07-29T02:05:46Z</dcterms:modified>
</cp:coreProperties>
</file>